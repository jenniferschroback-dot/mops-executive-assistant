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C6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ttern-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droplet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563" y="-670543"/>
            <a:ext cx="3108882" cy="4035451"/>
          </a:xfrm>
          <a:prstGeom prst="rect">
            <a:avLst/>
          </a:prstGeom>
        </p:spPr>
      </p:pic>
      <p:pic>
        <p:nvPicPr>
          <p:cNvPr id="4" name="Picture 3" descr="droplet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563" y="3364907"/>
            <a:ext cx="3108882" cy="4035451"/>
          </a:xfrm>
          <a:prstGeom prst="rect">
            <a:avLst/>
          </a:prstGeom>
        </p:spPr>
      </p:pic>
      <p:pic>
        <p:nvPicPr>
          <p:cNvPr id="5" name="Picture 4" descr="logo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48640"/>
            <a:ext cx="1645920" cy="3576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651760"/>
            <a:ext cx="8686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ontserrat ExtraBold"/>
              </a:rPr>
              <a:t>Pardot Email Performance</a:t>
            </a:r>
          </a:p>
          <a:p>
            <a:r>
              <a:rPr sz="2000" b="0" i="0">
                <a:solidFill>
                  <a:srgbClr val="26A3DD"/>
                </a:solidFill>
                <a:latin typeface="Montserrat"/>
              </a:rPr>
              <a:t>Last 2 Weeks</a:t>
            </a:r>
          </a:p>
          <a:p>
            <a:pPr>
              <a:spcBef>
                <a:spcPts val="1800"/>
              </a:spcBef>
            </a:pPr>
            <a:r>
              <a:rPr sz="1300" b="0" i="0">
                <a:solidFill>
                  <a:srgbClr val="C7D6E3"/>
                </a:solidFill>
                <a:latin typeface="Montserrat"/>
              </a:rPr>
              <a:t>July 3 - July 17, 2026  |  Prepared for MOPS  |  Generated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C61"/>
                </a:solidFill>
                <a:latin typeface="Montserrat"/>
              </a:rPr>
              <a:t>CORE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232C61"/>
                </a:solidFill>
                <a:latin typeface="Montserrat ExtraBold"/>
              </a:rPr>
              <a:t>Email Performance - Jul 3-17,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D4F5C"/>
                </a:solidFill>
                <a:latin typeface="Montserrat"/>
              </a:rPr>
              <a:t>Open rate rose 2.0 pts to 10.7% on 27% less send volume than the prior two weeks.</a:t>
            </a:r>
          </a:p>
        </p:txBody>
      </p:sp>
      <p:pic>
        <p:nvPicPr>
          <p:cNvPr id="5" name="Picture 4" descr="chart_cor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6949440" cy="39442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210312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0" i="0">
                <a:solidFill>
                  <a:srgbClr val="3D4F5C"/>
                </a:solidFill>
                <a:latin typeface="Montserrat"/>
              </a:rPr>
              <a:t>-  Total delivered: 24,491 (vs 33,680 prior, -27.3%). Unique opens: 2,610 (vs 2,904 prior, -10.1%).</a:t>
            </a:r>
          </a:p>
          <a:p>
            <a:pPr>
              <a:spcAft>
                <a:spcPts val="1000"/>
              </a:spcAft>
            </a:pPr>
            <a:r>
              <a:rPr sz="1350" b="0" i="0">
                <a:solidFill>
                  <a:srgbClr val="3D4F5C"/>
                </a:solidFill>
                <a:latin typeface="Montserrat"/>
              </a:rPr>
              <a:t>-  Delivery rate is not computable this run - Salesforce's NumberSent field is unsynced from Pardot org-wide (SUM(NumberSent) = 0).</a:t>
            </a:r>
          </a:p>
          <a:p>
            <a:pPr>
              <a:spcAft>
                <a:spcPts val="1000"/>
              </a:spcAft>
            </a:pPr>
            <a:r>
              <a:rPr sz="1350" b="0" i="0">
                <a:solidFill>
                  <a:srgbClr val="3D4F5C"/>
                </a:solidFill>
                <a:latin typeface="Montserrat"/>
              </a:rPr>
              <a:t>-  9 campaigns delivered this window vs. 6 in the prior two weeks - fewer, more targeted sends drove the higher rate, not a broader blast.</a:t>
            </a:r>
          </a:p>
          <a:p>
            <a:pPr>
              <a:spcAft>
                <a:spcPts val="1000"/>
              </a:spcAft>
            </a:pPr>
            <a:r>
              <a:rPr sz="1350" b="0" i="0">
                <a:solidFill>
                  <a:srgbClr val="3D4F5C"/>
                </a:solidFill>
                <a:latin typeface="Montserrat"/>
              </a:rPr>
              <a:t>-  2-week windows carry real volatility - a single large send (60% of this window's volume) can swing the blended 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0">
                <a:solidFill>
                  <a:srgbClr val="3D4F5C"/>
                </a:solidFill>
                <a:latin typeface="Montserrat"/>
              </a:rPr>
              <a:t>Open rate = unique opens / delivered. CTR = unique clicks / delivered. Source: Salesforce Campaign SOQL, queried 2026-07-17.</a:t>
            </a:r>
          </a:p>
        </p:txBody>
      </p:sp>
      <p:pic>
        <p:nvPicPr>
          <p:cNvPr id="8" name="Picture 7" descr="logo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6263640"/>
            <a:ext cx="1188720" cy="2582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C61"/>
                </a:solidFill>
                <a:latin typeface="Montserrat"/>
              </a:rPr>
              <a:t>TOP PERFORMING EMAILS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232C61"/>
                </a:solidFill>
                <a:latin typeface="Montserrat ExtraBold"/>
              </a:rPr>
              <a:t>Ranked by Unique Opens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D4F5C"/>
                </a:solidFill>
                <a:latin typeface="Montserrat"/>
              </a:rPr>
              <a:t>The Q3 product-roadmap session alone drove 1,140 opens - 44% of all opens in the window.</a:t>
            </a:r>
          </a:p>
        </p:txBody>
      </p:sp>
      <p:pic>
        <p:nvPicPr>
          <p:cNvPr id="5" name="Picture 4" descr="chart_top_em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6949440" cy="332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210312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0" i="0">
                <a:solidFill>
                  <a:srgbClr val="3D4F5C"/>
                </a:solidFill>
                <a:latin typeface="Montserrat"/>
              </a:rPr>
              <a:t>-  Ranked by absolute unique opens per this run's request, not CTR (the skill's default lens).</a:t>
            </a:r>
          </a:p>
          <a:p>
            <a:pPr>
              <a:spcAft>
                <a:spcPts val="1000"/>
              </a:spcAft>
            </a:pPr>
            <a:r>
              <a:rPr sz="1350" b="0" i="0">
                <a:solidFill>
                  <a:srgbClr val="3D4F5C"/>
                </a:solidFill>
                <a:latin typeface="Montserrat"/>
              </a:rPr>
              <a:t>-  3 sends (hatched) had fewer than 200 recipients - high rates there aren't statistically reliable.</a:t>
            </a:r>
          </a:p>
          <a:p>
            <a:pPr>
              <a:spcAft>
                <a:spcPts val="1000"/>
              </a:spcAft>
            </a:pPr>
            <a:r>
              <a:rPr sz="1350" b="0" i="0">
                <a:solidFill>
                  <a:srgbClr val="3D4F5C"/>
                </a:solidFill>
                <a:latin typeface="Montserrat"/>
              </a:rPr>
              <a:t>-  Subject lines aren't synced to Salesforce - campaign name used as a labeled proxy.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0">
                <a:solidFill>
                  <a:srgbClr val="3D4F5C"/>
                </a:solidFill>
                <a:latin typeface="Montserrat"/>
              </a:rPr>
              <a:t>Source: Salesforce Campaign SOQL (TotalEmailsDelivered, UniqueEmailOpens), queried 2026-07-17.</a:t>
            </a:r>
          </a:p>
        </p:txBody>
      </p:sp>
      <p:pic>
        <p:nvPicPr>
          <p:cNvPr id="8" name="Picture 7" descr="logo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6263640"/>
            <a:ext cx="1188720" cy="2582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C61"/>
                </a:solidFill>
                <a:latin typeface="Montserrat"/>
              </a:rPr>
              <a:t>NAMING PATTERN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232C61"/>
                </a:solidFill>
                <a:latin typeface="Montserrat ExtraBold"/>
              </a:rPr>
              <a:t>What Drove Opens (Campaign-Name Proxy)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D4F5C"/>
                </a:solidFill>
                <a:latin typeface="Montserrat"/>
              </a:rPr>
              <a:t>The single highest open RATE came from a named partner interview send, not the largest blast.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5394960" cy="3291840"/>
          </a:xfrm>
          <a:prstGeom prst="roundRect">
            <a:avLst>
              <a:gd name="adj" fmla="val 5000"/>
            </a:avLst>
          </a:prstGeom>
          <a:solidFill>
            <a:srgbClr val="232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26A3DD"/>
                </a:solidFill>
                <a:latin typeface="Montserrat ExtraBold"/>
              </a:rPr>
              <a:t>What Worked This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-  Perficient Partner Interview: 37.4% open rate, the standout, at real volume (1,702 delivered)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-  Largest send (roadmap session, 60% of volume) had the LOWEST open rate (7.79%)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-  Event/webinar-titled sends cluster in a 7.7-12.5% band - steady, not exceptional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-  3 small-audience sends (&lt;200) showed 28-64% rates - directionally interesting, not reliable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94560"/>
            <a:ext cx="5394960" cy="3291840"/>
          </a:xfrm>
          <a:prstGeom prst="roundRect">
            <a:avLst>
              <a:gd name="adj" fmla="val 5000"/>
            </a:avLst>
          </a:prstGeom>
          <a:solidFill>
            <a:srgbClr val="F2F9FC"/>
          </a:solidFill>
          <a:ln w="15875">
            <a:solidFill>
              <a:srgbClr val="232C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4688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036BB5"/>
                </a:solidFill>
                <a:latin typeface="Montserrat ExtraBold"/>
              </a:rPr>
              <a:t>Recommendations for Next 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06324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3D4F5C"/>
                </a:solidFill>
                <a:latin typeface="Montserrat"/>
              </a:rPr>
              <a:t>-  Segment the next large/broad send instead of one blast to the full list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3D4F5C"/>
                </a:solidFill>
                <a:latin typeface="Montserrat"/>
              </a:rPr>
              <a:t>-  Test more 1:1/interview-styled subject framing on mid-size sends (1,000-2,000 recipients)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3D4F5C"/>
                </a:solidFill>
                <a:latin typeface="Montserrat"/>
              </a:rPr>
              <a:t>-  Add subject-line sync to Salesforce - this analysis is a campaign-name proxy today</a:t>
            </a:r>
          </a:p>
        </p:txBody>
      </p:sp>
      <p:pic>
        <p:nvPicPr>
          <p:cNvPr id="11" name="Picture 10" descr="logo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6263640"/>
            <a:ext cx="1188720" cy="2582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C61"/>
                </a:solidFill>
                <a:latin typeface="Montserrat"/>
              </a:rPr>
              <a:t>PERSONA 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232C61"/>
                </a:solidFill>
                <a:latin typeface="Montserrat ExtraBold"/>
              </a:rPr>
              <a:t>Prospect vs. Customer, by Job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D4F5C"/>
                </a:solidFill>
                <a:latin typeface="Montserrat"/>
              </a:rPr>
              <a:t>Engagement this window skews heavily to existing Contacts (79%) over net-new Leads (21%).</a:t>
            </a:r>
          </a:p>
        </p:txBody>
      </p:sp>
      <p:pic>
        <p:nvPicPr>
          <p:cNvPr id="5" name="Picture 4" descr="chart_perso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6949440" cy="42016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210312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0" i="0">
                <a:solidFill>
                  <a:srgbClr val="3D4F5C"/>
                </a:solidFill>
                <a:latin typeface="Montserrat"/>
              </a:rPr>
              <a:t>-  2,473 synced members (~10.1% of 24,491 delivered) - Lead (Prospect) 527 / 21%, Contact (Customer) 1,946 / 79%.</a:t>
            </a:r>
          </a:p>
          <a:p>
            <a:pPr>
              <a:spcAft>
                <a:spcPts val="1000"/>
              </a:spcAft>
            </a:pPr>
            <a:r>
              <a:rPr sz="1350" b="0" i="0">
                <a:solidFill>
                  <a:srgbClr val="3D4F5C"/>
                </a:solidFill>
                <a:latin typeface="Montserrat"/>
              </a:rPr>
              <a:t>-  "Underengaged" = below 50% of portfolio median (median 57).</a:t>
            </a:r>
          </a:p>
          <a:p>
            <a:pPr>
              <a:spcAft>
                <a:spcPts val="1000"/>
              </a:spcAft>
            </a:pPr>
            <a:r>
              <a:rPr sz="1350" b="0" i="0">
                <a:solidFill>
                  <a:srgbClr val="3D4F5C"/>
                </a:solidFill>
                <a:latin typeface="Montserrat"/>
              </a:rPr>
              <a:t>-  1,042 of 2,473 members (42%) have no Job Function on file - the single biggest data gap.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0">
                <a:solidFill>
                  <a:srgbClr val="3D4F5C"/>
                </a:solidFill>
                <a:latin typeface="Montserrat"/>
              </a:rPr>
              <a:t>CampaignMember syncs only the responder-biased ~10% of delivered volume - within-sample volumes, not true per-persona rates. Field: Job_Function__c, confirmed 2026-07-17.</a:t>
            </a:r>
          </a:p>
        </p:txBody>
      </p:sp>
      <p:pic>
        <p:nvPicPr>
          <p:cNvPr id="8" name="Picture 7" descr="logo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6263640"/>
            <a:ext cx="1188720" cy="2582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C61"/>
                </a:solidFill>
                <a:latin typeface="Montserrat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232C61"/>
                </a:solidFill>
                <a:latin typeface="Montserrat ExtraBold"/>
              </a:rPr>
              <a:t>Recommendations for the Next Two Weeks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D4F5C"/>
                </a:solidFill>
                <a:latin typeface="Montserrat"/>
              </a:rPr>
              <a:t>Five prioritized actions, each tied to a number from this window.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1064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3D4F5C"/>
                </a:solidFill>
                <a:latin typeface="Montserrat"/>
              </a:rPr>
              <a:t>-  Segment the next large/broad send - the roadmap-session send (60% of volume) pulled the lowest open rate (7.8% vs. 10.7% average).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3D4F5C"/>
                </a:solidFill>
                <a:latin typeface="Montserrat"/>
              </a:rPr>
              <a:t>-  Replicate the Perficient Partner Interview pattern (37.4% open rate) for Marketing/Sales next cycle.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3D4F5C"/>
                </a:solidFill>
                <a:latin typeface="Montserrat"/>
              </a:rPr>
              <a:t>-  Backfill Job_Function__c for the 42% of synced members missing it.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3D4F5C"/>
                </a:solidFill>
                <a:latin typeface="Montserrat"/>
              </a:rPr>
              <a:t>-  Increase prospect-targeted (Lead) sends - engaged audience skews 79% existing Contacts vs. 21% net-new Leads.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3D4F5C"/>
                </a:solidFill>
                <a:latin typeface="Montserrat"/>
              </a:rPr>
              <a:t>-  Add subject-line sync to Salesforce - naming-pattern findings rely on a campaign-name proxy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0">
                <a:solidFill>
                  <a:srgbClr val="3D4F5C"/>
                </a:solidFill>
                <a:latin typeface="Montserrat"/>
              </a:rPr>
              <a:t>Methodology: 2-week window (2026-07-03 to 2026-07-17), 9 campaigns, 2,473 synced CampaignMembers. Small samples mean directional hypotheses, not final conclusions. Source: Salesforce SOQL, queried 2026-07-17.</a:t>
            </a:r>
          </a:p>
        </p:txBody>
      </p:sp>
      <p:pic>
        <p:nvPicPr>
          <p:cNvPr id="7" name="Picture 6" descr="logo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6263640"/>
            <a:ext cx="1188720" cy="2582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