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C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ttern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droplet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563" y="-670543"/>
            <a:ext cx="3108882" cy="4035451"/>
          </a:xfrm>
          <a:prstGeom prst="rect">
            <a:avLst/>
          </a:prstGeom>
        </p:spPr>
      </p:pic>
      <p:pic>
        <p:nvPicPr>
          <p:cNvPr id="4" name="Picture 3" descr="droplet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563" y="3364907"/>
            <a:ext cx="3108882" cy="4035451"/>
          </a:xfrm>
          <a:prstGeom prst="rect">
            <a:avLst/>
          </a:prstGeom>
        </p:spPr>
      </p:pic>
      <p:pic>
        <p:nvPicPr>
          <p:cNvPr id="5" name="Picture 4" descr="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8640"/>
            <a:ext cx="1645920" cy="3576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65176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ontserrat ExtraBold"/>
              </a:rPr>
              <a:t>Pardot Email Performance - Q2 2026</a:t>
            </a:r>
          </a:p>
          <a:p>
            <a:r>
              <a:rPr sz="2000" b="0" i="0">
                <a:solidFill>
                  <a:srgbClr val="26A3DD"/>
                </a:solidFill>
                <a:latin typeface="Montserrat"/>
              </a:rPr>
              <a:t>Quarterly email engagement review · April 1 - June 1, 2026</a:t>
            </a:r>
          </a:p>
          <a:p>
            <a:pPr>
              <a:spcBef>
                <a:spcPts val="1800"/>
              </a:spcBef>
            </a:pPr>
            <a:r>
              <a:rPr sz="1300" b="0" i="0">
                <a:solidFill>
                  <a:srgbClr val="C7D6E3"/>
                </a:solidFill>
                <a:latin typeface="Montserrat"/>
              </a:rPr>
              <a:t>Generated July 18, 2026 · Data: Pardot (Account Engagement) connected-campaign metrics via Salesforce · 56 in-scope sends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C61"/>
                </a:solidFill>
                <a:latin typeface="Montserrat"/>
              </a:rPr>
              <a:t>CORE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232C61"/>
                </a:solidFill>
                <a:latin typeface="Montserrat ExtraBold"/>
              </a:rPr>
              <a:t>Email Performance · Q2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D4F5C"/>
                </a:solidFill>
                <a:latin typeface="Montserrat"/>
              </a:rPr>
              <a:t>Send volume fell 22% quarter-over-quarter and click-through halved - Q2's problem is engagement quality, not just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02153" cy="1554480"/>
          </a:xfrm>
          <a:prstGeom prst="roundRect">
            <a:avLst>
              <a:gd name="adj" fmla="val 8000"/>
            </a:avLst>
          </a:prstGeom>
          <a:solidFill>
            <a:srgbClr val="F2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223639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232C61"/>
                </a:solidFill>
                <a:latin typeface="Montserrat ExtraBold"/>
              </a:rPr>
              <a:t>1.01M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22363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47A20"/>
                </a:solidFill>
                <a:latin typeface="Montserrat"/>
              </a:rPr>
              <a:t>▼ 22.5% QoQ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2363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3D4F5C"/>
                </a:solidFill>
                <a:latin typeface="Montserrat"/>
              </a:rPr>
              <a:t>emails delivered (56 sends · 49 programs)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9393" y="1828800"/>
            <a:ext cx="2602153" cy="1554480"/>
          </a:xfrm>
          <a:prstGeom prst="roundRect">
            <a:avLst>
              <a:gd name="adj" fmla="val 8000"/>
            </a:avLst>
          </a:prstGeom>
          <a:solidFill>
            <a:srgbClr val="F2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2273" y="1938528"/>
            <a:ext cx="223639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232C61"/>
                </a:solidFill>
                <a:latin typeface="Montserrat ExtraBold"/>
              </a:rPr>
              <a:t>8.2%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487168"/>
            <a:ext cx="22363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47A20"/>
                </a:solidFill>
                <a:latin typeface="Montserrat"/>
              </a:rPr>
              <a:t>▼ 0.5 pt QoQ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2834640"/>
            <a:ext cx="22363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3D4F5C"/>
                </a:solidFill>
                <a:latin typeface="Montserrat"/>
              </a:rPr>
              <a:t>unique open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6" y="1828800"/>
            <a:ext cx="2602153" cy="1554480"/>
          </a:xfrm>
          <a:prstGeom prst="roundRect">
            <a:avLst>
              <a:gd name="adj" fmla="val 8000"/>
            </a:avLst>
          </a:prstGeom>
          <a:solidFill>
            <a:srgbClr val="F2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3026" y="1938528"/>
            <a:ext cx="223639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232C61"/>
                </a:solidFill>
                <a:latin typeface="Montserrat ExtraBold"/>
              </a:rPr>
              <a:t>0.50%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3026" y="2487168"/>
            <a:ext cx="22363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F47A20"/>
                </a:solidFill>
                <a:latin typeface="Montserrat"/>
              </a:rPr>
              <a:t>▼ 0.64 pt QoQ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3026" y="2834640"/>
            <a:ext cx="22363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3D4F5C"/>
                </a:solidFill>
                <a:latin typeface="Montserrat"/>
              </a:rPr>
              <a:t>click-through rate (unique clicks / delivered)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0899" y="1828800"/>
            <a:ext cx="2602153" cy="1554480"/>
          </a:xfrm>
          <a:prstGeom prst="roundRect">
            <a:avLst>
              <a:gd name="adj" fmla="val 8000"/>
            </a:avLst>
          </a:prstGeom>
          <a:solidFill>
            <a:srgbClr val="F2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3779" y="1938528"/>
            <a:ext cx="223639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232C61"/>
                </a:solidFill>
                <a:latin typeface="Montserrat ExtraBold"/>
              </a:rPr>
              <a:t>n/a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3779" y="2487168"/>
            <a:ext cx="22363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 i="0">
                <a:solidFill>
                  <a:srgbClr val="3D4F5C"/>
                </a:solidFill>
                <a:latin typeface="Montserrat"/>
              </a:rPr>
              <a:t>no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79" y="2834640"/>
            <a:ext cx="223639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3D4F5C"/>
                </a:solidFill>
                <a:latin typeface="Montserrat"/>
              </a:rPr>
              <a:t>delivery rate - total-sent not synced from Pardot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40"/>
              </a:spcAft>
            </a:pPr>
            <a:r>
              <a:rPr sz="1500" b="1" i="0">
                <a:solidFill>
                  <a:srgbClr val="036BB5"/>
                </a:solidFill>
                <a:latin typeface="Montserrat ExtraBold"/>
              </a:rPr>
              <a:t>What moved</a:t>
            </a:r>
          </a:p>
          <a:p>
            <a:pPr>
              <a:spcAft>
                <a:spcPts val="840"/>
              </a:spcAft>
            </a:pPr>
            <a:r>
              <a:rPr sz="1400" b="0" i="0">
                <a:solidFill>
                  <a:srgbClr val="3D4F5C"/>
                </a:solidFill>
                <a:latin typeface="Montserrat"/>
              </a:rPr>
              <a:t>-  Opens held roughly steady (8.75% → 8.24%) while clicks collapsed (1.13% → 0.50%): recipients still open, but content isn't converting attention into action.</a:t>
            </a:r>
          </a:p>
          <a:p>
            <a:pPr>
              <a:spcAft>
                <a:spcPts val="840"/>
              </a:spcAft>
            </a:pPr>
            <a:r>
              <a:rPr sz="1400" b="0" i="0">
                <a:solidFill>
                  <a:srgbClr val="3D4F5C"/>
                </a:solidFill>
                <a:latin typeface="Montserrat"/>
              </a:rPr>
              <a:t>-  One send - the 565K-recipient DAM governance blast - was 56% of all Q2 volume at 7.0% open / 0.45% CTR, dragging the portfolio average down.</a:t>
            </a:r>
          </a:p>
          <a:p>
            <a:pPr>
              <a:spcAft>
                <a:spcPts val="840"/>
              </a:spcAft>
            </a:pPr>
            <a:r>
              <a:rPr sz="1400" b="0" i="0">
                <a:solidFill>
                  <a:srgbClr val="3D4F5C"/>
                </a:solidFill>
                <a:latin typeface="Montserrat"/>
              </a:rPr>
              <a:t>-  Q1's CTR was lifted by early Engage-invite sends to fresh lists; by Q2 the same lists were on their 8th-9th touch (see slide 4).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3D4F5C"/>
                </a:solidFill>
                <a:latin typeface="Montserrat"/>
              </a:rPr>
              <a:t>Definitions: open rate = unique opens/delivered; CTR = unique clicks/delivered; delivery rate = delivered/total sent (unavailable - Pardot doesn't sync NumberSent). QoQ compares Q1 window Jan 1-Mar 1, 2026 (50 sends, 1.30M delivered). Opens inflated by Apple Mail Privacy Protection; treat CTR as the reliable signal. Excluded: 3 seed/test sends (&lt;10 recipients) and operational campaigns.</a:t>
            </a:r>
          </a:p>
        </p:txBody>
      </p:sp>
      <p:pic>
        <p:nvPicPr>
          <p:cNvPr id="23" name="Picture 22" descr="logo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6263640"/>
            <a:ext cx="1188720" cy="2582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C61"/>
                </a:solidFill>
                <a:latin typeface="Montserrat"/>
              </a:rPr>
              <a:t>TOP PERFORMING EMAILS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232C61"/>
                </a:solidFill>
                <a:latin typeface="Montserrat ExtraBold"/>
              </a:rPr>
              <a:t>Ranked by Click-Through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D4F5C"/>
                </a:solidFill>
                <a:latin typeface="Montserrat"/>
              </a:rPr>
              <a:t>Acquia TV content episodes and event-countdown emails earned 1.8-2.9% CTR - four to six times the portfolio average of 0.5%.</a:t>
            </a:r>
          </a:p>
        </p:txBody>
      </p:sp>
      <p:pic>
        <p:nvPicPr>
          <p:cNvPr id="5" name="Picture 4" descr="chart_top10_c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6949440" cy="35098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103120"/>
            <a:ext cx="3931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10"/>
              </a:spcAft>
            </a:pPr>
            <a:r>
              <a:rPr sz="1450" b="1" i="0">
                <a:solidFill>
                  <a:srgbClr val="036BB5"/>
                </a:solidFill>
                <a:latin typeface="Montserrat ExtraBold"/>
              </a:rPr>
              <a:t>Small-sample standouts</a:t>
            </a:r>
          </a:p>
          <a:p>
            <a:pPr>
              <a:spcAft>
                <a:spcPts val="81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Excluded from ranking (n &lt; 200): registrant logistics emails - "see you tomorrow" 23.8% CTR, "see you next week" 17.6% CTR - tiny engaged audiences, but proof late-stage logistics content clicks.</a:t>
            </a:r>
          </a:p>
          <a:p>
            <a:pPr>
              <a:spcBef>
                <a:spcPts val="540"/>
              </a:spcBef>
              <a:spcAft>
                <a:spcPts val="810"/>
              </a:spcAft>
            </a:pPr>
            <a:r>
              <a:rPr sz="1450" b="1" i="0">
                <a:solidFill>
                  <a:srgbClr val="036BB5"/>
                </a:solidFill>
                <a:latin typeface="Montserrat ExtraBold"/>
              </a:rPr>
              <a:t>Product mix (top 10)</a:t>
            </a:r>
          </a:p>
          <a:p>
            <a:pPr>
              <a:spcAft>
                <a:spcPts val="81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5x Acquia Source content · 4x DXP events/webinars · 1x Content Cloud (DAM)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3D4F5C"/>
                </a:solidFill>
                <a:latin typeface="Montserrat"/>
              </a:rPr>
              <a:t>Ranked by CTR (primary) with open rate secondary; volume floor 1,000 delivered. Value labels: CTR · open rate · audience size. Source: Salesforce Campaign Pardot rollups, queried 2026-07-18.</a:t>
            </a:r>
          </a:p>
        </p:txBody>
      </p:sp>
      <p:pic>
        <p:nvPicPr>
          <p:cNvPr id="8" name="Picture 7" descr="logo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263640"/>
            <a:ext cx="1188720" cy="258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C61"/>
                </a:solidFill>
                <a:latin typeface="Montserrat"/>
              </a:rPr>
              <a:t>SUBJECT-LINE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232C61"/>
                </a:solidFill>
                <a:latin typeface="Montserrat ExtraBold"/>
              </a:rPr>
              <a:t>What Drove Clicks (Campaign-Name Proxy)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D4F5C"/>
                </a:solidFill>
                <a:latin typeface="Montserrat"/>
              </a:rPr>
              <a:t>Time-bound, localized, and content-first framing beat generic invite blasts by 3-5x on click-through.</a:t>
            </a:r>
          </a:p>
        </p:txBody>
      </p:sp>
      <p:pic>
        <p:nvPicPr>
          <p:cNvPr id="5" name="Picture 4" descr="chart_subject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6949440" cy="25270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103120"/>
            <a:ext cx="3931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10"/>
              </a:spcAft>
            </a:pPr>
            <a:r>
              <a:rPr sz="1450" b="1" i="0">
                <a:solidFill>
                  <a:srgbClr val="036BB5"/>
                </a:solidFill>
                <a:latin typeface="Montserrat ExtraBold"/>
              </a:rPr>
              <a:t>Testable recommendations for Q3</a:t>
            </a:r>
          </a:p>
          <a:p>
            <a:pPr>
              <a:spcAft>
                <a:spcPts val="81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1. Lead with the content, not the ask: "episode/insight" framing hit 30.5% open vs 7.8% for invite framing - A/B a content-first subject on every event promo.</a:t>
            </a:r>
          </a:p>
          <a:p>
            <a:pPr>
              <a:spcAft>
                <a:spcPts val="81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2. Add a concrete time anchor to final event touches ("Countdown to Paris" 2.23% CTR vs 0.39% invite-blast average).</a:t>
            </a:r>
          </a:p>
          <a:p>
            <a:pPr>
              <a:spcAft>
                <a:spcPts val="81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3. Localize subject + body for LATAM/EMEA: ES/PT sends clicked ~3x the portfolio average - expand to FR/DE and measure.</a:t>
            </a:r>
          </a:p>
          <a:p>
            <a:pPr>
              <a:spcAft>
                <a:spcPts val="810"/>
              </a:spcAft>
            </a:pPr>
            <a:r>
              <a:rPr sz="1350" b="0" i="0">
                <a:solidFill>
                  <a:srgbClr val="3D4F5C"/>
                </a:solidFill>
                <a:latin typeface="Montserrat"/>
              </a:rPr>
              <a:t>-  4. Stop numbering repeat invites past touch 2-3 - measurable fatigue, not creative (touch-8/9: 0.19-0.54% CTR on ~193K emails).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3D4F5C"/>
                </a:solidFill>
                <a:latin typeface="Montserrat"/>
              </a:rPr>
              <a:t>Caveat: Pardot subject lines aren't synced to Salesforce; analysis uses email titles from campaign naming as a proxy. Instrumentation fix: sync subject lines next quarter. GTM Play attribution unavailable - GTM_Playbook__c blank on all 59 Q2 campaigns.</a:t>
            </a:r>
          </a:p>
        </p:txBody>
      </p:sp>
      <p:pic>
        <p:nvPicPr>
          <p:cNvPr id="8" name="Picture 7" descr="logo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263640"/>
            <a:ext cx="1188720" cy="258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C61"/>
                </a:solidFill>
                <a:latin typeface="Montserrat"/>
              </a:rPr>
              <a:t>PERSONA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232C61"/>
                </a:solidFill>
                <a:latin typeface="Montserrat ExtraBold"/>
              </a:rPr>
              <a:t>Prospect vs. Customer, by Job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D4F5C"/>
                </a:solidFill>
                <a:latin typeface="Montserrat"/>
              </a:rPr>
              <a:t>Marketing and IT personas drive engagement for both prospects and customers - but three high-volume personas click below threshold, and 35% of engaged customers have no persona set.</a:t>
            </a:r>
          </a:p>
        </p:txBody>
      </p:sp>
      <p:pic>
        <p:nvPicPr>
          <p:cNvPr id="5" name="Picture 4" descr="chart_persona_prospect_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6949440" cy="43636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2103120"/>
            <a:ext cx="39319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60"/>
              </a:spcAft>
            </a:pPr>
            <a:r>
              <a:rPr sz="1200" b="1" i="0">
                <a:solidFill>
                  <a:srgbClr val="036BB5"/>
                </a:solidFill>
                <a:latin typeface="Montserrat ExtraBold"/>
              </a:rPr>
              <a:t>Prospect vs customer</a:t>
            </a:r>
          </a:p>
          <a:p>
            <a:pPr>
              <a:spcAft>
                <a:spcPts val="660"/>
              </a:spcAft>
            </a:pPr>
            <a:r>
              <a:rPr sz="1100" b="0" i="0">
                <a:solidFill>
                  <a:srgbClr val="3D4F5C"/>
                </a:solidFill>
                <a:latin typeface="Montserrat"/>
              </a:rPr>
              <a:t>-  Customers are 73% of engaged members (53.8K vs 20.3K).</a:t>
            </a:r>
          </a:p>
          <a:p>
            <a:pPr>
              <a:spcAft>
                <a:spcPts val="660"/>
              </a:spcAft>
            </a:pPr>
            <a:r>
              <a:rPr sz="1100" b="0" i="0">
                <a:solidFill>
                  <a:srgbClr val="3D4F5C"/>
                </a:solidFill>
                <a:latin typeface="Montserrat"/>
              </a:rPr>
              <a:t>-  Customer-only sends: 12.0% open / 0.80% CTR - best of any audience. Event logistics &amp; agenda content resonates.</a:t>
            </a:r>
          </a:p>
          <a:p>
            <a:pPr>
              <a:spcAft>
                <a:spcPts val="660"/>
              </a:spcAft>
            </a:pPr>
            <a:r>
              <a:rPr sz="1100" b="0" i="0">
                <a:solidFill>
                  <a:srgbClr val="3D4F5C"/>
                </a:solidFill>
                <a:latin typeface="Montserrat"/>
              </a:rPr>
              <a:t>-  Prospects click content &amp; webinars (Acquia TV, localized SEO webinars), not invite blasts.</a:t>
            </a:r>
          </a:p>
          <a:p>
            <a:pPr>
              <a:spcAft>
                <a:spcPts val="660"/>
              </a:spcAft>
            </a:pPr>
            <a:r>
              <a:rPr sz="1100" b="0" i="0">
                <a:solidFill>
                  <a:srgbClr val="3D4F5C"/>
                </a:solidFill>
                <a:latin typeface="Montserrat"/>
              </a:rPr>
              <a:t>-  Partner sends open (9.5%) but don't click (0.25% CTR, 18 sends) - audience worth rebuilding.</a:t>
            </a:r>
          </a:p>
          <a:p>
            <a:pPr>
              <a:spcBef>
                <a:spcPts val="440"/>
              </a:spcBef>
              <a:spcAft>
                <a:spcPts val="660"/>
              </a:spcAft>
            </a:pPr>
            <a:r>
              <a:rPr sz="1200" b="1" i="0">
                <a:solidFill>
                  <a:srgbClr val="036BB5"/>
                </a:solidFill>
                <a:latin typeface="Montserrat ExtraBold"/>
              </a:rPr>
              <a:t>Underengaged flags (≥500 members, &gt;5 pts below 87.9% median)</a:t>
            </a:r>
          </a:p>
          <a:p>
            <a:pPr>
              <a:spcAft>
                <a:spcPts val="660"/>
              </a:spcAft>
            </a:pPr>
            <a:r>
              <a:rPr sz="1100" b="0" i="0">
                <a:solidFill>
                  <a:srgbClr val="3D4F5C"/>
                </a:solidFill>
                <a:latin typeface="Montserrat"/>
              </a:rPr>
              <a:t>-  Product / Digital Marketing - customers 75.0%, prospects 81.5% (4.4K members)</a:t>
            </a:r>
          </a:p>
          <a:p>
            <a:pPr>
              <a:spcAft>
                <a:spcPts val="660"/>
              </a:spcAft>
            </a:pPr>
            <a:r>
              <a:rPr sz="1100" b="0" i="0">
                <a:solidFill>
                  <a:srgbClr val="3D4F5C"/>
                </a:solidFill>
                <a:latin typeface="Montserrat"/>
              </a:rPr>
              <a:t>-  Website Design / Development - customers 73.5% (core Drupal persona!)</a:t>
            </a:r>
          </a:p>
          <a:p>
            <a:pPr>
              <a:spcAft>
                <a:spcPts val="660"/>
              </a:spcAft>
            </a:pPr>
            <a:r>
              <a:rPr sz="1100" b="0" i="0">
                <a:solidFill>
                  <a:srgbClr val="3D4F5C"/>
                </a:solidFill>
                <a:latin typeface="Montserrat"/>
              </a:rPr>
              <a:t>-  IT Executive - customers 79.2% (1.6K members)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3D4F5C"/>
                </a:solidFill>
                <a:latin typeface="Montserrat"/>
              </a:rPr>
              <a:t>Persona field: Job_Function__c (Lead &amp; Contact). Sample: 74K synced members ≈ 7% of delivered - within-sample rates, not true per-persona open rates. Blank persona: 35% of customer, 12% of prospect members.</a:t>
            </a:r>
          </a:p>
        </p:txBody>
      </p:sp>
      <p:pic>
        <p:nvPicPr>
          <p:cNvPr id="8" name="Picture 7" descr="logo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6263640"/>
            <a:ext cx="1188720" cy="258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32C61"/>
                </a:solidFill>
                <a:latin typeface="Montserrat"/>
              </a:rPr>
              <a:t>Q3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232C61"/>
                </a:solidFill>
                <a:latin typeface="Montserrat ExtraBold"/>
              </a:rPr>
              <a:t>Recommendations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D4F5C"/>
                </a:solidFill>
                <a:latin typeface="Montserrat"/>
              </a:rPr>
              <a:t>Cut fatigued blasts, scale the three formats that click, and fix four instrumentation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0800" cy="786384"/>
          </a:xfrm>
          <a:prstGeom prst="rect">
            <a:avLst/>
          </a:prstGeom>
          <a:solidFill>
            <a:srgbClr val="03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9440" y="1874519"/>
            <a:ext cx="11104880" cy="786384"/>
          </a:xfrm>
          <a:prstGeom prst="rect">
            <a:avLst/>
          </a:prstGeom>
          <a:solidFill>
            <a:srgbClr val="F2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9383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232C61"/>
                </a:solidFill>
                <a:latin typeface="Montserrat ExtraBold"/>
              </a:rPr>
              <a:t>1 · Cap event-invite sequences at 3 full-list touches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1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3D4F5C"/>
                </a:solidFill>
                <a:latin typeface="Montserrat"/>
              </a:rPr>
              <a:t>Touch 8-9 sends burned ~193K emails for 0.19-0.54% CTR; replace with engaged-only segments (9-24% CTR). Expected: recover ~0.3-0.5 pt portfolio CTR.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34055"/>
            <a:ext cx="50800" cy="786384"/>
          </a:xfrm>
          <a:prstGeom prst="rect">
            <a:avLst/>
          </a:prstGeom>
          <a:solidFill>
            <a:srgbClr val="03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9440" y="2734055"/>
            <a:ext cx="11104880" cy="786384"/>
          </a:xfrm>
          <a:prstGeom prst="rect">
            <a:avLst/>
          </a:prstGeom>
          <a:solidFill>
            <a:srgbClr val="F2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19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232C61"/>
                </a:solidFill>
                <a:latin typeface="Montserrat ExtraBold"/>
              </a:rPr>
              <a:t>2 · Prune the 565K DAM-governance list before next send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81527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3D4F5C"/>
                </a:solidFill>
                <a:latin typeface="Montserrat"/>
              </a:rPr>
              <a:t>56% of Q2 volume at 7.0% open. Suppress 6-month non-openers (est. 60%+ of list). Expected: higher deliverability, cleaner metrics, no measurable pipeline loss.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93591"/>
            <a:ext cx="50800" cy="786384"/>
          </a:xfrm>
          <a:prstGeom prst="rect">
            <a:avLst/>
          </a:prstGeom>
          <a:solidFill>
            <a:srgbClr val="03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9440" y="3593591"/>
            <a:ext cx="11104880" cy="786384"/>
          </a:xfrm>
          <a:prstGeom prst="rect">
            <a:avLst/>
          </a:prstGeom>
          <a:solidFill>
            <a:srgbClr val="F2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48455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232C61"/>
                </a:solidFill>
                <a:latin typeface="Montserrat ExtraBold"/>
              </a:rPr>
              <a:t>3 · Scale what clicks: content episodes, countdowns, localization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41063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3D4F5C"/>
                </a:solidFill>
                <a:latin typeface="Montserrat"/>
              </a:rPr>
              <a:t>Prospects: weekly Acquia TV-style sends (2.1% CTR) + ES/PT (now FR/DE) webinars. Customers: agenda/logistics content (0.8% CTR). Expected: 2-4x CTR on migrated volume.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53127"/>
            <a:ext cx="50800" cy="786384"/>
          </a:xfrm>
          <a:prstGeom prst="rect">
            <a:avLst/>
          </a:prstGeom>
          <a:solidFill>
            <a:srgbClr val="F47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9440" y="4453127"/>
            <a:ext cx="11104880" cy="786384"/>
          </a:xfrm>
          <a:prstGeom prst="rect">
            <a:avLst/>
          </a:prstGeom>
          <a:solidFill>
            <a:srgbClr val="F2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07991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232C61"/>
                </a:solidFill>
                <a:latin typeface="Montserrat ExtraBold"/>
              </a:rPr>
              <a:t>4 · Rebuild 3 underengaged personas with format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00599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3D4F5C"/>
                </a:solidFill>
                <a:latin typeface="Montserrat"/>
              </a:rPr>
              <a:t>Product/Digital Marketing, Website Design/Dev, IT Executive (≈8K engaged members clicking below threshold). Test persona-specific content per audience.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12663"/>
            <a:ext cx="50800" cy="786384"/>
          </a:xfrm>
          <a:prstGeom prst="rect">
            <a:avLst/>
          </a:prstGeom>
          <a:solidFill>
            <a:srgbClr val="F47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9440" y="5312663"/>
            <a:ext cx="11104880" cy="786384"/>
          </a:xfrm>
          <a:prstGeom prst="rect">
            <a:avLst/>
          </a:prstGeom>
          <a:solidFill>
            <a:srgbClr val="F2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67527"/>
            <a:ext cx="10698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 i="0">
                <a:solidFill>
                  <a:srgbClr val="232C61"/>
                </a:solidFill>
                <a:latin typeface="Montserrat ExtraBold"/>
              </a:rPr>
              <a:t>5 · Instrumentation: make Q3 fully measurable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60135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3D4F5C"/>
                </a:solidFill>
                <a:latin typeface="Montserrat"/>
              </a:rPr>
              <a:t>Populate GTM_Playbook__c at creation (0 of 59 tagged); sync subject lines &amp; total-sent; backfill blank Job Function (35% of customer members). Owner: MOps intake checklist.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 i="0">
                <a:solidFill>
                  <a:srgbClr val="3D4F5C"/>
                </a:solidFill>
                <a:latin typeface="Montserrat"/>
              </a:rPr>
              <a:t>Priorities 1-3: send-strategy changes (MOps + campaign owners, start immediately). 4-5: audience/instrumentation work (Q3 intake board). Source: Salesforce Campaign Pardot rollups + CampaignMember persona joins, queried 2026-07-18 17:00-17:20 UTC.</a:t>
            </a:r>
          </a:p>
        </p:txBody>
      </p:sp>
      <p:pic>
        <p:nvPicPr>
          <p:cNvPr id="26" name="Picture 25" descr="logo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6263640"/>
            <a:ext cx="1188720" cy="2582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