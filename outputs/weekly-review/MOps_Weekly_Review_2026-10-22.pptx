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626"/>
        </a:solidFill>
        <a:effectLst/>
      </p:bgPr>
    </p:bg>
    <p:spTree>
      <p:nvGrpSpPr>
        <p:cNvPr id="1" name=""/>
        <p:cNvGrpSpPr/>
        <p:nvPr/>
      </p:nvGrpSpPr>
      <p:grpSpPr/>
      <p:sp>
        <p:nvSpPr>
          <p:cNvPr id="2" name="Rectangle 1"/>
          <p:cNvSpPr/>
          <p:nvPr/>
        </p:nvSpPr>
        <p:spPr>
          <a:xfrm>
            <a:off x="0" y="0"/>
            <a:ext cx="12191695" cy="63500"/>
          </a:xfrm>
          <a:prstGeom prst="rect">
            <a:avLst/>
          </a:prstGeom>
          <a:gradFill rotWithShape="1">
            <a:gsLst>
              <a:gs pos="0">
                <a:srgbClr val="14B8A6"/>
              </a:gs>
              <a:gs pos="25000">
                <a:srgbClr val="22C55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468880"/>
            <a:ext cx="9601200" cy="914400"/>
          </a:xfrm>
          <a:prstGeom prst="rect">
            <a:avLst/>
          </a:prstGeom>
          <a:noFill/>
        </p:spPr>
        <p:txBody>
          <a:bodyPr wrap="square">
            <a:spAutoFit/>
          </a:bodyPr>
          <a:lstStyle/>
          <a:p>
            <a:r>
              <a:rPr sz="4400" b="1" i="0">
                <a:solidFill>
                  <a:srgbClr val="F2F5F8"/>
                </a:solidFill>
                <a:latin typeface="Montserrat ExtraBold"/>
              </a:rPr>
              <a:t>MOps Weekly Review</a:t>
            </a:r>
          </a:p>
        </p:txBody>
      </p:sp>
      <p:sp>
        <p:nvSpPr>
          <p:cNvPr id="4" name="TextBox 3"/>
          <p:cNvSpPr txBox="1"/>
          <p:nvPr/>
        </p:nvSpPr>
        <p:spPr>
          <a:xfrm>
            <a:off x="914400" y="3429000"/>
            <a:ext cx="9601200" cy="548640"/>
          </a:xfrm>
          <a:prstGeom prst="rect">
            <a:avLst/>
          </a:prstGeom>
          <a:noFill/>
        </p:spPr>
        <p:txBody>
          <a:bodyPr wrap="square">
            <a:spAutoFit/>
          </a:bodyPr>
          <a:lstStyle/>
          <a:p>
            <a:r>
              <a:rPr sz="1800" b="0" i="0">
                <a:solidFill>
                  <a:srgbClr val="14B8A6"/>
                </a:solidFill>
                <a:latin typeface="Montserrat"/>
              </a:rPr>
              <a:t>Team Performance, Campaign Results &amp; Strategic Roadmap</a:t>
            </a:r>
          </a:p>
        </p:txBody>
      </p:sp>
      <p:sp>
        <p:nvSpPr>
          <p:cNvPr id="5" name="TextBox 4"/>
          <p:cNvSpPr txBox="1"/>
          <p:nvPr/>
        </p:nvSpPr>
        <p:spPr>
          <a:xfrm>
            <a:off x="914400" y="3977639"/>
            <a:ext cx="9601200" cy="457200"/>
          </a:xfrm>
          <a:prstGeom prst="rect">
            <a:avLst/>
          </a:prstGeom>
          <a:noFill/>
        </p:spPr>
        <p:txBody>
          <a:bodyPr wrap="square">
            <a:spAutoFit/>
          </a:bodyPr>
          <a:lstStyle/>
          <a:p>
            <a:r>
              <a:rPr sz="1300" b="0" i="0">
                <a:solidFill>
                  <a:srgbClr val="9AA7B8"/>
                </a:solidFill>
                <a:latin typeface="Montserrat"/>
              </a:rPr>
              <a:t>October 22, 2026 | Project Review Meeting</a:t>
            </a:r>
          </a:p>
        </p:txBody>
      </p:sp>
      <p:sp>
        <p:nvSpPr>
          <p:cNvPr id="6" name="TextBox 5"/>
          <p:cNvSpPr txBox="1"/>
          <p:nvPr/>
        </p:nvSpPr>
        <p:spPr>
          <a:xfrm>
            <a:off x="11612880" y="6473952"/>
            <a:ext cx="457200" cy="320040"/>
          </a:xfrm>
          <a:prstGeom prst="rect">
            <a:avLst/>
          </a:prstGeom>
          <a:noFill/>
        </p:spPr>
        <p:txBody>
          <a:bodyPr wrap="square">
            <a:spAutoFit/>
          </a:bodyPr>
          <a:lstStyle/>
          <a:p>
            <a:pPr algn="r"/>
            <a:r>
              <a:rPr sz="900" b="0" i="0">
                <a:solidFill>
                  <a:srgbClr val="9AA7B8"/>
                </a:solidFill>
                <a:latin typeface="Montserrat"/>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626"/>
        </a:solidFill>
        <a:effectLst/>
      </p:bgPr>
    </p:bg>
    <p:spTree>
      <p:nvGrpSpPr>
        <p:cNvPr id="1" name=""/>
        <p:cNvGrpSpPr/>
        <p:nvPr/>
      </p:nvGrpSpPr>
      <p:grpSpPr/>
      <p:sp>
        <p:nvSpPr>
          <p:cNvPr id="2" name="Rectangle 1"/>
          <p:cNvSpPr/>
          <p:nvPr/>
        </p:nvSpPr>
        <p:spPr>
          <a:xfrm>
            <a:off x="0" y="0"/>
            <a:ext cx="12191695" cy="63500"/>
          </a:xfrm>
          <a:prstGeom prst="rect">
            <a:avLst/>
          </a:prstGeom>
          <a:gradFill rotWithShape="1">
            <a:gsLst>
              <a:gs pos="0">
                <a:srgbClr val="14B8A6"/>
              </a:gs>
              <a:gs pos="25000">
                <a:srgbClr val="22C55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10058400" cy="365760"/>
          </a:xfrm>
          <a:prstGeom prst="rect">
            <a:avLst/>
          </a:prstGeom>
          <a:noFill/>
        </p:spPr>
        <p:txBody>
          <a:bodyPr wrap="square">
            <a:spAutoFit/>
          </a:bodyPr>
          <a:lstStyle/>
          <a:p>
            <a:r>
              <a:rPr sz="1400" b="1" i="0">
                <a:solidFill>
                  <a:srgbClr val="14B8A6"/>
                </a:solidFill>
                <a:latin typeface="Montserrat"/>
              </a:rPr>
              <a:t>RETROSPECTIVE</a:t>
            </a:r>
          </a:p>
        </p:txBody>
      </p:sp>
      <p:sp>
        <p:nvSpPr>
          <p:cNvPr id="4" name="TextBox 3"/>
          <p:cNvSpPr txBox="1"/>
          <p:nvPr/>
        </p:nvSpPr>
        <p:spPr>
          <a:xfrm>
            <a:off x="914400" y="3108960"/>
            <a:ext cx="10058400" cy="822960"/>
          </a:xfrm>
          <a:prstGeom prst="rect">
            <a:avLst/>
          </a:prstGeom>
          <a:noFill/>
        </p:spPr>
        <p:txBody>
          <a:bodyPr wrap="square">
            <a:spAutoFit/>
          </a:bodyPr>
          <a:lstStyle/>
          <a:p>
            <a:r>
              <a:rPr sz="3600" b="1" i="0">
                <a:solidFill>
                  <a:srgbClr val="F2F5F8"/>
                </a:solidFill>
                <a:latin typeface="Montserrat ExtraBold"/>
              </a:rPr>
              <a:t>Reviewing Last Week</a:t>
            </a:r>
          </a:p>
        </p:txBody>
      </p:sp>
      <p:sp>
        <p:nvSpPr>
          <p:cNvPr id="5" name="TextBox 4"/>
          <p:cNvSpPr txBox="1"/>
          <p:nvPr/>
        </p:nvSpPr>
        <p:spPr>
          <a:xfrm>
            <a:off x="914400" y="3931920"/>
            <a:ext cx="10058400" cy="457200"/>
          </a:xfrm>
          <a:prstGeom prst="rect">
            <a:avLst/>
          </a:prstGeom>
          <a:noFill/>
        </p:spPr>
        <p:txBody>
          <a:bodyPr wrap="square">
            <a:spAutoFit/>
          </a:bodyPr>
          <a:lstStyle/>
          <a:p>
            <a:r>
              <a:rPr sz="1500" b="0" i="0">
                <a:solidFill>
                  <a:srgbClr val="9AA7B8"/>
                </a:solidFill>
                <a:latin typeface="Montserrat"/>
              </a:rPr>
              <a:t>Oct 15-21, 2026</a:t>
            </a:r>
          </a:p>
        </p:txBody>
      </p:sp>
      <p:sp>
        <p:nvSpPr>
          <p:cNvPr id="6" name="TextBox 5"/>
          <p:cNvSpPr txBox="1"/>
          <p:nvPr/>
        </p:nvSpPr>
        <p:spPr>
          <a:xfrm>
            <a:off x="11612880" y="6473952"/>
            <a:ext cx="457200" cy="320040"/>
          </a:xfrm>
          <a:prstGeom prst="rect">
            <a:avLst/>
          </a:prstGeom>
          <a:noFill/>
        </p:spPr>
        <p:txBody>
          <a:bodyPr wrap="square">
            <a:spAutoFit/>
          </a:bodyPr>
          <a:lstStyle/>
          <a:p>
            <a:pPr algn="r"/>
            <a:r>
              <a:rPr sz="900" b="0" i="0">
                <a:solidFill>
                  <a:srgbClr val="9AA7B8"/>
                </a:solidFill>
                <a:latin typeface="Montserra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626"/>
        </a:solidFill>
        <a:effectLst/>
      </p:bgPr>
    </p:bg>
    <p:spTree>
      <p:nvGrpSpPr>
        <p:cNvPr id="1" name=""/>
        <p:cNvGrpSpPr/>
        <p:nvPr/>
      </p:nvGrpSpPr>
      <p:grpSpPr/>
      <p:sp>
        <p:nvSpPr>
          <p:cNvPr id="2" name="Rectangle 1"/>
          <p:cNvSpPr/>
          <p:nvPr/>
        </p:nvSpPr>
        <p:spPr>
          <a:xfrm>
            <a:off x="0" y="0"/>
            <a:ext cx="12191695" cy="63500"/>
          </a:xfrm>
          <a:prstGeom prst="rect">
            <a:avLst/>
          </a:prstGeom>
          <a:gradFill rotWithShape="1">
            <a:gsLst>
              <a:gs pos="0">
                <a:srgbClr val="14B8A6"/>
              </a:gs>
              <a:gs pos="25000">
                <a:srgbClr val="22C55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515600" cy="320040"/>
          </a:xfrm>
          <a:prstGeom prst="rect">
            <a:avLst/>
          </a:prstGeom>
          <a:noFill/>
        </p:spPr>
        <p:txBody>
          <a:bodyPr wrap="square">
            <a:spAutoFit/>
          </a:bodyPr>
          <a:lstStyle/>
          <a:p>
            <a:r>
              <a:rPr sz="1200" b="1" i="0">
                <a:solidFill>
                  <a:srgbClr val="14B8A6"/>
                </a:solidFill>
                <a:latin typeface="Montserrat"/>
              </a:rPr>
              <a:t>RETROSPECTIVE</a:t>
            </a:r>
          </a:p>
        </p:txBody>
      </p:sp>
      <p:sp>
        <p:nvSpPr>
          <p:cNvPr id="4" name="Rectangle 3"/>
          <p:cNvSpPr/>
          <p:nvPr/>
        </p:nvSpPr>
        <p:spPr>
          <a:xfrm>
            <a:off x="566928" y="621792"/>
            <a:ext cx="457200" cy="3175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749808"/>
            <a:ext cx="11064240" cy="640080"/>
          </a:xfrm>
          <a:prstGeom prst="rect">
            <a:avLst/>
          </a:prstGeom>
          <a:noFill/>
        </p:spPr>
        <p:txBody>
          <a:bodyPr wrap="square">
            <a:spAutoFit/>
          </a:bodyPr>
          <a:lstStyle/>
          <a:p>
            <a:r>
              <a:rPr sz="2600" b="1" i="0">
                <a:solidFill>
                  <a:srgbClr val="F2F5F8"/>
                </a:solidFill>
                <a:latin typeface="Montserrat ExtraBold"/>
              </a:rPr>
              <a:t>Executive Summary</a:t>
            </a:r>
          </a:p>
        </p:txBody>
      </p:sp>
      <p:sp>
        <p:nvSpPr>
          <p:cNvPr id="6" name="TextBox 5"/>
          <p:cNvSpPr txBox="1"/>
          <p:nvPr/>
        </p:nvSpPr>
        <p:spPr>
          <a:xfrm>
            <a:off x="548640" y="1325880"/>
            <a:ext cx="11064240" cy="548640"/>
          </a:xfrm>
          <a:prstGeom prst="rect">
            <a:avLst/>
          </a:prstGeom>
          <a:noFill/>
        </p:spPr>
        <p:txBody>
          <a:bodyPr wrap="square">
            <a:spAutoFit/>
          </a:bodyPr>
          <a:lstStyle/>
          <a:p>
            <a:r>
              <a:rPr sz="1300" b="0" i="0">
                <a:solidFill>
                  <a:srgbClr val="9AA7B8"/>
                </a:solidFill>
                <a:latin typeface="Montserrat"/>
              </a:rPr>
              <a:t>Oct 15-21, 2026</a:t>
            </a:r>
          </a:p>
        </p:txBody>
      </p:sp>
      <p:sp>
        <p:nvSpPr>
          <p:cNvPr id="7" name="TextBox 6"/>
          <p:cNvSpPr txBox="1"/>
          <p:nvPr/>
        </p:nvSpPr>
        <p:spPr>
          <a:xfrm>
            <a:off x="548640" y="2011680"/>
            <a:ext cx="3657600" cy="1188720"/>
          </a:xfrm>
          <a:prstGeom prst="rect">
            <a:avLst/>
          </a:prstGeom>
          <a:noFill/>
        </p:spPr>
        <p:txBody>
          <a:bodyPr wrap="square">
            <a:spAutoFit/>
          </a:bodyPr>
          <a:lstStyle/>
          <a:p>
            <a:r>
              <a:rPr sz="6000" b="1" i="0">
                <a:solidFill>
                  <a:srgbClr val="14B8A6"/>
                </a:solidFill>
                <a:latin typeface="Montserrat ExtraBold"/>
              </a:rPr>
              <a:t>38</a:t>
            </a:r>
          </a:p>
        </p:txBody>
      </p:sp>
      <p:sp>
        <p:nvSpPr>
          <p:cNvPr id="8" name="TextBox 7"/>
          <p:cNvSpPr txBox="1"/>
          <p:nvPr/>
        </p:nvSpPr>
        <p:spPr>
          <a:xfrm>
            <a:off x="548640" y="2880360"/>
            <a:ext cx="3657600" cy="457200"/>
          </a:xfrm>
          <a:prstGeom prst="rect">
            <a:avLst/>
          </a:prstGeom>
          <a:noFill/>
        </p:spPr>
        <p:txBody>
          <a:bodyPr wrap="square">
            <a:spAutoFit/>
          </a:bodyPr>
          <a:lstStyle/>
          <a:p>
            <a:r>
              <a:rPr sz="1300" b="0" i="0">
                <a:solidFill>
                  <a:srgbClr val="9AA7B8"/>
                </a:solidFill>
                <a:latin typeface="Montserrat"/>
              </a:rPr>
              <a:t>Total Completed</a:t>
            </a:r>
          </a:p>
        </p:txBody>
      </p:sp>
      <p:sp>
        <p:nvSpPr>
          <p:cNvPr id="9" name="Rounded Rectangle 8"/>
          <p:cNvSpPr/>
          <p:nvPr/>
        </p:nvSpPr>
        <p:spPr>
          <a:xfrm>
            <a:off x="4572000" y="2011680"/>
            <a:ext cx="6675120" cy="685800"/>
          </a:xfrm>
          <a:prstGeom prst="roundRect">
            <a:avLst>
              <a:gd name="adj" fmla="val 15000"/>
            </a:avLst>
          </a:prstGeom>
          <a:solidFill>
            <a:srgbClr val="152033"/>
          </a:solidFill>
          <a:ln w="9525">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a:lstStyle/>
          <a:p>
            <a:pPr algn="ctr"/>
            <a:r>
              <a:rPr sz="1300" b="0" i="0">
                <a:solidFill>
                  <a:srgbClr val="F2F5F8"/>
                </a:solidFill>
                <a:latin typeface="Montserrat"/>
              </a:rPr>
              <a:t>38 tasks shipped (32 assigned + 6 unassigned) - Aayushi 12, Felipe 11, Harish 9</a:t>
            </a:r>
          </a:p>
        </p:txBody>
      </p:sp>
      <p:sp>
        <p:nvSpPr>
          <p:cNvPr id="10" name="Rounded Rectangle 9"/>
          <p:cNvSpPr/>
          <p:nvPr/>
        </p:nvSpPr>
        <p:spPr>
          <a:xfrm>
            <a:off x="4572000" y="2880360"/>
            <a:ext cx="6675120" cy="685800"/>
          </a:xfrm>
          <a:prstGeom prst="roundRect">
            <a:avLst>
              <a:gd name="adj" fmla="val 15000"/>
            </a:avLst>
          </a:prstGeom>
          <a:solidFill>
            <a:srgbClr val="152033"/>
          </a:solidFill>
          <a:ln w="9525">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a:lstStyle/>
          <a:p>
            <a:pPr algn="ctr"/>
            <a:r>
              <a:rPr sz="1300" b="0" i="0">
                <a:solidFill>
                  <a:srgbClr val="F2F5F8"/>
                </a:solidFill>
                <a:latin typeface="Montserrat"/>
              </a:rPr>
              <a:t>13 SFDC campaigns created/launched -&gt; 5,854 contacts+leads reached, 5,840 responses, 11 opportunities, $84,300.60 pipeline</a:t>
            </a:r>
          </a:p>
        </p:txBody>
      </p:sp>
      <p:sp>
        <p:nvSpPr>
          <p:cNvPr id="11" name="Rounded Rectangle 10"/>
          <p:cNvSpPr/>
          <p:nvPr/>
        </p:nvSpPr>
        <p:spPr>
          <a:xfrm>
            <a:off x="4572000" y="3749040"/>
            <a:ext cx="6675120" cy="685800"/>
          </a:xfrm>
          <a:prstGeom prst="roundRect">
            <a:avLst>
              <a:gd name="adj" fmla="val 15000"/>
            </a:avLst>
          </a:prstGeom>
          <a:solidFill>
            <a:srgbClr val="152033"/>
          </a:solidFill>
          <a:ln w="9525">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a:lstStyle/>
          <a:p>
            <a:pPr algn="ctr"/>
            <a:r>
              <a:rPr sz="1300" b="0" i="0">
                <a:solidFill>
                  <a:srgbClr val="F2F5F8"/>
                </a:solidFill>
                <a:latin typeface="Montserrat"/>
              </a:rPr>
              <a:t>17% within SLA this week (1 of 6 scored SFDC-campaign-creation completions) - avg cycle time 15.8 business days (6.8 bd excluding one 61-day backlog clearance)</a:t>
            </a:r>
          </a:p>
        </p:txBody>
      </p:sp>
      <p:sp>
        <p:nvSpPr>
          <p:cNvPr id="12" name="TextBox 11"/>
          <p:cNvSpPr txBox="1"/>
          <p:nvPr/>
        </p:nvSpPr>
        <p:spPr>
          <a:xfrm>
            <a:off x="548640" y="4937760"/>
            <a:ext cx="10789920" cy="1280160"/>
          </a:xfrm>
          <a:prstGeom prst="rect">
            <a:avLst/>
          </a:prstGeom>
          <a:noFill/>
        </p:spPr>
        <p:txBody>
          <a:bodyPr wrap="square">
            <a:spAutoFit/>
          </a:bodyPr>
          <a:lstStyle/>
          <a:p>
            <a:r>
              <a:rPr sz="1300" b="0" i="0">
                <a:solidFill>
                  <a:srgbClr val="9AA7B8"/>
                </a:solidFill>
                <a:latin typeface="Montserrat"/>
              </a:rPr>
              <a:t>SFDC-campaign throughput and engagement stayed strong this period, but the SLA miss is sharp: 5 of 6 scored campaign-creation tickets ran past their 1-business-day target, one by 61 business days (old backlog, not a new miss). The Meta Lead Forms integration (Urgent, Out-of-SLA) is now 34 days overdue with no escalation on file - see Blocked/At Risk. Jira (Atlassian) connector timed out on 3 straight attempts this run; MOPS Jira issues are not reflected below.</a:t>
            </a:r>
          </a:p>
        </p:txBody>
      </p:sp>
      <p:sp>
        <p:nvSpPr>
          <p:cNvPr id="13" name="TextBox 12"/>
          <p:cNvSpPr txBox="1"/>
          <p:nvPr/>
        </p:nvSpPr>
        <p:spPr>
          <a:xfrm>
            <a:off x="11612880" y="6473952"/>
            <a:ext cx="457200" cy="320040"/>
          </a:xfrm>
          <a:prstGeom prst="rect">
            <a:avLst/>
          </a:prstGeom>
          <a:noFill/>
        </p:spPr>
        <p:txBody>
          <a:bodyPr wrap="square">
            <a:spAutoFit/>
          </a:bodyPr>
          <a:lstStyle/>
          <a:p>
            <a:pPr algn="r"/>
            <a:r>
              <a:rPr sz="900" b="0" i="0">
                <a:solidFill>
                  <a:srgbClr val="9AA7B8"/>
                </a:solidFill>
                <a:latin typeface="Montserrat"/>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626"/>
        </a:solidFill>
        <a:effectLst/>
      </p:bgPr>
    </p:bg>
    <p:spTree>
      <p:nvGrpSpPr>
        <p:cNvPr id="1" name=""/>
        <p:cNvGrpSpPr/>
        <p:nvPr/>
      </p:nvGrpSpPr>
      <p:grpSpPr/>
      <p:sp>
        <p:nvSpPr>
          <p:cNvPr id="2" name="Rectangle 1"/>
          <p:cNvSpPr/>
          <p:nvPr/>
        </p:nvSpPr>
        <p:spPr>
          <a:xfrm>
            <a:off x="0" y="0"/>
            <a:ext cx="12191695" cy="63500"/>
          </a:xfrm>
          <a:prstGeom prst="rect">
            <a:avLst/>
          </a:prstGeom>
          <a:gradFill rotWithShape="1">
            <a:gsLst>
              <a:gs pos="0">
                <a:srgbClr val="14B8A6"/>
              </a:gs>
              <a:gs pos="25000">
                <a:srgbClr val="22C55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515600" cy="320040"/>
          </a:xfrm>
          <a:prstGeom prst="rect">
            <a:avLst/>
          </a:prstGeom>
          <a:noFill/>
        </p:spPr>
        <p:txBody>
          <a:bodyPr wrap="square">
            <a:spAutoFit/>
          </a:bodyPr>
          <a:lstStyle/>
          <a:p>
            <a:r>
              <a:rPr sz="1200" b="1" i="0">
                <a:solidFill>
                  <a:srgbClr val="14B8A6"/>
                </a:solidFill>
                <a:latin typeface="Montserrat"/>
              </a:rPr>
              <a:t>RETROSPECTIVE</a:t>
            </a:r>
          </a:p>
        </p:txBody>
      </p:sp>
      <p:sp>
        <p:nvSpPr>
          <p:cNvPr id="4" name="Rectangle 3"/>
          <p:cNvSpPr/>
          <p:nvPr/>
        </p:nvSpPr>
        <p:spPr>
          <a:xfrm>
            <a:off x="566928" y="621792"/>
            <a:ext cx="457200" cy="3175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749808"/>
            <a:ext cx="11064240" cy="640080"/>
          </a:xfrm>
          <a:prstGeom prst="rect">
            <a:avLst/>
          </a:prstGeom>
          <a:noFill/>
        </p:spPr>
        <p:txBody>
          <a:bodyPr wrap="square">
            <a:spAutoFit/>
          </a:bodyPr>
          <a:lstStyle/>
          <a:p>
            <a:r>
              <a:rPr sz="2600" b="1" i="0">
                <a:solidFill>
                  <a:srgbClr val="F2F5F8"/>
                </a:solidFill>
                <a:latin typeface="Montserrat ExtraBold"/>
              </a:rPr>
              <a:t>Completed Tasks by Team Member</a:t>
            </a:r>
          </a:p>
        </p:txBody>
      </p:sp>
      <p:sp>
        <p:nvSpPr>
          <p:cNvPr id="6" name="TextBox 5"/>
          <p:cNvSpPr txBox="1"/>
          <p:nvPr/>
        </p:nvSpPr>
        <p:spPr>
          <a:xfrm>
            <a:off x="548640" y="1325880"/>
            <a:ext cx="11064240" cy="548640"/>
          </a:xfrm>
          <a:prstGeom prst="rect">
            <a:avLst/>
          </a:prstGeom>
          <a:noFill/>
        </p:spPr>
        <p:txBody>
          <a:bodyPr wrap="square">
            <a:spAutoFit/>
          </a:bodyPr>
          <a:lstStyle/>
          <a:p>
            <a:r>
              <a:rPr sz="1300" b="0" i="0">
                <a:solidFill>
                  <a:srgbClr val="9AA7B8"/>
                </a:solidFill>
                <a:latin typeface="Montserrat"/>
              </a:rPr>
              <a:t>Oct 15-21, 2026</a:t>
            </a:r>
          </a:p>
        </p:txBody>
      </p:sp>
      <p:sp>
        <p:nvSpPr>
          <p:cNvPr id="7" name="TextBox 6"/>
          <p:cNvSpPr txBox="1"/>
          <p:nvPr/>
        </p:nvSpPr>
        <p:spPr>
          <a:xfrm>
            <a:off x="548640" y="2103120"/>
            <a:ext cx="2103120" cy="502920"/>
          </a:xfrm>
          <a:prstGeom prst="rect">
            <a:avLst/>
          </a:prstGeom>
          <a:noFill/>
        </p:spPr>
        <p:txBody>
          <a:bodyPr wrap="square">
            <a:spAutoFit/>
          </a:bodyPr>
          <a:lstStyle/>
          <a:p>
            <a:r>
              <a:rPr sz="1200" b="0" i="0">
                <a:solidFill>
                  <a:srgbClr val="F2F5F8"/>
                </a:solidFill>
                <a:latin typeface="Montserrat"/>
              </a:rPr>
              <a:t>Aayushi Sharma</a:t>
            </a:r>
          </a:p>
        </p:txBody>
      </p:sp>
      <p:sp>
        <p:nvSpPr>
          <p:cNvPr id="8" name="Rectangle 7"/>
          <p:cNvSpPr/>
          <p:nvPr/>
        </p:nvSpPr>
        <p:spPr>
          <a:xfrm>
            <a:off x="2743200" y="2148840"/>
            <a:ext cx="8686800" cy="292608"/>
          </a:xfrm>
          <a:prstGeom prst="rect">
            <a:avLst/>
          </a:prstGeom>
          <a:solidFill>
            <a:srgbClr val="15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0" y="2148840"/>
            <a:ext cx="8686800" cy="29260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21440" y="2103120"/>
            <a:ext cx="548640" cy="502920"/>
          </a:xfrm>
          <a:prstGeom prst="rect">
            <a:avLst/>
          </a:prstGeom>
          <a:noFill/>
        </p:spPr>
        <p:txBody>
          <a:bodyPr wrap="square">
            <a:spAutoFit/>
          </a:bodyPr>
          <a:lstStyle/>
          <a:p>
            <a:r>
              <a:rPr sz="1200" b="1" i="0">
                <a:solidFill>
                  <a:srgbClr val="F2F5F8"/>
                </a:solidFill>
                <a:latin typeface="Montserrat"/>
              </a:rPr>
              <a:t>12</a:t>
            </a:r>
          </a:p>
        </p:txBody>
      </p:sp>
      <p:sp>
        <p:nvSpPr>
          <p:cNvPr id="11" name="TextBox 10"/>
          <p:cNvSpPr txBox="1"/>
          <p:nvPr/>
        </p:nvSpPr>
        <p:spPr>
          <a:xfrm>
            <a:off x="548640" y="2679192"/>
            <a:ext cx="2103120" cy="502920"/>
          </a:xfrm>
          <a:prstGeom prst="rect">
            <a:avLst/>
          </a:prstGeom>
          <a:noFill/>
        </p:spPr>
        <p:txBody>
          <a:bodyPr wrap="square">
            <a:spAutoFit/>
          </a:bodyPr>
          <a:lstStyle/>
          <a:p>
            <a:r>
              <a:rPr sz="1200" b="0" i="0">
                <a:solidFill>
                  <a:srgbClr val="F2F5F8"/>
                </a:solidFill>
                <a:latin typeface="Montserrat"/>
              </a:rPr>
              <a:t>Felipe Tencio</a:t>
            </a:r>
          </a:p>
        </p:txBody>
      </p:sp>
      <p:sp>
        <p:nvSpPr>
          <p:cNvPr id="12" name="Rectangle 11"/>
          <p:cNvSpPr/>
          <p:nvPr/>
        </p:nvSpPr>
        <p:spPr>
          <a:xfrm>
            <a:off x="2743200" y="2724912"/>
            <a:ext cx="8686800" cy="292608"/>
          </a:xfrm>
          <a:prstGeom prst="rect">
            <a:avLst/>
          </a:prstGeom>
          <a:solidFill>
            <a:srgbClr val="15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0" y="2724912"/>
            <a:ext cx="7962900" cy="29260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521440" y="2679192"/>
            <a:ext cx="548640" cy="502920"/>
          </a:xfrm>
          <a:prstGeom prst="rect">
            <a:avLst/>
          </a:prstGeom>
          <a:noFill/>
        </p:spPr>
        <p:txBody>
          <a:bodyPr wrap="square">
            <a:spAutoFit/>
          </a:bodyPr>
          <a:lstStyle/>
          <a:p>
            <a:r>
              <a:rPr sz="1200" b="1" i="0">
                <a:solidFill>
                  <a:srgbClr val="F2F5F8"/>
                </a:solidFill>
                <a:latin typeface="Montserrat"/>
              </a:rPr>
              <a:t>11</a:t>
            </a:r>
          </a:p>
        </p:txBody>
      </p:sp>
      <p:sp>
        <p:nvSpPr>
          <p:cNvPr id="15" name="TextBox 14"/>
          <p:cNvSpPr txBox="1"/>
          <p:nvPr/>
        </p:nvSpPr>
        <p:spPr>
          <a:xfrm>
            <a:off x="548640" y="3255264"/>
            <a:ext cx="2103120" cy="502920"/>
          </a:xfrm>
          <a:prstGeom prst="rect">
            <a:avLst/>
          </a:prstGeom>
          <a:noFill/>
        </p:spPr>
        <p:txBody>
          <a:bodyPr wrap="square">
            <a:spAutoFit/>
          </a:bodyPr>
          <a:lstStyle/>
          <a:p>
            <a:r>
              <a:rPr sz="1200" b="0" i="0">
                <a:solidFill>
                  <a:srgbClr val="F2F5F8"/>
                </a:solidFill>
                <a:latin typeface="Montserrat"/>
              </a:rPr>
              <a:t>Harish Pandey</a:t>
            </a:r>
          </a:p>
        </p:txBody>
      </p:sp>
      <p:sp>
        <p:nvSpPr>
          <p:cNvPr id="16" name="Rectangle 15"/>
          <p:cNvSpPr/>
          <p:nvPr/>
        </p:nvSpPr>
        <p:spPr>
          <a:xfrm>
            <a:off x="2743200" y="3300984"/>
            <a:ext cx="8686800" cy="292608"/>
          </a:xfrm>
          <a:prstGeom prst="rect">
            <a:avLst/>
          </a:prstGeom>
          <a:solidFill>
            <a:srgbClr val="15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0" y="3300984"/>
            <a:ext cx="6515100" cy="29260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521440" y="3255264"/>
            <a:ext cx="548640" cy="502920"/>
          </a:xfrm>
          <a:prstGeom prst="rect">
            <a:avLst/>
          </a:prstGeom>
          <a:noFill/>
        </p:spPr>
        <p:txBody>
          <a:bodyPr wrap="square">
            <a:spAutoFit/>
          </a:bodyPr>
          <a:lstStyle/>
          <a:p>
            <a:r>
              <a:rPr sz="1200" b="1" i="0">
                <a:solidFill>
                  <a:srgbClr val="F2F5F8"/>
                </a:solidFill>
                <a:latin typeface="Montserrat"/>
              </a:rPr>
              <a:t>9</a:t>
            </a:r>
          </a:p>
        </p:txBody>
      </p:sp>
      <p:sp>
        <p:nvSpPr>
          <p:cNvPr id="19" name="TextBox 18"/>
          <p:cNvSpPr txBox="1"/>
          <p:nvPr/>
        </p:nvSpPr>
        <p:spPr>
          <a:xfrm>
            <a:off x="548640" y="3831336"/>
            <a:ext cx="2103120" cy="502920"/>
          </a:xfrm>
          <a:prstGeom prst="rect">
            <a:avLst/>
          </a:prstGeom>
          <a:noFill/>
        </p:spPr>
        <p:txBody>
          <a:bodyPr wrap="square">
            <a:spAutoFit/>
          </a:bodyPr>
          <a:lstStyle/>
          <a:p>
            <a:r>
              <a:rPr sz="1200" b="0" i="0">
                <a:solidFill>
                  <a:srgbClr val="F2F5F8"/>
                </a:solidFill>
                <a:latin typeface="Montserrat"/>
              </a:rPr>
              <a:t>Jennifer Schroback</a:t>
            </a:r>
          </a:p>
        </p:txBody>
      </p:sp>
      <p:sp>
        <p:nvSpPr>
          <p:cNvPr id="20" name="Rectangle 19"/>
          <p:cNvSpPr/>
          <p:nvPr/>
        </p:nvSpPr>
        <p:spPr>
          <a:xfrm>
            <a:off x="2743200" y="3877056"/>
            <a:ext cx="8686800" cy="292608"/>
          </a:xfrm>
          <a:prstGeom prst="rect">
            <a:avLst/>
          </a:prstGeom>
          <a:solidFill>
            <a:srgbClr val="15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521440" y="3831336"/>
            <a:ext cx="548640" cy="502920"/>
          </a:xfrm>
          <a:prstGeom prst="rect">
            <a:avLst/>
          </a:prstGeom>
          <a:noFill/>
        </p:spPr>
        <p:txBody>
          <a:bodyPr wrap="square">
            <a:spAutoFit/>
          </a:bodyPr>
          <a:lstStyle/>
          <a:p>
            <a:r>
              <a:rPr sz="1200" b="1" i="0">
                <a:solidFill>
                  <a:srgbClr val="F2F5F8"/>
                </a:solidFill>
                <a:latin typeface="Montserrat"/>
              </a:rPr>
              <a:t>0</a:t>
            </a:r>
          </a:p>
        </p:txBody>
      </p:sp>
      <p:sp>
        <p:nvSpPr>
          <p:cNvPr id="22" name="TextBox 21"/>
          <p:cNvSpPr txBox="1"/>
          <p:nvPr/>
        </p:nvSpPr>
        <p:spPr>
          <a:xfrm>
            <a:off x="548640" y="5943600"/>
            <a:ext cx="7315200" cy="365760"/>
          </a:xfrm>
          <a:prstGeom prst="rect">
            <a:avLst/>
          </a:prstGeom>
          <a:noFill/>
        </p:spPr>
        <p:txBody>
          <a:bodyPr wrap="square">
            <a:spAutoFit/>
          </a:bodyPr>
          <a:lstStyle/>
          <a:p>
            <a:r>
              <a:rPr sz="1400" b="1" i="0">
                <a:solidFill>
                  <a:srgbClr val="14B8A6"/>
                </a:solidFill>
                <a:latin typeface="Montserrat"/>
              </a:rPr>
              <a:t>Total Completed: 38 Tasks (incl. 6 unassigned)</a:t>
            </a:r>
          </a:p>
        </p:txBody>
      </p:sp>
      <p:sp>
        <p:nvSpPr>
          <p:cNvPr id="23" name="TextBox 22"/>
          <p:cNvSpPr txBox="1"/>
          <p:nvPr/>
        </p:nvSpPr>
        <p:spPr>
          <a:xfrm>
            <a:off x="548640" y="6355080"/>
            <a:ext cx="11064240" cy="457200"/>
          </a:xfrm>
          <a:prstGeom prst="rect">
            <a:avLst/>
          </a:prstGeom>
          <a:noFill/>
        </p:spPr>
        <p:txBody>
          <a:bodyPr wrap="square">
            <a:spAutoFit/>
          </a:bodyPr>
          <a:lstStyle/>
          <a:p>
            <a:r>
              <a:rPr sz="750" b="0" i="1">
                <a:solidFill>
                  <a:srgbClr val="9AA7B8"/>
                </a:solidFill>
                <a:latin typeface="Montserrat"/>
              </a:rPr>
              <a:t>Source: Asana search_tasks, [MOps] Intake (gid 1205660951274722), completed_on 2026-10-15..2026-10-21, queried 2026-10-22. 6 completions carry no assignee (not shown as a bar).</a:t>
            </a:r>
          </a:p>
        </p:txBody>
      </p:sp>
      <p:sp>
        <p:nvSpPr>
          <p:cNvPr id="24" name="TextBox 23"/>
          <p:cNvSpPr txBox="1"/>
          <p:nvPr/>
        </p:nvSpPr>
        <p:spPr>
          <a:xfrm>
            <a:off x="11612880" y="6473952"/>
            <a:ext cx="457200" cy="320040"/>
          </a:xfrm>
          <a:prstGeom prst="rect">
            <a:avLst/>
          </a:prstGeom>
          <a:noFill/>
        </p:spPr>
        <p:txBody>
          <a:bodyPr wrap="square">
            <a:spAutoFit/>
          </a:bodyPr>
          <a:lstStyle/>
          <a:p>
            <a:pPr algn="r"/>
            <a:r>
              <a:rPr sz="900" b="0" i="0">
                <a:solidFill>
                  <a:srgbClr val="9AA7B8"/>
                </a:solidFill>
                <a:latin typeface="Montserra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626"/>
        </a:solidFill>
        <a:effectLst/>
      </p:bgPr>
    </p:bg>
    <p:spTree>
      <p:nvGrpSpPr>
        <p:cNvPr id="1" name=""/>
        <p:cNvGrpSpPr/>
        <p:nvPr/>
      </p:nvGrpSpPr>
      <p:grpSpPr/>
      <p:sp>
        <p:nvSpPr>
          <p:cNvPr id="2" name="Rectangle 1"/>
          <p:cNvSpPr/>
          <p:nvPr/>
        </p:nvSpPr>
        <p:spPr>
          <a:xfrm>
            <a:off x="0" y="0"/>
            <a:ext cx="12191695" cy="63500"/>
          </a:xfrm>
          <a:prstGeom prst="rect">
            <a:avLst/>
          </a:prstGeom>
          <a:gradFill rotWithShape="1">
            <a:gsLst>
              <a:gs pos="0">
                <a:srgbClr val="14B8A6"/>
              </a:gs>
              <a:gs pos="25000">
                <a:srgbClr val="22C55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515600" cy="320040"/>
          </a:xfrm>
          <a:prstGeom prst="rect">
            <a:avLst/>
          </a:prstGeom>
          <a:noFill/>
        </p:spPr>
        <p:txBody>
          <a:bodyPr wrap="square">
            <a:spAutoFit/>
          </a:bodyPr>
          <a:lstStyle/>
          <a:p>
            <a:r>
              <a:rPr sz="1200" b="1" i="0">
                <a:solidFill>
                  <a:srgbClr val="14B8A6"/>
                </a:solidFill>
                <a:latin typeface="Montserrat"/>
              </a:rPr>
              <a:t>RETROSPECTIVE</a:t>
            </a:r>
          </a:p>
        </p:txBody>
      </p:sp>
      <p:sp>
        <p:nvSpPr>
          <p:cNvPr id="4" name="Rectangle 3"/>
          <p:cNvSpPr/>
          <p:nvPr/>
        </p:nvSpPr>
        <p:spPr>
          <a:xfrm>
            <a:off x="566928" y="621792"/>
            <a:ext cx="457200" cy="3175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749808"/>
            <a:ext cx="11064240" cy="640080"/>
          </a:xfrm>
          <a:prstGeom prst="rect">
            <a:avLst/>
          </a:prstGeom>
          <a:noFill/>
        </p:spPr>
        <p:txBody>
          <a:bodyPr wrap="square">
            <a:spAutoFit/>
          </a:bodyPr>
          <a:lstStyle/>
          <a:p>
            <a:r>
              <a:rPr sz="2600" b="1" i="0">
                <a:solidFill>
                  <a:srgbClr val="F2F5F8"/>
                </a:solidFill>
                <a:latin typeface="Montserrat ExtraBold"/>
              </a:rPr>
              <a:t>Emails Sent Last Week</a:t>
            </a:r>
          </a:p>
        </p:txBody>
      </p:sp>
      <p:sp>
        <p:nvSpPr>
          <p:cNvPr id="6" name="TextBox 5"/>
          <p:cNvSpPr txBox="1"/>
          <p:nvPr/>
        </p:nvSpPr>
        <p:spPr>
          <a:xfrm>
            <a:off x="548640" y="1325880"/>
            <a:ext cx="11064240" cy="548640"/>
          </a:xfrm>
          <a:prstGeom prst="rect">
            <a:avLst/>
          </a:prstGeom>
          <a:noFill/>
        </p:spPr>
        <p:txBody>
          <a:bodyPr wrap="square">
            <a:spAutoFit/>
          </a:bodyPr>
          <a:lstStyle/>
          <a:p>
            <a:r>
              <a:rPr sz="1300" b="0" i="0">
                <a:solidFill>
                  <a:srgbClr val="9AA7B8"/>
                </a:solidFill>
                <a:latin typeface="Montserrat"/>
              </a:rPr>
              <a:t>Oct 15-21, 2026</a:t>
            </a:r>
          </a:p>
        </p:txBody>
      </p:sp>
      <p:graphicFrame>
        <p:nvGraphicFramePr>
          <p:cNvPr id="7" name="Table 6"/>
          <p:cNvGraphicFramePr>
            <a:graphicFrameLocks noGrp="1"/>
          </p:cNvGraphicFramePr>
          <p:nvPr/>
        </p:nvGraphicFramePr>
        <p:xfrm>
          <a:off x="548640" y="2057400"/>
          <a:ext cx="11064239" cy="4114792"/>
        </p:xfrm>
        <a:graphic>
          <a:graphicData uri="http://schemas.openxmlformats.org/drawingml/2006/table">
            <a:tbl>
              <a:tblPr firstRow="1" bandRow="1">
                <a:tableStyleId>{5C22544A-7EE6-4342-B048-85BDC9FD1C3A}</a:tableStyleId>
              </a:tblPr>
              <a:tblGrid>
                <a:gridCol w="4381877"/>
                <a:gridCol w="1424110"/>
                <a:gridCol w="1424110"/>
                <a:gridCol w="3834142"/>
              </a:tblGrid>
              <a:tr h="374072">
                <a:tc>
                  <a:txBody>
                    <a:bodyPr tIns="25400" bIns="25400"/>
                    <a:lstStyle/>
                    <a:p>
                      <a:r>
                        <a:rPr sz="1050" b="1" i="0">
                          <a:solidFill>
                            <a:srgbClr val="14B8A6"/>
                          </a:solidFill>
                          <a:latin typeface="Montserrat"/>
                        </a:rPr>
                        <a:t>SEND / CAMPAIGN NAME</a:t>
                      </a:r>
                    </a:p>
                  </a:txBody>
                  <a:tcPr>
                    <a:solidFill>
                      <a:srgbClr val="152033"/>
                    </a:solidFill>
                  </a:tcPr>
                </a:tc>
                <a:tc>
                  <a:txBody>
                    <a:bodyPr tIns="25400" bIns="25400"/>
                    <a:lstStyle/>
                    <a:p>
                      <a:r>
                        <a:rPr sz="1050" b="1" i="0">
                          <a:solidFill>
                            <a:srgbClr val="14B8A6"/>
                          </a:solidFill>
                          <a:latin typeface="Montserrat"/>
                        </a:rPr>
                        <a:t>SEND DATE</a:t>
                      </a:r>
                    </a:p>
                  </a:txBody>
                  <a:tcPr>
                    <a:solidFill>
                      <a:srgbClr val="152033"/>
                    </a:solidFill>
                  </a:tcPr>
                </a:tc>
                <a:tc>
                  <a:txBody>
                    <a:bodyPr tIns="25400" bIns="25400"/>
                    <a:lstStyle/>
                    <a:p>
                      <a:r>
                        <a:rPr sz="1050" b="1" i="0">
                          <a:solidFill>
                            <a:srgbClr val="14B8A6"/>
                          </a:solidFill>
                          <a:latin typeface="Montserrat"/>
                        </a:rPr>
                        <a:t>OWNER</a:t>
                      </a:r>
                    </a:p>
                  </a:txBody>
                  <a:tcPr>
                    <a:solidFill>
                      <a:srgbClr val="152033"/>
                    </a:solidFill>
                  </a:tcPr>
                </a:tc>
                <a:tc>
                  <a:txBody>
                    <a:bodyPr tIns="25400" bIns="25400"/>
                    <a:lstStyle/>
                    <a:p>
                      <a:r>
                        <a:rPr sz="1050" b="1" i="0">
                          <a:solidFill>
                            <a:srgbClr val="14B8A6"/>
                          </a:solidFill>
                          <a:latin typeface="Montserrat"/>
                        </a:rPr>
                        <a:t>REGION / AUDIENCE</a:t>
                      </a:r>
                    </a:p>
                  </a:txBody>
                  <a:tcPr>
                    <a:solidFill>
                      <a:srgbClr val="152033"/>
                    </a:solidFill>
                  </a:tcPr>
                </a:tc>
              </a:tr>
              <a:tr h="374072">
                <a:tc>
                  <a:txBody>
                    <a:bodyPr wrap="square" tIns="25400" bIns="25400"/>
                    <a:lstStyle/>
                    <a:p>
                      <a:r>
                        <a:rPr sz="1050" b="0" i="0">
                          <a:solidFill>
                            <a:srgbClr val="F2F5F8"/>
                          </a:solidFill>
                          <a:latin typeface="Montserrat"/>
                        </a:rPr>
                        <a:t>[SHARP Webinar] Registration Email 3</a:t>
                      </a:r>
                    </a:p>
                  </a:txBody>
                  <a:tcPr>
                    <a:solidFill>
                      <a:srgbClr val="0D1626"/>
                    </a:solidFill>
                  </a:tcPr>
                </a:tc>
                <a:tc>
                  <a:txBody>
                    <a:bodyPr wrap="square" tIns="25400" bIns="25400"/>
                    <a:lstStyle/>
                    <a:p>
                      <a:r>
                        <a:rPr sz="1050" b="0" i="0">
                          <a:solidFill>
                            <a:srgbClr val="F2F5F8"/>
                          </a:solidFill>
                          <a:latin typeface="Montserrat"/>
                        </a:rPr>
                        <a:t>2026-10-21</a:t>
                      </a:r>
                    </a:p>
                  </a:txBody>
                  <a:tcPr>
                    <a:solidFill>
                      <a:srgbClr val="0D1626"/>
                    </a:solidFill>
                  </a:tcPr>
                </a:tc>
                <a:tc>
                  <a:txBody>
                    <a:bodyPr wrap="square" tIns="25400" bIns="25400"/>
                    <a:lstStyle/>
                    <a:p>
                      <a:r>
                        <a:rPr sz="1050" b="0" i="0">
                          <a:solidFill>
                            <a:srgbClr val="F2F5F8"/>
                          </a:solidFill>
                          <a:latin typeface="Montserrat"/>
                        </a:rPr>
                        <a:t>Aayushi</a:t>
                      </a:r>
                    </a:p>
                  </a:txBody>
                  <a:tcPr>
                    <a:solidFill>
                      <a:srgbClr val="0D1626"/>
                    </a:solidFill>
                  </a:tcPr>
                </a:tc>
                <a:tc>
                  <a:txBody>
                    <a:bodyPr wrap="square" tIns="25400" bIns="25400"/>
                    <a:lstStyle/>
                    <a:p>
                      <a:r>
                        <a:rPr sz="1050" b="0" i="0">
                          <a:solidFill>
                            <a:srgbClr val="F2F5F8"/>
                          </a:solidFill>
                          <a:latin typeface="Montserrat"/>
                        </a:rPr>
                        <a:t>Not populated (EU webinar, per notes)</a:t>
                      </a:r>
                    </a:p>
                  </a:txBody>
                  <a:tcPr>
                    <a:solidFill>
                      <a:srgbClr val="0D1626"/>
                    </a:solidFill>
                  </a:tcPr>
                </a:tc>
              </a:tr>
              <a:tr h="374072">
                <a:tc>
                  <a:txBody>
                    <a:bodyPr wrap="square" tIns="25400" bIns="25400"/>
                    <a:lstStyle/>
                    <a:p>
                      <a:r>
                        <a:rPr sz="1050" b="0" i="0">
                          <a:solidFill>
                            <a:srgbClr val="F2F5F8"/>
                          </a:solidFill>
                          <a:latin typeface="Montserrat"/>
                        </a:rPr>
                        <a:t>DrupalCamp Italy Wrap-Around Reminder</a:t>
                      </a:r>
                    </a:p>
                  </a:txBody>
                  <a:tcPr>
                    <a:solidFill>
                      <a:srgbClr val="0D1626"/>
                    </a:solidFill>
                  </a:tcPr>
                </a:tc>
                <a:tc>
                  <a:txBody>
                    <a:bodyPr wrap="square" tIns="25400" bIns="25400"/>
                    <a:lstStyle/>
                    <a:p>
                      <a:r>
                        <a:rPr sz="1050" b="0" i="0">
                          <a:solidFill>
                            <a:srgbClr val="F2F5F8"/>
                          </a:solidFill>
                          <a:latin typeface="Montserrat"/>
                        </a:rPr>
                        <a:t>2026-10-20</a:t>
                      </a:r>
                    </a:p>
                  </a:txBody>
                  <a:tcPr>
                    <a:solidFill>
                      <a:srgbClr val="0D1626"/>
                    </a:solidFill>
                  </a:tcPr>
                </a:tc>
                <a:tc>
                  <a:txBody>
                    <a:bodyPr wrap="square" tIns="25400" bIns="25400"/>
                    <a:lstStyle/>
                    <a:p>
                      <a:r>
                        <a:rPr sz="1050" b="0" i="0">
                          <a:solidFill>
                            <a:srgbClr val="F2F5F8"/>
                          </a:solidFill>
                          <a:latin typeface="Montserrat"/>
                        </a:rPr>
                        <a:t>Harish</a:t>
                      </a:r>
                    </a:p>
                  </a:txBody>
                  <a:tcPr>
                    <a:solidFill>
                      <a:srgbClr val="0D1626"/>
                    </a:solidFill>
                  </a:tcPr>
                </a:tc>
                <a:tc>
                  <a:txBody>
                    <a:bodyPr wrap="square" tIns="25400" bIns="25400"/>
                    <a:lstStyle/>
                    <a:p>
                      <a:r>
                        <a:rPr sz="1050" b="0" i="0">
                          <a:solidFill>
                            <a:srgbClr val="F2F5F8"/>
                          </a:solidFill>
                          <a:latin typeface="Montserrat"/>
                        </a:rPr>
                        <a:t>Not populated</a:t>
                      </a:r>
                    </a:p>
                  </a:txBody>
                  <a:tcPr>
                    <a:solidFill>
                      <a:srgbClr val="0D1626"/>
                    </a:solidFill>
                  </a:tcPr>
                </a:tc>
              </a:tr>
              <a:tr h="374072">
                <a:tc>
                  <a:txBody>
                    <a:bodyPr wrap="square" tIns="25400" bIns="25400"/>
                    <a:lstStyle/>
                    <a:p>
                      <a:r>
                        <a:rPr sz="1050" b="0" i="0">
                          <a:solidFill>
                            <a:srgbClr val="F2F5F8"/>
                          </a:solidFill>
                          <a:latin typeface="Montserrat"/>
                        </a:rPr>
                        <a:t>[Barcelona CUG] First Invite (plain text)</a:t>
                      </a:r>
                    </a:p>
                  </a:txBody>
                  <a:tcPr>
                    <a:solidFill>
                      <a:srgbClr val="0D1626"/>
                    </a:solidFill>
                  </a:tcPr>
                </a:tc>
                <a:tc>
                  <a:txBody>
                    <a:bodyPr wrap="square" tIns="25400" bIns="25400"/>
                    <a:lstStyle/>
                    <a:p>
                      <a:r>
                        <a:rPr sz="1050" b="0" i="0">
                          <a:solidFill>
                            <a:srgbClr val="F2F5F8"/>
                          </a:solidFill>
                          <a:latin typeface="Montserrat"/>
                        </a:rPr>
                        <a:t>2026-10-20</a:t>
                      </a:r>
                    </a:p>
                  </a:txBody>
                  <a:tcPr>
                    <a:solidFill>
                      <a:srgbClr val="0D1626"/>
                    </a:solidFill>
                  </a:tcPr>
                </a:tc>
                <a:tc>
                  <a:txBody>
                    <a:bodyPr wrap="square" tIns="25400" bIns="25400"/>
                    <a:lstStyle/>
                    <a:p>
                      <a:r>
                        <a:rPr sz="1050" b="0" i="0">
                          <a:solidFill>
                            <a:srgbClr val="F2F5F8"/>
                          </a:solidFill>
                          <a:latin typeface="Montserrat"/>
                        </a:rPr>
                        <a:t>Harish</a:t>
                      </a:r>
                    </a:p>
                  </a:txBody>
                  <a:tcPr>
                    <a:solidFill>
                      <a:srgbClr val="0D1626"/>
                    </a:solidFill>
                  </a:tcPr>
                </a:tc>
                <a:tc>
                  <a:txBody>
                    <a:bodyPr wrap="square" tIns="25400" bIns="25400"/>
                    <a:lstStyle/>
                    <a:p>
                      <a:r>
                        <a:rPr sz="1050" b="0" i="0">
                          <a:solidFill>
                            <a:srgbClr val="F2F5F8"/>
                          </a:solidFill>
                          <a:latin typeface="Montserrat"/>
                        </a:rPr>
                        <a:t>Not populated</a:t>
                      </a:r>
                    </a:p>
                  </a:txBody>
                  <a:tcPr>
                    <a:solidFill>
                      <a:srgbClr val="0D1626"/>
                    </a:solidFill>
                  </a:tcPr>
                </a:tc>
              </a:tr>
              <a:tr h="374072">
                <a:tc>
                  <a:txBody>
                    <a:bodyPr wrap="square" tIns="25400" bIns="25400"/>
                    <a:lstStyle/>
                    <a:p>
                      <a:r>
                        <a:rPr sz="1050" b="0" i="0">
                          <a:solidFill>
                            <a:srgbClr val="F2F5F8"/>
                          </a:solidFill>
                          <a:latin typeface="Montserrat"/>
                        </a:rPr>
                        <a:t>Acquia TV Axelerant IRONMAN</a:t>
                      </a:r>
                    </a:p>
                  </a:txBody>
                  <a:tcPr>
                    <a:solidFill>
                      <a:srgbClr val="0D1626"/>
                    </a:solidFill>
                  </a:tcPr>
                </a:tc>
                <a:tc>
                  <a:txBody>
                    <a:bodyPr wrap="square" tIns="25400" bIns="25400"/>
                    <a:lstStyle/>
                    <a:p>
                      <a:r>
                        <a:rPr sz="1050" b="0" i="0">
                          <a:solidFill>
                            <a:srgbClr val="F2F5F8"/>
                          </a:solidFill>
                          <a:latin typeface="Montserrat"/>
                        </a:rPr>
                        <a:t>2026-10-20</a:t>
                      </a:r>
                    </a:p>
                  </a:txBody>
                  <a:tcPr>
                    <a:solidFill>
                      <a:srgbClr val="0D1626"/>
                    </a:solidFill>
                  </a:tcPr>
                </a:tc>
                <a:tc>
                  <a:txBody>
                    <a:bodyPr wrap="square" tIns="25400" bIns="25400"/>
                    <a:lstStyle/>
                    <a:p>
                      <a:r>
                        <a:rPr sz="1050" b="0" i="0">
                          <a:solidFill>
                            <a:srgbClr val="F2F5F8"/>
                          </a:solidFill>
                          <a:latin typeface="Montserrat"/>
                        </a:rPr>
                        <a:t>Aayushi</a:t>
                      </a:r>
                    </a:p>
                  </a:txBody>
                  <a:tcPr>
                    <a:solidFill>
                      <a:srgbClr val="0D1626"/>
                    </a:solidFill>
                  </a:tcPr>
                </a:tc>
                <a:tc>
                  <a:txBody>
                    <a:bodyPr wrap="square" tIns="25400" bIns="25400"/>
                    <a:lstStyle/>
                    <a:p>
                      <a:r>
                        <a:rPr sz="1050" b="0" i="0">
                          <a:solidFill>
                            <a:srgbClr val="F2F5F8"/>
                          </a:solidFill>
                          <a:latin typeface="Montserrat"/>
                        </a:rPr>
                        <a:t>All regions excl. Japan (per notes)</a:t>
                      </a:r>
                    </a:p>
                  </a:txBody>
                  <a:tcPr>
                    <a:solidFill>
                      <a:srgbClr val="0D1626"/>
                    </a:solidFill>
                  </a:tcPr>
                </a:tc>
              </a:tr>
              <a:tr h="374072">
                <a:tc>
                  <a:txBody>
                    <a:bodyPr wrap="square" tIns="25400" bIns="25400"/>
                    <a:lstStyle/>
                    <a:p>
                      <a:r>
                        <a:rPr sz="1050" b="0" i="0">
                          <a:solidFill>
                            <a:srgbClr val="F2F5F8"/>
                          </a:solidFill>
                          <a:latin typeface="Montserrat"/>
                        </a:rPr>
                        <a:t>Beyond Portals Email 2</a:t>
                      </a:r>
                    </a:p>
                  </a:txBody>
                  <a:tcPr>
                    <a:solidFill>
                      <a:srgbClr val="0D1626"/>
                    </a:solidFill>
                  </a:tcPr>
                </a:tc>
                <a:tc>
                  <a:txBody>
                    <a:bodyPr wrap="square" tIns="25400" bIns="25400"/>
                    <a:lstStyle/>
                    <a:p>
                      <a:r>
                        <a:rPr sz="1050" b="0" i="0">
                          <a:solidFill>
                            <a:srgbClr val="F2F5F8"/>
                          </a:solidFill>
                          <a:latin typeface="Montserrat"/>
                        </a:rPr>
                        <a:t>2026-10-15</a:t>
                      </a:r>
                    </a:p>
                  </a:txBody>
                  <a:tcPr>
                    <a:solidFill>
                      <a:srgbClr val="0D1626"/>
                    </a:solidFill>
                  </a:tcPr>
                </a:tc>
                <a:tc>
                  <a:txBody>
                    <a:bodyPr wrap="square" tIns="25400" bIns="25400"/>
                    <a:lstStyle/>
                    <a:p>
                      <a:r>
                        <a:rPr sz="1050" b="0" i="0">
                          <a:solidFill>
                            <a:srgbClr val="F2F5F8"/>
                          </a:solidFill>
                          <a:latin typeface="Montserrat"/>
                        </a:rPr>
                        <a:t>Harish</a:t>
                      </a:r>
                    </a:p>
                  </a:txBody>
                  <a:tcPr>
                    <a:solidFill>
                      <a:srgbClr val="0D1626"/>
                    </a:solidFill>
                  </a:tcPr>
                </a:tc>
                <a:tc>
                  <a:txBody>
                    <a:bodyPr wrap="square" tIns="25400" bIns="25400"/>
                    <a:lstStyle/>
                    <a:p>
                      <a:r>
                        <a:rPr sz="1050" b="0" i="0">
                          <a:solidFill>
                            <a:srgbClr val="F2F5F8"/>
                          </a:solidFill>
                          <a:latin typeface="Montserrat"/>
                        </a:rPr>
                        <a:t>Not populated</a:t>
                      </a:r>
                    </a:p>
                  </a:txBody>
                  <a:tcPr>
                    <a:solidFill>
                      <a:srgbClr val="0D1626"/>
                    </a:solidFill>
                  </a:tcPr>
                </a:tc>
              </a:tr>
              <a:tr h="374072">
                <a:tc>
                  <a:txBody>
                    <a:bodyPr wrap="square" tIns="25400" bIns="25400"/>
                    <a:lstStyle/>
                    <a:p>
                      <a:r>
                        <a:rPr sz="1050" b="0" i="0">
                          <a:solidFill>
                            <a:srgbClr val="F2F5F8"/>
                          </a:solidFill>
                          <a:latin typeface="Montserrat"/>
                        </a:rPr>
                        <a:t>DrupalCamp Italy Wrap-Around Email 4</a:t>
                      </a:r>
                    </a:p>
                  </a:txBody>
                  <a:tcPr>
                    <a:solidFill>
                      <a:srgbClr val="0D1626"/>
                    </a:solidFill>
                  </a:tcPr>
                </a:tc>
                <a:tc>
                  <a:txBody>
                    <a:bodyPr wrap="square" tIns="25400" bIns="25400"/>
                    <a:lstStyle/>
                    <a:p>
                      <a:r>
                        <a:rPr sz="1050" b="0" i="0">
                          <a:solidFill>
                            <a:srgbClr val="F2F5F8"/>
                          </a:solidFill>
                          <a:latin typeface="Montserrat"/>
                        </a:rPr>
                        <a:t>2026-10-19</a:t>
                      </a:r>
                    </a:p>
                  </a:txBody>
                  <a:tcPr>
                    <a:solidFill>
                      <a:srgbClr val="0D1626"/>
                    </a:solidFill>
                  </a:tcPr>
                </a:tc>
                <a:tc>
                  <a:txBody>
                    <a:bodyPr wrap="square" tIns="25400" bIns="25400"/>
                    <a:lstStyle/>
                    <a:p>
                      <a:r>
                        <a:rPr sz="1050" b="0" i="0">
                          <a:solidFill>
                            <a:srgbClr val="F2F5F8"/>
                          </a:solidFill>
                          <a:latin typeface="Montserrat"/>
                        </a:rPr>
                        <a:t>Harish</a:t>
                      </a:r>
                    </a:p>
                  </a:txBody>
                  <a:tcPr>
                    <a:solidFill>
                      <a:srgbClr val="0D1626"/>
                    </a:solidFill>
                  </a:tcPr>
                </a:tc>
                <a:tc>
                  <a:txBody>
                    <a:bodyPr wrap="square" tIns="25400" bIns="25400"/>
                    <a:lstStyle/>
                    <a:p>
                      <a:r>
                        <a:rPr sz="1050" b="0" i="0">
                          <a:solidFill>
                            <a:srgbClr val="F2F5F8"/>
                          </a:solidFill>
                          <a:latin typeface="Montserrat"/>
                        </a:rPr>
                        <a:t>Not populated</a:t>
                      </a:r>
                    </a:p>
                  </a:txBody>
                  <a:tcPr>
                    <a:solidFill>
                      <a:srgbClr val="0D1626"/>
                    </a:solidFill>
                  </a:tcPr>
                </a:tc>
              </a:tr>
              <a:tr h="374072">
                <a:tc>
                  <a:txBody>
                    <a:bodyPr wrap="square" tIns="25400" bIns="25400"/>
                    <a:lstStyle/>
                    <a:p>
                      <a:r>
                        <a:rPr sz="1050" b="0" i="0">
                          <a:solidFill>
                            <a:srgbClr val="F2F5F8"/>
                          </a:solidFill>
                          <a:latin typeface="Montserrat"/>
                        </a:rPr>
                        <a:t>[SHARP Webinar] Reg. Email Build 2 - Global</a:t>
                      </a:r>
                    </a:p>
                  </a:txBody>
                  <a:tcPr>
                    <a:solidFill>
                      <a:srgbClr val="0D1626"/>
                    </a:solidFill>
                  </a:tcPr>
                </a:tc>
                <a:tc>
                  <a:txBody>
                    <a:bodyPr wrap="square" tIns="25400" bIns="25400"/>
                    <a:lstStyle/>
                    <a:p>
                      <a:r>
                        <a:rPr sz="1050" b="0" i="0">
                          <a:solidFill>
                            <a:srgbClr val="F2F5F8"/>
                          </a:solidFill>
                          <a:latin typeface="Montserrat"/>
                        </a:rPr>
                        <a:t>2026-10-16</a:t>
                      </a:r>
                    </a:p>
                  </a:txBody>
                  <a:tcPr>
                    <a:solidFill>
                      <a:srgbClr val="0D1626"/>
                    </a:solidFill>
                  </a:tcPr>
                </a:tc>
                <a:tc>
                  <a:txBody>
                    <a:bodyPr wrap="square" tIns="25400" bIns="25400"/>
                    <a:lstStyle/>
                    <a:p>
                      <a:r>
                        <a:rPr sz="1050" b="0" i="0">
                          <a:solidFill>
                            <a:srgbClr val="F2F5F8"/>
                          </a:solidFill>
                          <a:latin typeface="Montserrat"/>
                        </a:rPr>
                        <a:t>Aayushi</a:t>
                      </a:r>
                    </a:p>
                  </a:txBody>
                  <a:tcPr>
                    <a:solidFill>
                      <a:srgbClr val="0D1626"/>
                    </a:solidFill>
                  </a:tcPr>
                </a:tc>
                <a:tc>
                  <a:txBody>
                    <a:bodyPr wrap="square" tIns="25400" bIns="25400"/>
                    <a:lstStyle/>
                    <a:p>
                      <a:r>
                        <a:rPr sz="1050" b="0" i="0">
                          <a:solidFill>
                            <a:srgbClr val="F2F5F8"/>
                          </a:solidFill>
                          <a:latin typeface="Montserrat"/>
                        </a:rPr>
                        <a:t>Not populated</a:t>
                      </a:r>
                    </a:p>
                  </a:txBody>
                  <a:tcPr>
                    <a:solidFill>
                      <a:srgbClr val="0D1626"/>
                    </a:solidFill>
                  </a:tcPr>
                </a:tc>
              </a:tr>
              <a:tr h="374072">
                <a:tc>
                  <a:txBody>
                    <a:bodyPr wrap="square" tIns="25400" bIns="25400"/>
                    <a:lstStyle/>
                    <a:p>
                      <a:r>
                        <a:rPr sz="1050" b="0" i="0">
                          <a:solidFill>
                            <a:srgbClr val="F2F5F8"/>
                          </a:solidFill>
                          <a:latin typeface="Montserrat"/>
                        </a:rPr>
                        <a:t>[SHARP Webinar] Registration Email 2</a:t>
                      </a:r>
                    </a:p>
                  </a:txBody>
                  <a:tcPr>
                    <a:solidFill>
                      <a:srgbClr val="0D1626"/>
                    </a:solidFill>
                  </a:tcPr>
                </a:tc>
                <a:tc>
                  <a:txBody>
                    <a:bodyPr wrap="square" tIns="25400" bIns="25400"/>
                    <a:lstStyle/>
                    <a:p>
                      <a:r>
                        <a:rPr sz="1050" b="0" i="0">
                          <a:solidFill>
                            <a:srgbClr val="F2F5F8"/>
                          </a:solidFill>
                          <a:latin typeface="Montserrat"/>
                        </a:rPr>
                        <a:t>2026-10-15</a:t>
                      </a:r>
                    </a:p>
                  </a:txBody>
                  <a:tcPr>
                    <a:solidFill>
                      <a:srgbClr val="0D1626"/>
                    </a:solidFill>
                  </a:tcPr>
                </a:tc>
                <a:tc>
                  <a:txBody>
                    <a:bodyPr wrap="square" tIns="25400" bIns="25400"/>
                    <a:lstStyle/>
                    <a:p>
                      <a:r>
                        <a:rPr sz="1050" b="0" i="0">
                          <a:solidFill>
                            <a:srgbClr val="F2F5F8"/>
                          </a:solidFill>
                          <a:latin typeface="Montserrat"/>
                        </a:rPr>
                        <a:t>Aayushi</a:t>
                      </a:r>
                    </a:p>
                  </a:txBody>
                  <a:tcPr>
                    <a:solidFill>
                      <a:srgbClr val="0D1626"/>
                    </a:solidFill>
                  </a:tcPr>
                </a:tc>
                <a:tc>
                  <a:txBody>
                    <a:bodyPr wrap="square" tIns="25400" bIns="25400"/>
                    <a:lstStyle/>
                    <a:p>
                      <a:r>
                        <a:rPr sz="1050" b="0" i="0">
                          <a:solidFill>
                            <a:srgbClr val="F2F5F8"/>
                          </a:solidFill>
                          <a:latin typeface="Montserrat"/>
                        </a:rPr>
                        <a:t>Not populated</a:t>
                      </a:r>
                    </a:p>
                  </a:txBody>
                  <a:tcPr>
                    <a:solidFill>
                      <a:srgbClr val="0D1626"/>
                    </a:solidFill>
                  </a:tcPr>
                </a:tc>
              </a:tr>
              <a:tr h="374072">
                <a:tc>
                  <a:txBody>
                    <a:bodyPr wrap="square" tIns="25400" bIns="25400"/>
                    <a:lstStyle/>
                    <a:p>
                      <a:r>
                        <a:rPr sz="1050" b="0" i="0">
                          <a:solidFill>
                            <a:srgbClr val="F2F5F8"/>
                          </a:solidFill>
                          <a:latin typeface="Montserrat"/>
                        </a:rPr>
                        <a:t>DrupalCamp Italy Wrap-Around Email 3</a:t>
                      </a:r>
                    </a:p>
                  </a:txBody>
                  <a:tcPr>
                    <a:solidFill>
                      <a:srgbClr val="0D1626"/>
                    </a:solidFill>
                  </a:tcPr>
                </a:tc>
                <a:tc>
                  <a:txBody>
                    <a:bodyPr wrap="square" tIns="25400" bIns="25400"/>
                    <a:lstStyle/>
                    <a:p>
                      <a:r>
                        <a:rPr sz="1050" b="0" i="0">
                          <a:solidFill>
                            <a:srgbClr val="F2F5F8"/>
                          </a:solidFill>
                          <a:latin typeface="Montserrat"/>
                        </a:rPr>
                        <a:t>2026-10-15</a:t>
                      </a:r>
                    </a:p>
                  </a:txBody>
                  <a:tcPr>
                    <a:solidFill>
                      <a:srgbClr val="0D1626"/>
                    </a:solidFill>
                  </a:tcPr>
                </a:tc>
                <a:tc>
                  <a:txBody>
                    <a:bodyPr wrap="square" tIns="25400" bIns="25400"/>
                    <a:lstStyle/>
                    <a:p>
                      <a:r>
                        <a:rPr sz="1050" b="0" i="0">
                          <a:solidFill>
                            <a:srgbClr val="F2F5F8"/>
                          </a:solidFill>
                          <a:latin typeface="Montserrat"/>
                        </a:rPr>
                        <a:t>Harish</a:t>
                      </a:r>
                    </a:p>
                  </a:txBody>
                  <a:tcPr>
                    <a:solidFill>
                      <a:srgbClr val="0D1626"/>
                    </a:solidFill>
                  </a:tcPr>
                </a:tc>
                <a:tc>
                  <a:txBody>
                    <a:bodyPr wrap="square" tIns="25400" bIns="25400"/>
                    <a:lstStyle/>
                    <a:p>
                      <a:r>
                        <a:rPr sz="1050" b="0" i="0">
                          <a:solidFill>
                            <a:srgbClr val="F2F5F8"/>
                          </a:solidFill>
                          <a:latin typeface="Montserrat"/>
                        </a:rPr>
                        <a:t>Not populated</a:t>
                      </a:r>
                    </a:p>
                  </a:txBody>
                  <a:tcPr>
                    <a:solidFill>
                      <a:srgbClr val="0D1626"/>
                    </a:solidFill>
                  </a:tcPr>
                </a:tc>
              </a:tr>
              <a:tr h="374072">
                <a:tc>
                  <a:txBody>
                    <a:bodyPr wrap="square" tIns="25400" bIns="25400"/>
                    <a:lstStyle/>
                    <a:p>
                      <a:r>
                        <a:rPr sz="1050" b="0" i="0">
                          <a:solidFill>
                            <a:srgbClr val="F2F5F8"/>
                          </a:solidFill>
                          <a:latin typeface="Montserrat"/>
                        </a:rPr>
                        <a:t>Acquia Festive Party (London) Email 1*</a:t>
                      </a:r>
                    </a:p>
                  </a:txBody>
                  <a:tcPr>
                    <a:solidFill>
                      <a:srgbClr val="0D1626"/>
                    </a:solidFill>
                  </a:tcPr>
                </a:tc>
                <a:tc>
                  <a:txBody>
                    <a:bodyPr wrap="square" tIns="25400" bIns="25400"/>
                    <a:lstStyle/>
                    <a:p>
                      <a:r>
                        <a:rPr sz="1050" b="0" i="0">
                          <a:solidFill>
                            <a:srgbClr val="F2F5F8"/>
                          </a:solidFill>
                          <a:latin typeface="Montserrat"/>
                        </a:rPr>
                        <a:t>2026-10-14*</a:t>
                      </a:r>
                    </a:p>
                  </a:txBody>
                  <a:tcPr>
                    <a:solidFill>
                      <a:srgbClr val="0D1626"/>
                    </a:solidFill>
                  </a:tcPr>
                </a:tc>
                <a:tc>
                  <a:txBody>
                    <a:bodyPr wrap="square" tIns="25400" bIns="25400"/>
                    <a:lstStyle/>
                    <a:p>
                      <a:r>
                        <a:rPr sz="1050" b="0" i="0">
                          <a:solidFill>
                            <a:srgbClr val="F2F5F8"/>
                          </a:solidFill>
                          <a:latin typeface="Montserrat"/>
                        </a:rPr>
                        <a:t>Harish</a:t>
                      </a:r>
                    </a:p>
                  </a:txBody>
                  <a:tcPr>
                    <a:solidFill>
                      <a:srgbClr val="0D1626"/>
                    </a:solidFill>
                  </a:tcPr>
                </a:tc>
                <a:tc>
                  <a:txBody>
                    <a:bodyPr wrap="square" tIns="25400" bIns="25400"/>
                    <a:lstStyle/>
                    <a:p>
                      <a:r>
                        <a:rPr sz="1050" b="0" i="0">
                          <a:solidFill>
                            <a:srgbClr val="F2F5F8"/>
                          </a:solidFill>
                          <a:latin typeface="Montserrat"/>
                        </a:rPr>
                        <a:t>Not populated</a:t>
                      </a:r>
                    </a:p>
                  </a:txBody>
                  <a:tcPr>
                    <a:solidFill>
                      <a:srgbClr val="0D1626"/>
                    </a:solidFill>
                  </a:tcPr>
                </a:tc>
              </a:tr>
            </a:tbl>
          </a:graphicData>
        </a:graphic>
      </p:graphicFrame>
      <p:sp>
        <p:nvSpPr>
          <p:cNvPr id="8" name="TextBox 7"/>
          <p:cNvSpPr txBox="1"/>
          <p:nvPr/>
        </p:nvSpPr>
        <p:spPr>
          <a:xfrm>
            <a:off x="548640" y="6355080"/>
            <a:ext cx="11064240" cy="457200"/>
          </a:xfrm>
          <a:prstGeom prst="rect">
            <a:avLst/>
          </a:prstGeom>
          <a:noFill/>
        </p:spPr>
        <p:txBody>
          <a:bodyPr wrap="square">
            <a:spAutoFit/>
          </a:bodyPr>
          <a:lstStyle/>
          <a:p>
            <a:r>
              <a:rPr sz="750" b="0" i="1">
                <a:solidFill>
                  <a:srgbClr val="9AA7B8"/>
                </a:solidFill>
                <a:latin typeface="Montserrat"/>
              </a:rPr>
              <a:t>Source: Asana milestone sub-tasks, Project Type=Email, completed, due in window (+1 due 2026-10-14, marked *, completed inside the window). Region/audience custom field is null on every row; values shown are from free-text notes where present, else 'Not populated'.</a:t>
            </a:r>
          </a:p>
        </p:txBody>
      </p:sp>
      <p:sp>
        <p:nvSpPr>
          <p:cNvPr id="9" name="TextBox 8"/>
          <p:cNvSpPr txBox="1"/>
          <p:nvPr/>
        </p:nvSpPr>
        <p:spPr>
          <a:xfrm>
            <a:off x="11612880" y="6473952"/>
            <a:ext cx="457200" cy="320040"/>
          </a:xfrm>
          <a:prstGeom prst="rect">
            <a:avLst/>
          </a:prstGeom>
          <a:noFill/>
        </p:spPr>
        <p:txBody>
          <a:bodyPr wrap="square">
            <a:spAutoFit/>
          </a:bodyPr>
          <a:lstStyle/>
          <a:p>
            <a:pPr algn="r"/>
            <a:r>
              <a:rPr sz="900" b="0" i="0">
                <a:solidFill>
                  <a:srgbClr val="9AA7B8"/>
                </a:solidFill>
                <a:latin typeface="Montserra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626"/>
        </a:solidFill>
        <a:effectLst/>
      </p:bgPr>
    </p:bg>
    <p:spTree>
      <p:nvGrpSpPr>
        <p:cNvPr id="1" name=""/>
        <p:cNvGrpSpPr/>
        <p:nvPr/>
      </p:nvGrpSpPr>
      <p:grpSpPr/>
      <p:sp>
        <p:nvSpPr>
          <p:cNvPr id="2" name="Rectangle 1"/>
          <p:cNvSpPr/>
          <p:nvPr/>
        </p:nvSpPr>
        <p:spPr>
          <a:xfrm>
            <a:off x="0" y="0"/>
            <a:ext cx="12191695" cy="63500"/>
          </a:xfrm>
          <a:prstGeom prst="rect">
            <a:avLst/>
          </a:prstGeom>
          <a:gradFill rotWithShape="1">
            <a:gsLst>
              <a:gs pos="0">
                <a:srgbClr val="14B8A6"/>
              </a:gs>
              <a:gs pos="25000">
                <a:srgbClr val="22C55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515600" cy="320040"/>
          </a:xfrm>
          <a:prstGeom prst="rect">
            <a:avLst/>
          </a:prstGeom>
          <a:noFill/>
        </p:spPr>
        <p:txBody>
          <a:bodyPr wrap="square">
            <a:spAutoFit/>
          </a:bodyPr>
          <a:lstStyle/>
          <a:p>
            <a:r>
              <a:rPr sz="1200" b="1" i="0">
                <a:solidFill>
                  <a:srgbClr val="14B8A6"/>
                </a:solidFill>
                <a:latin typeface="Montserrat"/>
              </a:rPr>
              <a:t>RETROSPECTIVE</a:t>
            </a:r>
          </a:p>
        </p:txBody>
      </p:sp>
      <p:sp>
        <p:nvSpPr>
          <p:cNvPr id="4" name="Rectangle 3"/>
          <p:cNvSpPr/>
          <p:nvPr/>
        </p:nvSpPr>
        <p:spPr>
          <a:xfrm>
            <a:off x="566928" y="621792"/>
            <a:ext cx="457200" cy="3175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749808"/>
            <a:ext cx="11064240" cy="640080"/>
          </a:xfrm>
          <a:prstGeom prst="rect">
            <a:avLst/>
          </a:prstGeom>
          <a:noFill/>
        </p:spPr>
        <p:txBody>
          <a:bodyPr wrap="square">
            <a:spAutoFit/>
          </a:bodyPr>
          <a:lstStyle/>
          <a:p>
            <a:r>
              <a:rPr sz="2600" b="1" i="0">
                <a:solidFill>
                  <a:srgbClr val="F2F5F8"/>
                </a:solidFill>
                <a:latin typeface="Montserrat ExtraBold"/>
              </a:rPr>
              <a:t>Campaign Performance (Salesforce)</a:t>
            </a:r>
          </a:p>
        </p:txBody>
      </p:sp>
      <p:sp>
        <p:nvSpPr>
          <p:cNvPr id="6" name="TextBox 5"/>
          <p:cNvSpPr txBox="1"/>
          <p:nvPr/>
        </p:nvSpPr>
        <p:spPr>
          <a:xfrm>
            <a:off x="548640" y="1325880"/>
            <a:ext cx="11064240" cy="548640"/>
          </a:xfrm>
          <a:prstGeom prst="rect">
            <a:avLst/>
          </a:prstGeom>
          <a:noFill/>
        </p:spPr>
        <p:txBody>
          <a:bodyPr wrap="square">
            <a:spAutoFit/>
          </a:bodyPr>
          <a:lstStyle/>
          <a:p>
            <a:r>
              <a:rPr sz="1300" b="0" i="0">
                <a:solidFill>
                  <a:srgbClr val="9AA7B8"/>
                </a:solidFill>
                <a:latin typeface="Montserrat"/>
              </a:rPr>
              <a:t>Oct 15-21, 2026</a:t>
            </a:r>
          </a:p>
        </p:txBody>
      </p:sp>
      <p:graphicFrame>
        <p:nvGraphicFramePr>
          <p:cNvPr id="7" name="Table 6"/>
          <p:cNvGraphicFramePr>
            <a:graphicFrameLocks noGrp="1"/>
          </p:cNvGraphicFramePr>
          <p:nvPr/>
        </p:nvGraphicFramePr>
        <p:xfrm>
          <a:off x="548640" y="2057400"/>
          <a:ext cx="11064237" cy="4114796"/>
        </p:xfrm>
        <a:graphic>
          <a:graphicData uri="http://schemas.openxmlformats.org/drawingml/2006/table">
            <a:tbl>
              <a:tblPr firstRow="1" bandRow="1">
                <a:tableStyleId>{5C22544A-7EE6-4342-B048-85BDC9FD1C3A}</a:tableStyleId>
              </a:tblPr>
              <a:tblGrid>
                <a:gridCol w="4686031"/>
                <a:gridCol w="1431842"/>
                <a:gridCol w="1431842"/>
                <a:gridCol w="1301675"/>
                <a:gridCol w="781005"/>
                <a:gridCol w="1431842"/>
              </a:tblGrid>
              <a:tr h="293914">
                <a:tc>
                  <a:txBody>
                    <a:bodyPr tIns="25400" bIns="25400"/>
                    <a:lstStyle/>
                    <a:p>
                      <a:r>
                        <a:rPr sz="1050" b="1" i="0">
                          <a:solidFill>
                            <a:srgbClr val="14B8A6"/>
                          </a:solidFill>
                          <a:latin typeface="Montserrat"/>
                        </a:rPr>
                        <a:t>CAMPAIGN</a:t>
                      </a:r>
                    </a:p>
                  </a:txBody>
                  <a:tcPr>
                    <a:solidFill>
                      <a:srgbClr val="152033"/>
                    </a:solidFill>
                  </a:tcPr>
                </a:tc>
                <a:tc>
                  <a:txBody>
                    <a:bodyPr tIns="25400" bIns="25400"/>
                    <a:lstStyle/>
                    <a:p>
                      <a:r>
                        <a:rPr sz="1050" b="1" i="0">
                          <a:solidFill>
                            <a:srgbClr val="14B8A6"/>
                          </a:solidFill>
                          <a:latin typeface="Montserrat"/>
                        </a:rPr>
                        <a:t>TYPE</a:t>
                      </a:r>
                    </a:p>
                  </a:txBody>
                  <a:tcPr>
                    <a:solidFill>
                      <a:srgbClr val="152033"/>
                    </a:solidFill>
                  </a:tcPr>
                </a:tc>
                <a:tc>
                  <a:txBody>
                    <a:bodyPr tIns="25400" bIns="25400"/>
                    <a:lstStyle/>
                    <a:p>
                      <a:r>
                        <a:rPr sz="1050" b="1" i="0">
                          <a:solidFill>
                            <a:srgbClr val="14B8A6"/>
                          </a:solidFill>
                          <a:latin typeface="Montserrat"/>
                        </a:rPr>
                        <a:t>LEADS+CONTACTS</a:t>
                      </a:r>
                    </a:p>
                  </a:txBody>
                  <a:tcPr>
                    <a:solidFill>
                      <a:srgbClr val="152033"/>
                    </a:solidFill>
                  </a:tcPr>
                </a:tc>
                <a:tc>
                  <a:txBody>
                    <a:bodyPr tIns="25400" bIns="25400"/>
                    <a:lstStyle/>
                    <a:p>
                      <a:r>
                        <a:rPr sz="1050" b="1" i="0">
                          <a:solidFill>
                            <a:srgbClr val="14B8A6"/>
                          </a:solidFill>
                          <a:latin typeface="Montserrat"/>
                        </a:rPr>
                        <a:t>RESPONSES</a:t>
                      </a:r>
                    </a:p>
                  </a:txBody>
                  <a:tcPr>
                    <a:solidFill>
                      <a:srgbClr val="152033"/>
                    </a:solidFill>
                  </a:tcPr>
                </a:tc>
                <a:tc>
                  <a:txBody>
                    <a:bodyPr tIns="25400" bIns="25400"/>
                    <a:lstStyle/>
                    <a:p>
                      <a:r>
                        <a:rPr sz="1050" b="1" i="0">
                          <a:solidFill>
                            <a:srgbClr val="14B8A6"/>
                          </a:solidFill>
                          <a:latin typeface="Montserrat"/>
                        </a:rPr>
                        <a:t>OPPS</a:t>
                      </a:r>
                    </a:p>
                  </a:txBody>
                  <a:tcPr>
                    <a:solidFill>
                      <a:srgbClr val="152033"/>
                    </a:solidFill>
                  </a:tcPr>
                </a:tc>
                <a:tc>
                  <a:txBody>
                    <a:bodyPr tIns="25400" bIns="25400"/>
                    <a:lstStyle/>
                    <a:p>
                      <a:r>
                        <a:rPr sz="1050" b="1" i="0">
                          <a:solidFill>
                            <a:srgbClr val="14B8A6"/>
                          </a:solidFill>
                          <a:latin typeface="Montserrat"/>
                        </a:rPr>
                        <a:t>PIPELINE</a:t>
                      </a:r>
                    </a:p>
                  </a:txBody>
                  <a:tcPr>
                    <a:solidFill>
                      <a:srgbClr val="152033"/>
                    </a:solidFill>
                  </a:tcPr>
                </a:tc>
              </a:tr>
              <a:tr h="293914">
                <a:tc>
                  <a:txBody>
                    <a:bodyPr wrap="square" tIns="25400" bIns="25400"/>
                    <a:lstStyle/>
                    <a:p>
                      <a:r>
                        <a:rPr sz="1050" b="0" i="0">
                          <a:solidFill>
                            <a:srgbClr val="F2F5F8"/>
                          </a:solidFill>
                          <a:latin typeface="Montserrat"/>
                        </a:rPr>
                        <a:t>evt_dc_DrupalCamp Italy Wrap Around Event</a:t>
                      </a:r>
                    </a:p>
                  </a:txBody>
                  <a:tcPr>
                    <a:solidFill>
                      <a:srgbClr val="0D1626"/>
                    </a:solidFill>
                  </a:tcPr>
                </a:tc>
                <a:tc>
                  <a:txBody>
                    <a:bodyPr wrap="square" tIns="25400" bIns="25400"/>
                    <a:lstStyle/>
                    <a:p>
                      <a:r>
                        <a:rPr sz="1050" b="0" i="0">
                          <a:solidFill>
                            <a:srgbClr val="F2F5F8"/>
                          </a:solidFill>
                          <a:latin typeface="Montserrat"/>
                        </a:rPr>
                        <a:t>Event</a:t>
                      </a:r>
                    </a:p>
                  </a:txBody>
                  <a:tcPr>
                    <a:solidFill>
                      <a:srgbClr val="0D1626"/>
                    </a:solidFill>
                  </a:tcPr>
                </a:tc>
                <a:tc>
                  <a:txBody>
                    <a:bodyPr wrap="square" tIns="25400" bIns="25400"/>
                    <a:lstStyle/>
                    <a:p>
                      <a:r>
                        <a:rPr sz="1050" b="0" i="0">
                          <a:solidFill>
                            <a:srgbClr val="F2F5F8"/>
                          </a:solidFill>
                          <a:latin typeface="Montserrat"/>
                        </a:rPr>
                        <a:t>18</a:t>
                      </a:r>
                    </a:p>
                  </a:txBody>
                  <a:tcPr>
                    <a:solidFill>
                      <a:srgbClr val="0D1626"/>
                    </a:solidFill>
                  </a:tcPr>
                </a:tc>
                <a:tc>
                  <a:txBody>
                    <a:bodyPr wrap="square" tIns="25400" bIns="25400"/>
                    <a:lstStyle/>
                    <a:p>
                      <a:r>
                        <a:rPr sz="1050" b="0" i="0">
                          <a:solidFill>
                            <a:srgbClr val="F2F5F8"/>
                          </a:solidFill>
                          <a:latin typeface="Montserrat"/>
                        </a:rPr>
                        <a:t>18</a:t>
                      </a:r>
                    </a:p>
                  </a:txBody>
                  <a:tcPr>
                    <a:solidFill>
                      <a:srgbClr val="0D1626"/>
                    </a:solidFill>
                  </a:tcPr>
                </a:tc>
                <a:tc>
                  <a:txBody>
                    <a:bodyPr wrap="square" tIns="25400" bIns="25400"/>
                    <a:lstStyle/>
                    <a:p>
                      <a:r>
                        <a:rPr sz="1050" b="0" i="0">
                          <a:solidFill>
                            <a:srgbClr val="F2F5F8"/>
                          </a:solidFill>
                          <a:latin typeface="Montserrat"/>
                        </a:rPr>
                        <a:t>1</a:t>
                      </a:r>
                    </a:p>
                  </a:txBody>
                  <a:tcPr>
                    <a:solidFill>
                      <a:srgbClr val="0D1626"/>
                    </a:solidFill>
                  </a:tcPr>
                </a:tc>
                <a:tc>
                  <a:txBody>
                    <a:bodyPr wrap="square" tIns="25400" bIns="25400"/>
                    <a:lstStyle/>
                    <a:p>
                      <a:r>
                        <a:rPr sz="1050" b="0" i="0">
                          <a:solidFill>
                            <a:srgbClr val="F2F5F8"/>
                          </a:solidFill>
                          <a:latin typeface="Montserrat"/>
                        </a:rPr>
                        <a:t>$0</a:t>
                      </a:r>
                    </a:p>
                  </a:txBody>
                  <a:tcPr>
                    <a:solidFill>
                      <a:srgbClr val="0D1626"/>
                    </a:solidFill>
                  </a:tcPr>
                </a:tc>
              </a:tr>
              <a:tr h="293914">
                <a:tc>
                  <a:txBody>
                    <a:bodyPr wrap="square" tIns="25400" bIns="25400"/>
                    <a:lstStyle/>
                    <a:p>
                      <a:r>
                        <a:rPr sz="1050" b="0" i="0">
                          <a:solidFill>
                            <a:srgbClr val="F2F5F8"/>
                          </a:solidFill>
                          <a:latin typeface="Montserrat"/>
                        </a:rPr>
                        <a:t>evt_webinar...DAM Updates Partner Masterclass</a:t>
                      </a:r>
                    </a:p>
                  </a:txBody>
                  <a:tcPr>
                    <a:solidFill>
                      <a:srgbClr val="0D1626"/>
                    </a:solidFill>
                  </a:tcPr>
                </a:tc>
                <a:tc>
                  <a:txBody>
                    <a:bodyPr wrap="square" tIns="25400" bIns="25400"/>
                    <a:lstStyle/>
                    <a:p>
                      <a:r>
                        <a:rPr sz="1050" b="0" i="0">
                          <a:solidFill>
                            <a:srgbClr val="F2F5F8"/>
                          </a:solidFill>
                          <a:latin typeface="Montserrat"/>
                        </a:rPr>
                        <a:t>Zoom Webinar</a:t>
                      </a:r>
                    </a:p>
                  </a:txBody>
                  <a:tcPr>
                    <a:solidFill>
                      <a:srgbClr val="0D1626"/>
                    </a:solidFill>
                  </a:tcPr>
                </a:tc>
                <a:tc>
                  <a:txBody>
                    <a:bodyPr wrap="square" tIns="25400" bIns="25400"/>
                    <a:lstStyle/>
                    <a:p>
                      <a:r>
                        <a:rPr sz="1050" b="0" i="0">
                          <a:solidFill>
                            <a:srgbClr val="F2F5F8"/>
                          </a:solidFill>
                          <a:latin typeface="Montserrat"/>
                        </a:rPr>
                        <a:t>50</a:t>
                      </a:r>
                    </a:p>
                  </a:txBody>
                  <a:tcPr>
                    <a:solidFill>
                      <a:srgbClr val="0D1626"/>
                    </a:solidFill>
                  </a:tcPr>
                </a:tc>
                <a:tc>
                  <a:txBody>
                    <a:bodyPr wrap="square" tIns="25400" bIns="25400"/>
                    <a:lstStyle/>
                    <a:p>
                      <a:r>
                        <a:rPr sz="1050" b="0" i="0">
                          <a:solidFill>
                            <a:srgbClr val="F2F5F8"/>
                          </a:solidFill>
                          <a:latin typeface="Montserrat"/>
                        </a:rPr>
                        <a:t>50</a:t>
                      </a:r>
                    </a:p>
                  </a:txBody>
                  <a:tcPr>
                    <a:solidFill>
                      <a:srgbClr val="0D1626"/>
                    </a:solidFill>
                  </a:tcPr>
                </a:tc>
                <a:tc>
                  <a:txBody>
                    <a:bodyPr wrap="square" tIns="25400" bIns="25400"/>
                    <a:lstStyle/>
                    <a:p>
                      <a:r>
                        <a:rPr sz="1050" b="0" i="0">
                          <a:solidFill>
                            <a:srgbClr val="F2F5F8"/>
                          </a:solidFill>
                          <a:latin typeface="Montserrat"/>
                        </a:rPr>
                        <a:t>0</a:t>
                      </a:r>
                    </a:p>
                  </a:txBody>
                  <a:tcPr>
                    <a:solidFill>
                      <a:srgbClr val="0D1626"/>
                    </a:solidFill>
                  </a:tcPr>
                </a:tc>
                <a:tc>
                  <a:txBody>
                    <a:bodyPr wrap="square" tIns="25400" bIns="25400"/>
                    <a:lstStyle/>
                    <a:p>
                      <a:r>
                        <a:rPr sz="1050" b="0" i="0">
                          <a:solidFill>
                            <a:srgbClr val="F2F5F8"/>
                          </a:solidFill>
                          <a:latin typeface="Montserrat"/>
                        </a:rPr>
                        <a:t>$0</a:t>
                      </a:r>
                    </a:p>
                  </a:txBody>
                  <a:tcPr>
                    <a:solidFill>
                      <a:srgbClr val="0D1626"/>
                    </a:solidFill>
                  </a:tcPr>
                </a:tc>
              </a:tr>
              <a:tr h="293914">
                <a:tc>
                  <a:txBody>
                    <a:bodyPr wrap="square" tIns="25400" bIns="25400"/>
                    <a:lstStyle/>
                    <a:p>
                      <a:r>
                        <a:rPr sz="1050" b="0" i="0">
                          <a:solidFill>
                            <a:srgbClr val="F2F5F8"/>
                          </a:solidFill>
                          <a:latin typeface="Montserrat"/>
                        </a:rPr>
                        <a:t>evt_webinar...ParePartnerWebinar</a:t>
                      </a:r>
                    </a:p>
                  </a:txBody>
                  <a:tcPr>
                    <a:solidFill>
                      <a:srgbClr val="0D1626"/>
                    </a:solidFill>
                  </a:tcPr>
                </a:tc>
                <a:tc>
                  <a:txBody>
                    <a:bodyPr wrap="square" tIns="25400" bIns="25400"/>
                    <a:lstStyle/>
                    <a:p>
                      <a:r>
                        <a:rPr sz="1050" b="0" i="0">
                          <a:solidFill>
                            <a:srgbClr val="F2F5F8"/>
                          </a:solidFill>
                          <a:latin typeface="Montserrat"/>
                        </a:rPr>
                        <a:t>Zoom Webinar</a:t>
                      </a:r>
                    </a:p>
                  </a:txBody>
                  <a:tcPr>
                    <a:solidFill>
                      <a:srgbClr val="0D1626"/>
                    </a:solidFill>
                  </a:tcPr>
                </a:tc>
                <a:tc>
                  <a:txBody>
                    <a:bodyPr wrap="square" tIns="25400" bIns="25400"/>
                    <a:lstStyle/>
                    <a:p>
                      <a:r>
                        <a:rPr sz="1050" b="0" i="0">
                          <a:solidFill>
                            <a:srgbClr val="F2F5F8"/>
                          </a:solidFill>
                          <a:latin typeface="Montserrat"/>
                        </a:rPr>
                        <a:t>38</a:t>
                      </a:r>
                    </a:p>
                  </a:txBody>
                  <a:tcPr>
                    <a:solidFill>
                      <a:srgbClr val="0D1626"/>
                    </a:solidFill>
                  </a:tcPr>
                </a:tc>
                <a:tc>
                  <a:txBody>
                    <a:bodyPr wrap="square" tIns="25400" bIns="25400"/>
                    <a:lstStyle/>
                    <a:p>
                      <a:r>
                        <a:rPr sz="1050" b="0" i="0">
                          <a:solidFill>
                            <a:srgbClr val="F2F5F8"/>
                          </a:solidFill>
                          <a:latin typeface="Montserrat"/>
                        </a:rPr>
                        <a:t>38</a:t>
                      </a:r>
                    </a:p>
                  </a:txBody>
                  <a:tcPr>
                    <a:solidFill>
                      <a:srgbClr val="0D1626"/>
                    </a:solidFill>
                  </a:tcPr>
                </a:tc>
                <a:tc>
                  <a:txBody>
                    <a:bodyPr wrap="square" tIns="25400" bIns="25400"/>
                    <a:lstStyle/>
                    <a:p>
                      <a:r>
                        <a:rPr sz="1050" b="0" i="0">
                          <a:solidFill>
                            <a:srgbClr val="F2F5F8"/>
                          </a:solidFill>
                          <a:latin typeface="Montserrat"/>
                        </a:rPr>
                        <a:t>0</a:t>
                      </a:r>
                    </a:p>
                  </a:txBody>
                  <a:tcPr>
                    <a:solidFill>
                      <a:srgbClr val="0D1626"/>
                    </a:solidFill>
                  </a:tcPr>
                </a:tc>
                <a:tc>
                  <a:txBody>
                    <a:bodyPr wrap="square" tIns="25400" bIns="25400"/>
                    <a:lstStyle/>
                    <a:p>
                      <a:r>
                        <a:rPr sz="1050" b="0" i="0">
                          <a:solidFill>
                            <a:srgbClr val="F2F5F8"/>
                          </a:solidFill>
                          <a:latin typeface="Montserrat"/>
                        </a:rPr>
                        <a:t>$0</a:t>
                      </a:r>
                    </a:p>
                  </a:txBody>
                  <a:tcPr>
                    <a:solidFill>
                      <a:srgbClr val="0D1626"/>
                    </a:solidFill>
                  </a:tcPr>
                </a:tc>
              </a:tr>
              <a:tr h="293914">
                <a:tc>
                  <a:txBody>
                    <a:bodyPr wrap="square" tIns="25400" bIns="25400"/>
                    <a:lstStyle/>
                    <a:p>
                      <a:r>
                        <a:rPr sz="1050" b="0" i="0">
                          <a:solidFill>
                            <a:srgbClr val="F2F5F8"/>
                          </a:solidFill>
                          <a:latin typeface="Montserrat"/>
                        </a:rPr>
                        <a:t>trial_parent_2026</a:t>
                      </a:r>
                    </a:p>
                  </a:txBody>
                  <a:tcPr>
                    <a:solidFill>
                      <a:srgbClr val="0D1626"/>
                    </a:solidFill>
                  </a:tcPr>
                </a:tc>
                <a:tc>
                  <a:txBody>
                    <a:bodyPr wrap="square" tIns="25400" bIns="25400"/>
                    <a:lstStyle/>
                    <a:p>
                      <a:r>
                        <a:rPr sz="1050" b="0" i="0">
                          <a:solidFill>
                            <a:srgbClr val="F2F5F8"/>
                          </a:solidFill>
                          <a:latin typeface="Montserrat"/>
                        </a:rPr>
                        <a:t>Trial</a:t>
                      </a:r>
                    </a:p>
                  </a:txBody>
                  <a:tcPr>
                    <a:solidFill>
                      <a:srgbClr val="0D1626"/>
                    </a:solidFill>
                  </a:tcPr>
                </a:tc>
                <a:tc>
                  <a:txBody>
                    <a:bodyPr wrap="square" tIns="25400" bIns="25400"/>
                    <a:lstStyle/>
                    <a:p>
                      <a:r>
                        <a:rPr sz="1050" b="0" i="0">
                          <a:solidFill>
                            <a:srgbClr val="F2F5F8"/>
                          </a:solidFill>
                          <a:latin typeface="Montserrat"/>
                        </a:rPr>
                        <a:t>0</a:t>
                      </a:r>
                    </a:p>
                  </a:txBody>
                  <a:tcPr>
                    <a:solidFill>
                      <a:srgbClr val="0D1626"/>
                    </a:solidFill>
                  </a:tcPr>
                </a:tc>
                <a:tc>
                  <a:txBody>
                    <a:bodyPr wrap="square" tIns="25400" bIns="25400"/>
                    <a:lstStyle/>
                    <a:p>
                      <a:r>
                        <a:rPr sz="1050" b="0" i="0">
                          <a:solidFill>
                            <a:srgbClr val="F2F5F8"/>
                          </a:solidFill>
                          <a:latin typeface="Montserrat"/>
                        </a:rPr>
                        <a:t>0</a:t>
                      </a:r>
                    </a:p>
                  </a:txBody>
                  <a:tcPr>
                    <a:solidFill>
                      <a:srgbClr val="0D1626"/>
                    </a:solidFill>
                  </a:tcPr>
                </a:tc>
                <a:tc>
                  <a:txBody>
                    <a:bodyPr wrap="square" tIns="25400" bIns="25400"/>
                    <a:lstStyle/>
                    <a:p>
                      <a:r>
                        <a:rPr sz="1050" b="0" i="0">
                          <a:solidFill>
                            <a:srgbClr val="F2F5F8"/>
                          </a:solidFill>
                          <a:latin typeface="Montserrat"/>
                        </a:rPr>
                        <a:t>0</a:t>
                      </a:r>
                    </a:p>
                  </a:txBody>
                  <a:tcPr>
                    <a:solidFill>
                      <a:srgbClr val="0D1626"/>
                    </a:solidFill>
                  </a:tcPr>
                </a:tc>
                <a:tc>
                  <a:txBody>
                    <a:bodyPr wrap="square" tIns="25400" bIns="25400"/>
                    <a:lstStyle/>
                    <a:p>
                      <a:r>
                        <a:rPr sz="1050" b="0" i="0">
                          <a:solidFill>
                            <a:srgbClr val="F2F5F8"/>
                          </a:solidFill>
                          <a:latin typeface="Montserrat"/>
                        </a:rPr>
                        <a:t>$0</a:t>
                      </a:r>
                    </a:p>
                  </a:txBody>
                  <a:tcPr>
                    <a:solidFill>
                      <a:srgbClr val="0D1626"/>
                    </a:solidFill>
                  </a:tcPr>
                </a:tc>
              </a:tr>
              <a:tr h="293914">
                <a:tc>
                  <a:txBody>
                    <a:bodyPr wrap="square" tIns="25400" bIns="25400"/>
                    <a:lstStyle/>
                    <a:p>
                      <a:r>
                        <a:rPr sz="1050" b="0" i="0">
                          <a:solidFill>
                            <a:srgbClr val="F2F5F8"/>
                          </a:solidFill>
                          <a:latin typeface="Montserrat"/>
                        </a:rPr>
                        <a:t>demgen_google ads for dam_global_CC</a:t>
                      </a:r>
                    </a:p>
                  </a:txBody>
                  <a:tcPr>
                    <a:solidFill>
                      <a:srgbClr val="0D1626"/>
                    </a:solidFill>
                  </a:tcPr>
                </a:tc>
                <a:tc>
                  <a:txBody>
                    <a:bodyPr wrap="square" tIns="25400" bIns="25400"/>
                    <a:lstStyle/>
                    <a:p>
                      <a:r>
                        <a:rPr sz="1050" b="0" i="0">
                          <a:solidFill>
                            <a:srgbClr val="F2F5F8"/>
                          </a:solidFill>
                          <a:latin typeface="Montserrat"/>
                        </a:rPr>
                        <a:t>Demand Gen</a:t>
                      </a:r>
                    </a:p>
                  </a:txBody>
                  <a:tcPr>
                    <a:solidFill>
                      <a:srgbClr val="0D1626"/>
                    </a:solidFill>
                  </a:tcPr>
                </a:tc>
                <a:tc>
                  <a:txBody>
                    <a:bodyPr wrap="square" tIns="25400" bIns="25400"/>
                    <a:lstStyle/>
                    <a:p>
                      <a:r>
                        <a:rPr sz="1050" b="0" i="0">
                          <a:solidFill>
                            <a:srgbClr val="F2F5F8"/>
                          </a:solidFill>
                          <a:latin typeface="Montserrat"/>
                        </a:rPr>
                        <a:t>3</a:t>
                      </a:r>
                    </a:p>
                  </a:txBody>
                  <a:tcPr>
                    <a:solidFill>
                      <a:srgbClr val="0D1626"/>
                    </a:solidFill>
                  </a:tcPr>
                </a:tc>
                <a:tc>
                  <a:txBody>
                    <a:bodyPr wrap="square" tIns="25400" bIns="25400"/>
                    <a:lstStyle/>
                    <a:p>
                      <a:r>
                        <a:rPr sz="1050" b="0" i="0">
                          <a:solidFill>
                            <a:srgbClr val="F2F5F8"/>
                          </a:solidFill>
                          <a:latin typeface="Montserrat"/>
                        </a:rPr>
                        <a:t>2</a:t>
                      </a:r>
                    </a:p>
                  </a:txBody>
                  <a:tcPr>
                    <a:solidFill>
                      <a:srgbClr val="0D1626"/>
                    </a:solidFill>
                  </a:tcPr>
                </a:tc>
                <a:tc>
                  <a:txBody>
                    <a:bodyPr wrap="square" tIns="25400" bIns="25400"/>
                    <a:lstStyle/>
                    <a:p>
                      <a:r>
                        <a:rPr sz="1050" b="0" i="0">
                          <a:solidFill>
                            <a:srgbClr val="F2F5F8"/>
                          </a:solidFill>
                          <a:latin typeface="Montserrat"/>
                        </a:rPr>
                        <a:t>1</a:t>
                      </a:r>
                    </a:p>
                  </a:txBody>
                  <a:tcPr>
                    <a:solidFill>
                      <a:srgbClr val="0D1626"/>
                    </a:solidFill>
                  </a:tcPr>
                </a:tc>
                <a:tc>
                  <a:txBody>
                    <a:bodyPr wrap="square" tIns="25400" bIns="25400"/>
                    <a:lstStyle/>
                    <a:p>
                      <a:r>
                        <a:rPr sz="1050" b="0" i="0">
                          <a:solidFill>
                            <a:srgbClr val="F2F5F8"/>
                          </a:solidFill>
                          <a:latin typeface="Montserrat"/>
                        </a:rPr>
                        <a:t>$76,700.00</a:t>
                      </a:r>
                    </a:p>
                  </a:txBody>
                  <a:tcPr>
                    <a:solidFill>
                      <a:srgbClr val="0D1626"/>
                    </a:solidFill>
                  </a:tcPr>
                </a:tc>
              </a:tr>
              <a:tr h="293914">
                <a:tc>
                  <a:txBody>
                    <a:bodyPr wrap="square" tIns="25400" bIns="25400"/>
                    <a:lstStyle/>
                    <a:p>
                      <a:r>
                        <a:rPr sz="1050" b="0" i="0">
                          <a:solidFill>
                            <a:srgbClr val="F2F5F8"/>
                          </a:solidFill>
                          <a:latin typeface="Montserrat"/>
                        </a:rPr>
                        <a:t>demgen_bing ads for dam_CC</a:t>
                      </a:r>
                    </a:p>
                  </a:txBody>
                  <a:tcPr>
                    <a:solidFill>
                      <a:srgbClr val="0D1626"/>
                    </a:solidFill>
                  </a:tcPr>
                </a:tc>
                <a:tc>
                  <a:txBody>
                    <a:bodyPr wrap="square" tIns="25400" bIns="25400"/>
                    <a:lstStyle/>
                    <a:p>
                      <a:r>
                        <a:rPr sz="1050" b="0" i="0">
                          <a:solidFill>
                            <a:srgbClr val="F2F5F8"/>
                          </a:solidFill>
                          <a:latin typeface="Montserrat"/>
                        </a:rPr>
                        <a:t>Demand Gen</a:t>
                      </a:r>
                    </a:p>
                  </a:txBody>
                  <a:tcPr>
                    <a:solidFill>
                      <a:srgbClr val="0D1626"/>
                    </a:solidFill>
                  </a:tcPr>
                </a:tc>
                <a:tc>
                  <a:txBody>
                    <a:bodyPr wrap="square" tIns="25400" bIns="25400"/>
                    <a:lstStyle/>
                    <a:p>
                      <a:r>
                        <a:rPr sz="1050" b="0" i="0">
                          <a:solidFill>
                            <a:srgbClr val="F2F5F8"/>
                          </a:solidFill>
                          <a:latin typeface="Montserrat"/>
                        </a:rPr>
                        <a:t>0</a:t>
                      </a:r>
                    </a:p>
                  </a:txBody>
                  <a:tcPr>
                    <a:solidFill>
                      <a:srgbClr val="0D1626"/>
                    </a:solidFill>
                  </a:tcPr>
                </a:tc>
                <a:tc>
                  <a:txBody>
                    <a:bodyPr wrap="square" tIns="25400" bIns="25400"/>
                    <a:lstStyle/>
                    <a:p>
                      <a:r>
                        <a:rPr sz="1050" b="0" i="0">
                          <a:solidFill>
                            <a:srgbClr val="F2F5F8"/>
                          </a:solidFill>
                          <a:latin typeface="Montserrat"/>
                        </a:rPr>
                        <a:t>0</a:t>
                      </a:r>
                    </a:p>
                  </a:txBody>
                  <a:tcPr>
                    <a:solidFill>
                      <a:srgbClr val="0D1626"/>
                    </a:solidFill>
                  </a:tcPr>
                </a:tc>
                <a:tc>
                  <a:txBody>
                    <a:bodyPr wrap="square" tIns="25400" bIns="25400"/>
                    <a:lstStyle/>
                    <a:p>
                      <a:r>
                        <a:rPr sz="1050" b="0" i="0">
                          <a:solidFill>
                            <a:srgbClr val="F2F5F8"/>
                          </a:solidFill>
                          <a:latin typeface="Montserrat"/>
                        </a:rPr>
                        <a:t>0</a:t>
                      </a:r>
                    </a:p>
                  </a:txBody>
                  <a:tcPr>
                    <a:solidFill>
                      <a:srgbClr val="0D1626"/>
                    </a:solidFill>
                  </a:tcPr>
                </a:tc>
                <a:tc>
                  <a:txBody>
                    <a:bodyPr wrap="square" tIns="25400" bIns="25400"/>
                    <a:lstStyle/>
                    <a:p>
                      <a:r>
                        <a:rPr sz="1050" b="0" i="0">
                          <a:solidFill>
                            <a:srgbClr val="F2F5F8"/>
                          </a:solidFill>
                          <a:latin typeface="Montserrat"/>
                        </a:rPr>
                        <a:t>$0</a:t>
                      </a:r>
                    </a:p>
                  </a:txBody>
                  <a:tcPr>
                    <a:solidFill>
                      <a:srgbClr val="0D1626"/>
                    </a:solidFill>
                  </a:tcPr>
                </a:tc>
              </a:tr>
              <a:tr h="293914">
                <a:tc>
                  <a:txBody>
                    <a:bodyPr wrap="square" tIns="25400" bIns="25400"/>
                    <a:lstStyle/>
                    <a:p>
                      <a:r>
                        <a:rPr sz="1050" b="0" i="0">
                          <a:solidFill>
                            <a:srgbClr val="F2F5F8"/>
                          </a:solidFill>
                          <a:latin typeface="Montserrat"/>
                        </a:rPr>
                        <a:t>demgen_linkedin inmail new logo_CC</a:t>
                      </a:r>
                    </a:p>
                  </a:txBody>
                  <a:tcPr>
                    <a:solidFill>
                      <a:srgbClr val="0D1626"/>
                    </a:solidFill>
                  </a:tcPr>
                </a:tc>
                <a:tc>
                  <a:txBody>
                    <a:bodyPr wrap="square" tIns="25400" bIns="25400"/>
                    <a:lstStyle/>
                    <a:p>
                      <a:r>
                        <a:rPr sz="1050" b="0" i="0">
                          <a:solidFill>
                            <a:srgbClr val="F2F5F8"/>
                          </a:solidFill>
                          <a:latin typeface="Montserrat"/>
                        </a:rPr>
                        <a:t>Demand Gen</a:t>
                      </a:r>
                    </a:p>
                  </a:txBody>
                  <a:tcPr>
                    <a:solidFill>
                      <a:srgbClr val="0D1626"/>
                    </a:solidFill>
                  </a:tcPr>
                </a:tc>
                <a:tc>
                  <a:txBody>
                    <a:bodyPr wrap="square" tIns="25400" bIns="25400"/>
                    <a:lstStyle/>
                    <a:p>
                      <a:r>
                        <a:rPr sz="1050" b="0" i="0">
                          <a:solidFill>
                            <a:srgbClr val="F2F5F8"/>
                          </a:solidFill>
                          <a:latin typeface="Montserrat"/>
                        </a:rPr>
                        <a:t>0</a:t>
                      </a:r>
                    </a:p>
                  </a:txBody>
                  <a:tcPr>
                    <a:solidFill>
                      <a:srgbClr val="0D1626"/>
                    </a:solidFill>
                  </a:tcPr>
                </a:tc>
                <a:tc>
                  <a:txBody>
                    <a:bodyPr wrap="square" tIns="25400" bIns="25400"/>
                    <a:lstStyle/>
                    <a:p>
                      <a:r>
                        <a:rPr sz="1050" b="0" i="0">
                          <a:solidFill>
                            <a:srgbClr val="F2F5F8"/>
                          </a:solidFill>
                          <a:latin typeface="Montserrat"/>
                        </a:rPr>
                        <a:t>0</a:t>
                      </a:r>
                    </a:p>
                  </a:txBody>
                  <a:tcPr>
                    <a:solidFill>
                      <a:srgbClr val="0D1626"/>
                    </a:solidFill>
                  </a:tcPr>
                </a:tc>
                <a:tc>
                  <a:txBody>
                    <a:bodyPr wrap="square" tIns="25400" bIns="25400"/>
                    <a:lstStyle/>
                    <a:p>
                      <a:r>
                        <a:rPr sz="1050" b="0" i="0">
                          <a:solidFill>
                            <a:srgbClr val="F2F5F8"/>
                          </a:solidFill>
                          <a:latin typeface="Montserrat"/>
                        </a:rPr>
                        <a:t>0</a:t>
                      </a:r>
                    </a:p>
                  </a:txBody>
                  <a:tcPr>
                    <a:solidFill>
                      <a:srgbClr val="0D1626"/>
                    </a:solidFill>
                  </a:tcPr>
                </a:tc>
                <a:tc>
                  <a:txBody>
                    <a:bodyPr wrap="square" tIns="25400" bIns="25400"/>
                    <a:lstStyle/>
                    <a:p>
                      <a:r>
                        <a:rPr sz="1050" b="0" i="0">
                          <a:solidFill>
                            <a:srgbClr val="F2F5F8"/>
                          </a:solidFill>
                          <a:latin typeface="Montserrat"/>
                        </a:rPr>
                        <a:t>$0</a:t>
                      </a:r>
                    </a:p>
                  </a:txBody>
                  <a:tcPr>
                    <a:solidFill>
                      <a:srgbClr val="0D1626"/>
                    </a:solidFill>
                  </a:tcPr>
                </a:tc>
              </a:tr>
              <a:tr h="293914">
                <a:tc>
                  <a:txBody>
                    <a:bodyPr wrap="square" tIns="25400" bIns="25400"/>
                    <a:lstStyle/>
                    <a:p>
                      <a:r>
                        <a:rPr sz="1050" b="0" i="0">
                          <a:solidFill>
                            <a:srgbClr val="F2F5F8"/>
                          </a:solidFill>
                          <a:latin typeface="Montserrat"/>
                        </a:rPr>
                        <a:t>em_promo_barcelona cug_emea_dxp</a:t>
                      </a:r>
                    </a:p>
                  </a:txBody>
                  <a:tcPr>
                    <a:solidFill>
                      <a:srgbClr val="0D1626"/>
                    </a:solidFill>
                  </a:tcPr>
                </a:tc>
                <a:tc>
                  <a:txBody>
                    <a:bodyPr wrap="square" tIns="25400" bIns="25400"/>
                    <a:lstStyle/>
                    <a:p>
                      <a:r>
                        <a:rPr sz="1050" b="0" i="0">
                          <a:solidFill>
                            <a:srgbClr val="F2F5F8"/>
                          </a:solidFill>
                          <a:latin typeface="Montserrat"/>
                        </a:rPr>
                        <a:t>Email</a:t>
                      </a:r>
                    </a:p>
                  </a:txBody>
                  <a:tcPr>
                    <a:solidFill>
                      <a:srgbClr val="0D1626"/>
                    </a:solidFill>
                  </a:tcPr>
                </a:tc>
                <a:tc>
                  <a:txBody>
                    <a:bodyPr wrap="square" tIns="25400" bIns="25400"/>
                    <a:lstStyle/>
                    <a:p>
                      <a:r>
                        <a:rPr sz="1050" b="0" i="0">
                          <a:solidFill>
                            <a:srgbClr val="F2F5F8"/>
                          </a:solidFill>
                          <a:latin typeface="Montserrat"/>
                        </a:rPr>
                        <a:t>125</a:t>
                      </a:r>
                    </a:p>
                  </a:txBody>
                  <a:tcPr>
                    <a:solidFill>
                      <a:srgbClr val="0D1626"/>
                    </a:solidFill>
                  </a:tcPr>
                </a:tc>
                <a:tc>
                  <a:txBody>
                    <a:bodyPr wrap="square" tIns="25400" bIns="25400"/>
                    <a:lstStyle/>
                    <a:p>
                      <a:r>
                        <a:rPr sz="1050" b="0" i="0">
                          <a:solidFill>
                            <a:srgbClr val="F2F5F8"/>
                          </a:solidFill>
                          <a:latin typeface="Montserrat"/>
                        </a:rPr>
                        <a:t>112</a:t>
                      </a:r>
                    </a:p>
                  </a:txBody>
                  <a:tcPr>
                    <a:solidFill>
                      <a:srgbClr val="0D1626"/>
                    </a:solidFill>
                  </a:tcPr>
                </a:tc>
                <a:tc>
                  <a:txBody>
                    <a:bodyPr wrap="square" tIns="25400" bIns="25400"/>
                    <a:lstStyle/>
                    <a:p>
                      <a:r>
                        <a:rPr sz="1050" b="0" i="0">
                          <a:solidFill>
                            <a:srgbClr val="F2F5F8"/>
                          </a:solidFill>
                          <a:latin typeface="Montserrat"/>
                        </a:rPr>
                        <a:t>0</a:t>
                      </a:r>
                    </a:p>
                  </a:txBody>
                  <a:tcPr>
                    <a:solidFill>
                      <a:srgbClr val="0D1626"/>
                    </a:solidFill>
                  </a:tcPr>
                </a:tc>
                <a:tc>
                  <a:txBody>
                    <a:bodyPr wrap="square" tIns="25400" bIns="25400"/>
                    <a:lstStyle/>
                    <a:p>
                      <a:r>
                        <a:rPr sz="1050" b="0" i="0">
                          <a:solidFill>
                            <a:srgbClr val="F2F5F8"/>
                          </a:solidFill>
                          <a:latin typeface="Montserrat"/>
                        </a:rPr>
                        <a:t>$0</a:t>
                      </a:r>
                    </a:p>
                  </a:txBody>
                  <a:tcPr>
                    <a:solidFill>
                      <a:srgbClr val="0D1626"/>
                    </a:solidFill>
                  </a:tcPr>
                </a:tc>
              </a:tr>
              <a:tr h="293914">
                <a:tc>
                  <a:txBody>
                    <a:bodyPr wrap="square" tIns="25400" bIns="25400"/>
                    <a:lstStyle/>
                    <a:p>
                      <a:r>
                        <a:rPr sz="1050" b="0" i="0">
                          <a:solidFill>
                            <a:srgbClr val="F2F5F8"/>
                          </a:solidFill>
                          <a:latin typeface="Montserrat"/>
                        </a:rPr>
                        <a:t>Global_Web_DC_Gartner_Magic_Quadrant</a:t>
                      </a:r>
                    </a:p>
                  </a:txBody>
                  <a:tcPr>
                    <a:solidFill>
                      <a:srgbClr val="0D1626"/>
                    </a:solidFill>
                  </a:tcPr>
                </a:tc>
                <a:tc>
                  <a:txBody>
                    <a:bodyPr wrap="square" tIns="25400" bIns="25400"/>
                    <a:lstStyle/>
                    <a:p>
                      <a:r>
                        <a:rPr sz="1050" b="0" i="0">
                          <a:solidFill>
                            <a:srgbClr val="F2F5F8"/>
                          </a:solidFill>
                          <a:latin typeface="Montserrat"/>
                        </a:rPr>
                        <a:t>Web</a:t>
                      </a:r>
                    </a:p>
                  </a:txBody>
                  <a:tcPr>
                    <a:solidFill>
                      <a:srgbClr val="0D1626"/>
                    </a:solidFill>
                  </a:tcPr>
                </a:tc>
                <a:tc>
                  <a:txBody>
                    <a:bodyPr wrap="square" tIns="25400" bIns="25400"/>
                    <a:lstStyle/>
                    <a:p>
                      <a:r>
                        <a:rPr sz="1050" b="0" i="0">
                          <a:solidFill>
                            <a:srgbClr val="F2F5F8"/>
                          </a:solidFill>
                          <a:latin typeface="Montserrat"/>
                        </a:rPr>
                        <a:t>0</a:t>
                      </a:r>
                    </a:p>
                  </a:txBody>
                  <a:tcPr>
                    <a:solidFill>
                      <a:srgbClr val="0D1626"/>
                    </a:solidFill>
                  </a:tcPr>
                </a:tc>
                <a:tc>
                  <a:txBody>
                    <a:bodyPr wrap="square" tIns="25400" bIns="25400"/>
                    <a:lstStyle/>
                    <a:p>
                      <a:r>
                        <a:rPr sz="1050" b="0" i="0">
                          <a:solidFill>
                            <a:srgbClr val="F2F5F8"/>
                          </a:solidFill>
                          <a:latin typeface="Montserrat"/>
                        </a:rPr>
                        <a:t>0</a:t>
                      </a:r>
                    </a:p>
                  </a:txBody>
                  <a:tcPr>
                    <a:solidFill>
                      <a:srgbClr val="0D1626"/>
                    </a:solidFill>
                  </a:tcPr>
                </a:tc>
                <a:tc>
                  <a:txBody>
                    <a:bodyPr wrap="square" tIns="25400" bIns="25400"/>
                    <a:lstStyle/>
                    <a:p>
                      <a:r>
                        <a:rPr sz="1050" b="0" i="0">
                          <a:solidFill>
                            <a:srgbClr val="F2F5F8"/>
                          </a:solidFill>
                          <a:latin typeface="Montserrat"/>
                        </a:rPr>
                        <a:t>0</a:t>
                      </a:r>
                    </a:p>
                  </a:txBody>
                  <a:tcPr>
                    <a:solidFill>
                      <a:srgbClr val="0D1626"/>
                    </a:solidFill>
                  </a:tcPr>
                </a:tc>
                <a:tc>
                  <a:txBody>
                    <a:bodyPr wrap="square" tIns="25400" bIns="25400"/>
                    <a:lstStyle/>
                    <a:p>
                      <a:r>
                        <a:rPr sz="1050" b="0" i="0">
                          <a:solidFill>
                            <a:srgbClr val="F2F5F8"/>
                          </a:solidFill>
                          <a:latin typeface="Montserrat"/>
                        </a:rPr>
                        <a:t>$0</a:t>
                      </a:r>
                    </a:p>
                  </a:txBody>
                  <a:tcPr>
                    <a:solidFill>
                      <a:srgbClr val="0D1626"/>
                    </a:solidFill>
                  </a:tcPr>
                </a:tc>
              </a:tr>
              <a:tr h="293914">
                <a:tc>
                  <a:txBody>
                    <a:bodyPr wrap="square" tIns="25400" bIns="25400"/>
                    <a:lstStyle/>
                    <a:p>
                      <a:r>
                        <a:rPr sz="1050" b="0" i="0">
                          <a:solidFill>
                            <a:srgbClr val="F2F5F8"/>
                          </a:solidFill>
                          <a:latin typeface="Montserrat"/>
                        </a:rPr>
                        <a:t>em_promo_atv_axelerant_ironman</a:t>
                      </a:r>
                    </a:p>
                  </a:txBody>
                  <a:tcPr>
                    <a:solidFill>
                      <a:srgbClr val="0D1626"/>
                    </a:solidFill>
                  </a:tcPr>
                </a:tc>
                <a:tc>
                  <a:txBody>
                    <a:bodyPr wrap="square" tIns="25400" bIns="25400"/>
                    <a:lstStyle/>
                    <a:p>
                      <a:r>
                        <a:rPr sz="1050" b="0" i="0">
                          <a:solidFill>
                            <a:srgbClr val="F2F5F8"/>
                          </a:solidFill>
                          <a:latin typeface="Montserrat"/>
                        </a:rPr>
                        <a:t>Email</a:t>
                      </a:r>
                    </a:p>
                  </a:txBody>
                  <a:tcPr>
                    <a:solidFill>
                      <a:srgbClr val="0D1626"/>
                    </a:solidFill>
                  </a:tcPr>
                </a:tc>
                <a:tc>
                  <a:txBody>
                    <a:bodyPr wrap="square" tIns="25400" bIns="25400"/>
                    <a:lstStyle/>
                    <a:p>
                      <a:r>
                        <a:rPr sz="1050" b="0" i="0">
                          <a:solidFill>
                            <a:srgbClr val="F2F5F8"/>
                          </a:solidFill>
                          <a:latin typeface="Montserrat"/>
                        </a:rPr>
                        <a:t>3,342</a:t>
                      </a:r>
                    </a:p>
                  </a:txBody>
                  <a:tcPr>
                    <a:solidFill>
                      <a:srgbClr val="0D1626"/>
                    </a:solidFill>
                  </a:tcPr>
                </a:tc>
                <a:tc>
                  <a:txBody>
                    <a:bodyPr wrap="square" tIns="25400" bIns="25400"/>
                    <a:lstStyle/>
                    <a:p>
                      <a:r>
                        <a:rPr sz="1050" b="0" i="0">
                          <a:solidFill>
                            <a:srgbClr val="F2F5F8"/>
                          </a:solidFill>
                          <a:latin typeface="Montserrat"/>
                        </a:rPr>
                        <a:t>3,342</a:t>
                      </a:r>
                    </a:p>
                  </a:txBody>
                  <a:tcPr>
                    <a:solidFill>
                      <a:srgbClr val="0D1626"/>
                    </a:solidFill>
                  </a:tcPr>
                </a:tc>
                <a:tc>
                  <a:txBody>
                    <a:bodyPr wrap="square" tIns="25400" bIns="25400"/>
                    <a:lstStyle/>
                    <a:p>
                      <a:r>
                        <a:rPr sz="1050" b="0" i="0">
                          <a:solidFill>
                            <a:srgbClr val="F2F5F8"/>
                          </a:solidFill>
                          <a:latin typeface="Montserrat"/>
                        </a:rPr>
                        <a:t>8</a:t>
                      </a:r>
                    </a:p>
                  </a:txBody>
                  <a:tcPr>
                    <a:solidFill>
                      <a:srgbClr val="0D1626"/>
                    </a:solidFill>
                  </a:tcPr>
                </a:tc>
                <a:tc>
                  <a:txBody>
                    <a:bodyPr wrap="square" tIns="25400" bIns="25400"/>
                    <a:lstStyle/>
                    <a:p>
                      <a:r>
                        <a:rPr sz="1050" b="0" i="0">
                          <a:solidFill>
                            <a:srgbClr val="F2F5F8"/>
                          </a:solidFill>
                          <a:latin typeface="Montserrat"/>
                        </a:rPr>
                        <a:t>$7,510.41</a:t>
                      </a:r>
                    </a:p>
                  </a:txBody>
                  <a:tcPr>
                    <a:solidFill>
                      <a:srgbClr val="0D1626"/>
                    </a:solidFill>
                  </a:tcPr>
                </a:tc>
              </a:tr>
              <a:tr h="293914">
                <a:tc>
                  <a:txBody>
                    <a:bodyPr wrap="square" tIns="25400" bIns="25400"/>
                    <a:lstStyle/>
                    <a:p>
                      <a:r>
                        <a:rPr sz="1050" b="0" i="0">
                          <a:solidFill>
                            <a:srgbClr val="F2F5F8"/>
                          </a:solidFill>
                          <a:latin typeface="Montserrat"/>
                        </a:rPr>
                        <a:t>em_promo_webinar with pare and co_dxo</a:t>
                      </a:r>
                    </a:p>
                  </a:txBody>
                  <a:tcPr>
                    <a:solidFill>
                      <a:srgbClr val="0D1626"/>
                    </a:solidFill>
                  </a:tcPr>
                </a:tc>
                <a:tc>
                  <a:txBody>
                    <a:bodyPr wrap="square" tIns="25400" bIns="25400"/>
                    <a:lstStyle/>
                    <a:p>
                      <a:r>
                        <a:rPr sz="1050" b="0" i="0">
                          <a:solidFill>
                            <a:srgbClr val="F2F5F8"/>
                          </a:solidFill>
                          <a:latin typeface="Montserrat"/>
                        </a:rPr>
                        <a:t>Email</a:t>
                      </a:r>
                    </a:p>
                  </a:txBody>
                  <a:tcPr>
                    <a:solidFill>
                      <a:srgbClr val="0D1626"/>
                    </a:solidFill>
                  </a:tcPr>
                </a:tc>
                <a:tc>
                  <a:txBody>
                    <a:bodyPr wrap="square" tIns="25400" bIns="25400"/>
                    <a:lstStyle/>
                    <a:p>
                      <a:r>
                        <a:rPr sz="1050" b="0" i="0">
                          <a:solidFill>
                            <a:srgbClr val="F2F5F8"/>
                          </a:solidFill>
                          <a:latin typeface="Montserrat"/>
                        </a:rPr>
                        <a:t>2,189</a:t>
                      </a:r>
                    </a:p>
                  </a:txBody>
                  <a:tcPr>
                    <a:solidFill>
                      <a:srgbClr val="0D1626"/>
                    </a:solidFill>
                  </a:tcPr>
                </a:tc>
                <a:tc>
                  <a:txBody>
                    <a:bodyPr wrap="square" tIns="25400" bIns="25400"/>
                    <a:lstStyle/>
                    <a:p>
                      <a:r>
                        <a:rPr sz="1050" b="0" i="0">
                          <a:solidFill>
                            <a:srgbClr val="F2F5F8"/>
                          </a:solidFill>
                          <a:latin typeface="Montserrat"/>
                        </a:rPr>
                        <a:t>2,189</a:t>
                      </a:r>
                    </a:p>
                  </a:txBody>
                  <a:tcPr>
                    <a:solidFill>
                      <a:srgbClr val="0D1626"/>
                    </a:solidFill>
                  </a:tcPr>
                </a:tc>
                <a:tc>
                  <a:txBody>
                    <a:bodyPr wrap="square" tIns="25400" bIns="25400"/>
                    <a:lstStyle/>
                    <a:p>
                      <a:r>
                        <a:rPr sz="1050" b="0" i="0">
                          <a:solidFill>
                            <a:srgbClr val="F2F5F8"/>
                          </a:solidFill>
                          <a:latin typeface="Montserrat"/>
                        </a:rPr>
                        <a:t>1</a:t>
                      </a:r>
                    </a:p>
                  </a:txBody>
                  <a:tcPr>
                    <a:solidFill>
                      <a:srgbClr val="0D1626"/>
                    </a:solidFill>
                  </a:tcPr>
                </a:tc>
                <a:tc>
                  <a:txBody>
                    <a:bodyPr wrap="square" tIns="25400" bIns="25400"/>
                    <a:lstStyle/>
                    <a:p>
                      <a:r>
                        <a:rPr sz="1050" b="0" i="0">
                          <a:solidFill>
                            <a:srgbClr val="F2F5F8"/>
                          </a:solidFill>
                          <a:latin typeface="Montserrat"/>
                        </a:rPr>
                        <a:t>$90.18</a:t>
                      </a:r>
                    </a:p>
                  </a:txBody>
                  <a:tcPr>
                    <a:solidFill>
                      <a:srgbClr val="0D1626"/>
                    </a:solidFill>
                  </a:tcPr>
                </a:tc>
              </a:tr>
              <a:tr h="293914">
                <a:tc>
                  <a:txBody>
                    <a:bodyPr wrap="square" tIns="25400" bIns="25400"/>
                    <a:lstStyle/>
                    <a:p>
                      <a:r>
                        <a:rPr sz="1050" b="0" i="0">
                          <a:solidFill>
                            <a:srgbClr val="F2F5F8"/>
                          </a:solidFill>
                          <a:latin typeface="Montserrat"/>
                        </a:rPr>
                        <a:t>em_promo_acquia festive party paris_dc</a:t>
                      </a:r>
                    </a:p>
                  </a:txBody>
                  <a:tcPr>
                    <a:solidFill>
                      <a:srgbClr val="0D1626"/>
                    </a:solidFill>
                  </a:tcPr>
                </a:tc>
                <a:tc>
                  <a:txBody>
                    <a:bodyPr wrap="square" tIns="25400" bIns="25400"/>
                    <a:lstStyle/>
                    <a:p>
                      <a:r>
                        <a:rPr sz="1050" b="0" i="0">
                          <a:solidFill>
                            <a:srgbClr val="F2F5F8"/>
                          </a:solidFill>
                          <a:latin typeface="Montserrat"/>
                        </a:rPr>
                        <a:t>Email</a:t>
                      </a:r>
                    </a:p>
                  </a:txBody>
                  <a:tcPr>
                    <a:solidFill>
                      <a:srgbClr val="0D1626"/>
                    </a:solidFill>
                  </a:tcPr>
                </a:tc>
                <a:tc>
                  <a:txBody>
                    <a:bodyPr wrap="square" tIns="25400" bIns="25400"/>
                    <a:lstStyle/>
                    <a:p>
                      <a:r>
                        <a:rPr sz="1050" b="0" i="0">
                          <a:solidFill>
                            <a:srgbClr val="F2F5F8"/>
                          </a:solidFill>
                          <a:latin typeface="Montserrat"/>
                        </a:rPr>
                        <a:t>89**</a:t>
                      </a:r>
                    </a:p>
                  </a:txBody>
                  <a:tcPr>
                    <a:solidFill>
                      <a:srgbClr val="0D1626"/>
                    </a:solidFill>
                  </a:tcPr>
                </a:tc>
                <a:tc>
                  <a:txBody>
                    <a:bodyPr wrap="square" tIns="25400" bIns="25400"/>
                    <a:lstStyle/>
                    <a:p>
                      <a:r>
                        <a:rPr sz="1050" b="0" i="0">
                          <a:solidFill>
                            <a:srgbClr val="F2F5F8"/>
                          </a:solidFill>
                          <a:latin typeface="Montserrat"/>
                        </a:rPr>
                        <a:t>89**</a:t>
                      </a:r>
                    </a:p>
                  </a:txBody>
                  <a:tcPr>
                    <a:solidFill>
                      <a:srgbClr val="0D1626"/>
                    </a:solidFill>
                  </a:tcPr>
                </a:tc>
                <a:tc>
                  <a:txBody>
                    <a:bodyPr wrap="square" tIns="25400" bIns="25400"/>
                    <a:lstStyle/>
                    <a:p>
                      <a:r>
                        <a:rPr sz="1050" b="0" i="0">
                          <a:solidFill>
                            <a:srgbClr val="F2F5F8"/>
                          </a:solidFill>
                          <a:latin typeface="Montserrat"/>
                        </a:rPr>
                        <a:t>0</a:t>
                      </a:r>
                    </a:p>
                  </a:txBody>
                  <a:tcPr>
                    <a:solidFill>
                      <a:srgbClr val="0D1626"/>
                    </a:solidFill>
                  </a:tcPr>
                </a:tc>
                <a:tc>
                  <a:txBody>
                    <a:bodyPr wrap="square" tIns="25400" bIns="25400"/>
                    <a:lstStyle/>
                    <a:p>
                      <a:r>
                        <a:rPr sz="1050" b="0" i="0">
                          <a:solidFill>
                            <a:srgbClr val="F2F5F8"/>
                          </a:solidFill>
                          <a:latin typeface="Montserrat"/>
                        </a:rPr>
                        <a:t>$0</a:t>
                      </a:r>
                    </a:p>
                  </a:txBody>
                  <a:tcPr>
                    <a:solidFill>
                      <a:srgbClr val="0D1626"/>
                    </a:solidFill>
                  </a:tcPr>
                </a:tc>
              </a:tr>
              <a:tr h="293914">
                <a:tc>
                  <a:txBody>
                    <a:bodyPr wrap="square" tIns="25400" bIns="25400"/>
                    <a:lstStyle/>
                    <a:p>
                      <a:r>
                        <a:rPr sz="1050" b="0" i="0">
                          <a:solidFill>
                            <a:srgbClr val="F2F5F8"/>
                          </a:solidFill>
                          <a:latin typeface="Montserrat"/>
                        </a:rPr>
                        <a:t>em_promo_ondam paris_emea_cc</a:t>
                      </a:r>
                    </a:p>
                  </a:txBody>
                  <a:tcPr>
                    <a:solidFill>
                      <a:srgbClr val="0D1626"/>
                    </a:solidFill>
                  </a:tcPr>
                </a:tc>
                <a:tc>
                  <a:txBody>
                    <a:bodyPr wrap="square" tIns="25400" bIns="25400"/>
                    <a:lstStyle/>
                    <a:p>
                      <a:r>
                        <a:rPr sz="1050" b="0" i="0">
                          <a:solidFill>
                            <a:srgbClr val="F2F5F8"/>
                          </a:solidFill>
                          <a:latin typeface="Montserrat"/>
                        </a:rPr>
                        <a:t>Email</a:t>
                      </a:r>
                    </a:p>
                  </a:txBody>
                  <a:tcPr>
                    <a:solidFill>
                      <a:srgbClr val="0D1626"/>
                    </a:solidFill>
                  </a:tcPr>
                </a:tc>
                <a:tc>
                  <a:txBody>
                    <a:bodyPr wrap="square" tIns="25400" bIns="25400"/>
                    <a:lstStyle/>
                    <a:p>
                      <a:r>
                        <a:rPr sz="1050" b="0" i="0">
                          <a:solidFill>
                            <a:srgbClr val="F2F5F8"/>
                          </a:solidFill>
                          <a:latin typeface="Montserrat"/>
                        </a:rPr>
                        <a:t>0</a:t>
                      </a:r>
                    </a:p>
                  </a:txBody>
                  <a:tcPr>
                    <a:solidFill>
                      <a:srgbClr val="0D1626"/>
                    </a:solidFill>
                  </a:tcPr>
                </a:tc>
                <a:tc>
                  <a:txBody>
                    <a:bodyPr wrap="square" tIns="25400" bIns="25400"/>
                    <a:lstStyle/>
                    <a:p>
                      <a:r>
                        <a:rPr sz="1050" b="0" i="0">
                          <a:solidFill>
                            <a:srgbClr val="F2F5F8"/>
                          </a:solidFill>
                          <a:latin typeface="Montserrat"/>
                        </a:rPr>
                        <a:t>0</a:t>
                      </a:r>
                    </a:p>
                  </a:txBody>
                  <a:tcPr>
                    <a:solidFill>
                      <a:srgbClr val="0D1626"/>
                    </a:solidFill>
                  </a:tcPr>
                </a:tc>
                <a:tc>
                  <a:txBody>
                    <a:bodyPr wrap="square" tIns="25400" bIns="25400"/>
                    <a:lstStyle/>
                    <a:p>
                      <a:r>
                        <a:rPr sz="1050" b="0" i="0">
                          <a:solidFill>
                            <a:srgbClr val="F2F5F8"/>
                          </a:solidFill>
                          <a:latin typeface="Montserrat"/>
                        </a:rPr>
                        <a:t>0</a:t>
                      </a:r>
                    </a:p>
                  </a:txBody>
                  <a:tcPr>
                    <a:solidFill>
                      <a:srgbClr val="0D1626"/>
                    </a:solidFill>
                  </a:tcPr>
                </a:tc>
                <a:tc>
                  <a:txBody>
                    <a:bodyPr wrap="square" tIns="25400" bIns="25400"/>
                    <a:lstStyle/>
                    <a:p>
                      <a:r>
                        <a:rPr sz="1050" b="0" i="0">
                          <a:solidFill>
                            <a:srgbClr val="F2F5F8"/>
                          </a:solidFill>
                          <a:latin typeface="Montserrat"/>
                        </a:rPr>
                        <a:t>$0</a:t>
                      </a:r>
                    </a:p>
                  </a:txBody>
                  <a:tcPr>
                    <a:solidFill>
                      <a:srgbClr val="0D1626"/>
                    </a:solidFill>
                  </a:tcPr>
                </a:tc>
              </a:tr>
            </a:tbl>
          </a:graphicData>
        </a:graphic>
      </p:graphicFrame>
      <p:sp>
        <p:nvSpPr>
          <p:cNvPr id="8" name="TextBox 7"/>
          <p:cNvSpPr txBox="1"/>
          <p:nvPr/>
        </p:nvSpPr>
        <p:spPr>
          <a:xfrm>
            <a:off x="548640" y="6355080"/>
            <a:ext cx="11064240" cy="457200"/>
          </a:xfrm>
          <a:prstGeom prst="rect">
            <a:avLst/>
          </a:prstGeom>
          <a:noFill/>
        </p:spPr>
        <p:txBody>
          <a:bodyPr wrap="square">
            <a:spAutoFit/>
          </a:bodyPr>
          <a:lstStyle/>
          <a:p>
            <a:r>
              <a:rPr sz="750" b="0" i="1">
                <a:solidFill>
                  <a:srgbClr val="9AA7B8"/>
                </a:solidFill>
                <a:latin typeface="Montserrat"/>
              </a:rPr>
              <a:t>Period roll-up: 13 campaigns created/launched 2026-10-15..10-21 -&gt; 138 leads + 5,716 contacts (5,854 total), 5,840 responses, 1 converted lead, 11 opportunities, $84,300.60 pipeline. Source: SOQL against Campaign (explicit date-literal window, not LAST_N_DAYS:7 - see slide 19) + CampaignMember GROUP BY, queried 2026-10-22. **em_promo_acquia festive party paris_dc member count shifted 85-&gt;89 between two queries seconds apart (live Pardot sync); 89 is the reconciled figure as of query time.</a:t>
            </a:r>
          </a:p>
        </p:txBody>
      </p:sp>
      <p:sp>
        <p:nvSpPr>
          <p:cNvPr id="9" name="TextBox 8"/>
          <p:cNvSpPr txBox="1"/>
          <p:nvPr/>
        </p:nvSpPr>
        <p:spPr>
          <a:xfrm>
            <a:off x="11612880" y="6473952"/>
            <a:ext cx="457200" cy="320040"/>
          </a:xfrm>
          <a:prstGeom prst="rect">
            <a:avLst/>
          </a:prstGeom>
          <a:noFill/>
        </p:spPr>
        <p:txBody>
          <a:bodyPr wrap="square">
            <a:spAutoFit/>
          </a:bodyPr>
          <a:lstStyle/>
          <a:p>
            <a:pPr algn="r"/>
            <a:r>
              <a:rPr sz="900" b="0" i="0">
                <a:solidFill>
                  <a:srgbClr val="9AA7B8"/>
                </a:solidFill>
                <a:latin typeface="Montserra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626"/>
        </a:solidFill>
        <a:effectLst/>
      </p:bgPr>
    </p:bg>
    <p:spTree>
      <p:nvGrpSpPr>
        <p:cNvPr id="1" name=""/>
        <p:cNvGrpSpPr/>
        <p:nvPr/>
      </p:nvGrpSpPr>
      <p:grpSpPr/>
      <p:sp>
        <p:nvSpPr>
          <p:cNvPr id="2" name="Rectangle 1"/>
          <p:cNvSpPr/>
          <p:nvPr/>
        </p:nvSpPr>
        <p:spPr>
          <a:xfrm>
            <a:off x="0" y="0"/>
            <a:ext cx="12191695" cy="63500"/>
          </a:xfrm>
          <a:prstGeom prst="rect">
            <a:avLst/>
          </a:prstGeom>
          <a:gradFill rotWithShape="1">
            <a:gsLst>
              <a:gs pos="0">
                <a:srgbClr val="14B8A6"/>
              </a:gs>
              <a:gs pos="25000">
                <a:srgbClr val="22C55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515600" cy="320040"/>
          </a:xfrm>
          <a:prstGeom prst="rect">
            <a:avLst/>
          </a:prstGeom>
          <a:noFill/>
        </p:spPr>
        <p:txBody>
          <a:bodyPr wrap="square">
            <a:spAutoFit/>
          </a:bodyPr>
          <a:lstStyle/>
          <a:p>
            <a:r>
              <a:rPr sz="1200" b="1" i="0">
                <a:solidFill>
                  <a:srgbClr val="14B8A6"/>
                </a:solidFill>
                <a:latin typeface="Montserrat"/>
              </a:rPr>
              <a:t>RETROSPECTIVE</a:t>
            </a:r>
          </a:p>
        </p:txBody>
      </p:sp>
      <p:sp>
        <p:nvSpPr>
          <p:cNvPr id="4" name="Rectangle 3"/>
          <p:cNvSpPr/>
          <p:nvPr/>
        </p:nvSpPr>
        <p:spPr>
          <a:xfrm>
            <a:off x="566928" y="621792"/>
            <a:ext cx="457200" cy="3175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749808"/>
            <a:ext cx="11064240" cy="640080"/>
          </a:xfrm>
          <a:prstGeom prst="rect">
            <a:avLst/>
          </a:prstGeom>
          <a:noFill/>
        </p:spPr>
        <p:txBody>
          <a:bodyPr wrap="square">
            <a:spAutoFit/>
          </a:bodyPr>
          <a:lstStyle/>
          <a:p>
            <a:r>
              <a:rPr sz="2600" b="1" i="0">
                <a:solidFill>
                  <a:srgbClr val="F2F5F8"/>
                </a:solidFill>
                <a:latin typeface="Montserrat ExtraBold"/>
              </a:rPr>
              <a:t>SLA &amp; Cycle Time</a:t>
            </a:r>
          </a:p>
        </p:txBody>
      </p:sp>
      <p:sp>
        <p:nvSpPr>
          <p:cNvPr id="6" name="TextBox 5"/>
          <p:cNvSpPr txBox="1"/>
          <p:nvPr/>
        </p:nvSpPr>
        <p:spPr>
          <a:xfrm>
            <a:off x="548640" y="1325880"/>
            <a:ext cx="11064240" cy="548640"/>
          </a:xfrm>
          <a:prstGeom prst="rect">
            <a:avLst/>
          </a:prstGeom>
          <a:noFill/>
        </p:spPr>
        <p:txBody>
          <a:bodyPr wrap="square">
            <a:spAutoFit/>
          </a:bodyPr>
          <a:lstStyle/>
          <a:p>
            <a:r>
              <a:rPr sz="1300" b="0" i="0">
                <a:solidFill>
                  <a:srgbClr val="9AA7B8"/>
                </a:solidFill>
                <a:latin typeface="Montserrat"/>
              </a:rPr>
              <a:t>Oct 15-21, 2026</a:t>
            </a:r>
          </a:p>
        </p:txBody>
      </p:sp>
      <p:graphicFrame>
        <p:nvGraphicFramePr>
          <p:cNvPr id="7" name="Table 6"/>
          <p:cNvGraphicFramePr>
            <a:graphicFrameLocks noGrp="1"/>
          </p:cNvGraphicFramePr>
          <p:nvPr/>
        </p:nvGraphicFramePr>
        <p:xfrm>
          <a:off x="548640" y="2057400"/>
          <a:ext cx="11064238" cy="3200400"/>
        </p:xfrm>
        <a:graphic>
          <a:graphicData uri="http://schemas.openxmlformats.org/drawingml/2006/table">
            <a:tbl>
              <a:tblPr firstRow="1" bandRow="1">
                <a:tableStyleId>{5C22544A-7EE6-4342-B048-85BDC9FD1C3A}</a:tableStyleId>
              </a:tblPr>
              <a:tblGrid>
                <a:gridCol w="5310835"/>
                <a:gridCol w="1917801"/>
                <a:gridCol w="1180185"/>
                <a:gridCol w="1180185"/>
                <a:gridCol w="1475232"/>
              </a:tblGrid>
              <a:tr h="457200">
                <a:tc>
                  <a:txBody>
                    <a:bodyPr tIns="25400" bIns="25400"/>
                    <a:lstStyle/>
                    <a:p>
                      <a:r>
                        <a:rPr sz="1050" b="1" i="0">
                          <a:solidFill>
                            <a:srgbClr val="14B8A6"/>
                          </a:solidFill>
                          <a:latin typeface="Montserrat"/>
                        </a:rPr>
                        <a:t>TICKET</a:t>
                      </a:r>
                    </a:p>
                  </a:txBody>
                  <a:tcPr>
                    <a:solidFill>
                      <a:srgbClr val="152033"/>
                    </a:solidFill>
                  </a:tcPr>
                </a:tc>
                <a:tc>
                  <a:txBody>
                    <a:bodyPr tIns="25400" bIns="25400"/>
                    <a:lstStyle/>
                    <a:p>
                      <a:r>
                        <a:rPr sz="1050" b="1" i="0">
                          <a:solidFill>
                            <a:srgbClr val="14B8A6"/>
                          </a:solidFill>
                          <a:latin typeface="Montserrat"/>
                        </a:rPr>
                        <a:t>SLA TYPE</a:t>
                      </a:r>
                    </a:p>
                  </a:txBody>
                  <a:tcPr>
                    <a:solidFill>
                      <a:srgbClr val="152033"/>
                    </a:solidFill>
                  </a:tcPr>
                </a:tc>
                <a:tc>
                  <a:txBody>
                    <a:bodyPr tIns="25400" bIns="25400"/>
                    <a:lstStyle/>
                    <a:p>
                      <a:r>
                        <a:rPr sz="1050" b="1" i="0">
                          <a:solidFill>
                            <a:srgbClr val="14B8A6"/>
                          </a:solidFill>
                          <a:latin typeface="Montserrat"/>
                        </a:rPr>
                        <a:t>TARGET</a:t>
                      </a:r>
                    </a:p>
                  </a:txBody>
                  <a:tcPr>
                    <a:solidFill>
                      <a:srgbClr val="152033"/>
                    </a:solidFill>
                  </a:tcPr>
                </a:tc>
                <a:tc>
                  <a:txBody>
                    <a:bodyPr tIns="25400" bIns="25400"/>
                    <a:lstStyle/>
                    <a:p>
                      <a:r>
                        <a:rPr sz="1050" b="1" i="0">
                          <a:solidFill>
                            <a:srgbClr val="14B8A6"/>
                          </a:solidFill>
                          <a:latin typeface="Montserrat"/>
                        </a:rPr>
                        <a:t>ACTUAL</a:t>
                      </a:r>
                    </a:p>
                  </a:txBody>
                  <a:tcPr>
                    <a:solidFill>
                      <a:srgbClr val="152033"/>
                    </a:solidFill>
                  </a:tcPr>
                </a:tc>
                <a:tc>
                  <a:txBody>
                    <a:bodyPr tIns="25400" bIns="25400"/>
                    <a:lstStyle/>
                    <a:p>
                      <a:r>
                        <a:rPr sz="1050" b="1" i="0">
                          <a:solidFill>
                            <a:srgbClr val="14B8A6"/>
                          </a:solidFill>
                          <a:latin typeface="Montserrat"/>
                        </a:rPr>
                        <a:t>RESULT</a:t>
                      </a:r>
                    </a:p>
                  </a:txBody>
                  <a:tcPr>
                    <a:solidFill>
                      <a:srgbClr val="152033"/>
                    </a:solidFill>
                  </a:tcPr>
                </a:tc>
              </a:tr>
              <a:tr h="457200">
                <a:tc>
                  <a:txBody>
                    <a:bodyPr wrap="square" tIns="25400" bIns="25400"/>
                    <a:lstStyle/>
                    <a:p>
                      <a:r>
                        <a:rPr sz="1050" b="0" i="0">
                          <a:solidFill>
                            <a:srgbClr val="F2F5F8"/>
                          </a:solidFill>
                          <a:latin typeface="Montserrat"/>
                        </a:rPr>
                        <a:t>DrupalCon Rotterdam Dinner - SFDC Campaign</a:t>
                      </a:r>
                    </a:p>
                  </a:txBody>
                  <a:tcPr>
                    <a:solidFill>
                      <a:srgbClr val="0D1626"/>
                    </a:solidFill>
                  </a:tcPr>
                </a:tc>
                <a:tc>
                  <a:txBody>
                    <a:bodyPr wrap="square" tIns="25400" bIns="25400"/>
                    <a:lstStyle/>
                    <a:p>
                      <a:r>
                        <a:rPr sz="1050" b="0" i="0">
                          <a:solidFill>
                            <a:srgbClr val="F2F5F8"/>
                          </a:solidFill>
                          <a:latin typeface="Montserrat"/>
                        </a:rPr>
                        <a:t>SFDC (single)</a:t>
                      </a:r>
                    </a:p>
                  </a:txBody>
                  <a:tcPr>
                    <a:solidFill>
                      <a:srgbClr val="0D1626"/>
                    </a:solidFill>
                  </a:tcPr>
                </a:tc>
                <a:tc>
                  <a:txBody>
                    <a:bodyPr wrap="square" tIns="25400" bIns="25400"/>
                    <a:lstStyle/>
                    <a:p>
                      <a:r>
                        <a:rPr sz="1050" b="0" i="0">
                          <a:solidFill>
                            <a:srgbClr val="F2F5F8"/>
                          </a:solidFill>
                          <a:latin typeface="Montserrat"/>
                        </a:rPr>
                        <a:t>1 bd</a:t>
                      </a:r>
                    </a:p>
                  </a:txBody>
                  <a:tcPr>
                    <a:solidFill>
                      <a:srgbClr val="0D1626"/>
                    </a:solidFill>
                  </a:tcPr>
                </a:tc>
                <a:tc>
                  <a:txBody>
                    <a:bodyPr wrap="square" tIns="25400" bIns="25400"/>
                    <a:lstStyle/>
                    <a:p>
                      <a:r>
                        <a:rPr sz="1050" b="0" i="0">
                          <a:solidFill>
                            <a:srgbClr val="F2F5F8"/>
                          </a:solidFill>
                          <a:latin typeface="Montserrat"/>
                        </a:rPr>
                        <a:t>11 bd</a:t>
                      </a:r>
                    </a:p>
                  </a:txBody>
                  <a:tcPr>
                    <a:solidFill>
                      <a:srgbClr val="0D1626"/>
                    </a:solidFill>
                  </a:tcPr>
                </a:tc>
                <a:tc>
                  <a:txBody>
                    <a:bodyPr wrap="square" tIns="25400" bIns="25400"/>
                    <a:lstStyle/>
                    <a:p>
                      <a:r>
                        <a:rPr sz="950" b="1" i="0">
                          <a:solidFill>
                            <a:srgbClr val="EF4444"/>
                          </a:solidFill>
                          <a:latin typeface="Montserrat"/>
                        </a:rPr>
                        <a:t>BREACH</a:t>
                      </a:r>
                    </a:p>
                  </a:txBody>
                  <a:tcPr>
                    <a:solidFill>
                      <a:srgbClr val="0D1626"/>
                    </a:solidFill>
                  </a:tcPr>
                </a:tc>
              </a:tr>
              <a:tr h="457200">
                <a:tc>
                  <a:txBody>
                    <a:bodyPr wrap="square" tIns="25400" bIns="25400"/>
                    <a:lstStyle/>
                    <a:p>
                      <a:r>
                        <a:rPr sz="1050" b="0" i="0">
                          <a:solidFill>
                            <a:srgbClr val="F2F5F8"/>
                          </a:solidFill>
                          <a:latin typeface="Montserrat"/>
                        </a:rPr>
                        <a:t>Acquia Festive Party London: 12 Days of Drupal</a:t>
                      </a:r>
                    </a:p>
                  </a:txBody>
                  <a:tcPr>
                    <a:solidFill>
                      <a:srgbClr val="0D1626"/>
                    </a:solidFill>
                  </a:tcPr>
                </a:tc>
                <a:tc>
                  <a:txBody>
                    <a:bodyPr wrap="square" tIns="25400" bIns="25400"/>
                    <a:lstStyle/>
                    <a:p>
                      <a:r>
                        <a:rPr sz="1050" b="0" i="0">
                          <a:solidFill>
                            <a:srgbClr val="F2F5F8"/>
                          </a:solidFill>
                          <a:latin typeface="Montserrat"/>
                        </a:rPr>
                        <a:t>SFDC (single)</a:t>
                      </a:r>
                    </a:p>
                  </a:txBody>
                  <a:tcPr>
                    <a:solidFill>
                      <a:srgbClr val="0D1626"/>
                    </a:solidFill>
                  </a:tcPr>
                </a:tc>
                <a:tc>
                  <a:txBody>
                    <a:bodyPr wrap="square" tIns="25400" bIns="25400"/>
                    <a:lstStyle/>
                    <a:p>
                      <a:r>
                        <a:rPr sz="1050" b="0" i="0">
                          <a:solidFill>
                            <a:srgbClr val="F2F5F8"/>
                          </a:solidFill>
                          <a:latin typeface="Montserrat"/>
                        </a:rPr>
                        <a:t>1 bd</a:t>
                      </a:r>
                    </a:p>
                  </a:txBody>
                  <a:tcPr>
                    <a:solidFill>
                      <a:srgbClr val="0D1626"/>
                    </a:solidFill>
                  </a:tcPr>
                </a:tc>
                <a:tc>
                  <a:txBody>
                    <a:bodyPr wrap="square" tIns="25400" bIns="25400"/>
                    <a:lstStyle/>
                    <a:p>
                      <a:r>
                        <a:rPr sz="1050" b="0" i="0">
                          <a:solidFill>
                            <a:srgbClr val="F2F5F8"/>
                          </a:solidFill>
                          <a:latin typeface="Montserrat"/>
                        </a:rPr>
                        <a:t>14 bd</a:t>
                      </a:r>
                    </a:p>
                  </a:txBody>
                  <a:tcPr>
                    <a:solidFill>
                      <a:srgbClr val="0D1626"/>
                    </a:solidFill>
                  </a:tcPr>
                </a:tc>
                <a:tc>
                  <a:txBody>
                    <a:bodyPr wrap="square" tIns="25400" bIns="25400"/>
                    <a:lstStyle/>
                    <a:p>
                      <a:r>
                        <a:rPr sz="950" b="1" i="0">
                          <a:solidFill>
                            <a:srgbClr val="EF4444"/>
                          </a:solidFill>
                          <a:latin typeface="Montserrat"/>
                        </a:rPr>
                        <a:t>BREACH</a:t>
                      </a:r>
                    </a:p>
                  </a:txBody>
                  <a:tcPr>
                    <a:solidFill>
                      <a:srgbClr val="0D1626"/>
                    </a:solidFill>
                  </a:tcPr>
                </a:tc>
              </a:tr>
              <a:tr h="457200">
                <a:tc>
                  <a:txBody>
                    <a:bodyPr wrap="square" tIns="25400" bIns="25400"/>
                    <a:lstStyle/>
                    <a:p>
                      <a:r>
                        <a:rPr sz="1050" b="0" i="0">
                          <a:solidFill>
                            <a:srgbClr val="F2F5F8"/>
                          </a:solidFill>
                          <a:latin typeface="Montserrat"/>
                        </a:rPr>
                        <a:t>Acquia TV Axelerant IRONMAN Email Campaign</a:t>
                      </a:r>
                    </a:p>
                  </a:txBody>
                  <a:tcPr>
                    <a:solidFill>
                      <a:srgbClr val="0D1626"/>
                    </a:solidFill>
                  </a:tcPr>
                </a:tc>
                <a:tc>
                  <a:txBody>
                    <a:bodyPr wrap="square" tIns="25400" bIns="25400"/>
                    <a:lstStyle/>
                    <a:p>
                      <a:r>
                        <a:rPr sz="1050" b="0" i="0">
                          <a:solidFill>
                            <a:srgbClr val="F2F5F8"/>
                          </a:solidFill>
                          <a:latin typeface="Montserrat"/>
                        </a:rPr>
                        <a:t>SFDC (single)</a:t>
                      </a:r>
                    </a:p>
                  </a:txBody>
                  <a:tcPr>
                    <a:solidFill>
                      <a:srgbClr val="0D1626"/>
                    </a:solidFill>
                  </a:tcPr>
                </a:tc>
                <a:tc>
                  <a:txBody>
                    <a:bodyPr wrap="square" tIns="25400" bIns="25400"/>
                    <a:lstStyle/>
                    <a:p>
                      <a:r>
                        <a:rPr sz="1050" b="0" i="0">
                          <a:solidFill>
                            <a:srgbClr val="F2F5F8"/>
                          </a:solidFill>
                          <a:latin typeface="Montserrat"/>
                        </a:rPr>
                        <a:t>1 bd</a:t>
                      </a:r>
                    </a:p>
                  </a:txBody>
                  <a:tcPr>
                    <a:solidFill>
                      <a:srgbClr val="0D1626"/>
                    </a:solidFill>
                  </a:tcPr>
                </a:tc>
                <a:tc>
                  <a:txBody>
                    <a:bodyPr wrap="square" tIns="25400" bIns="25400"/>
                    <a:lstStyle/>
                    <a:p>
                      <a:r>
                        <a:rPr sz="1050" b="0" i="0">
                          <a:solidFill>
                            <a:srgbClr val="F2F5F8"/>
                          </a:solidFill>
                          <a:latin typeface="Montserrat"/>
                        </a:rPr>
                        <a:t>3 bd</a:t>
                      </a:r>
                    </a:p>
                  </a:txBody>
                  <a:tcPr>
                    <a:solidFill>
                      <a:srgbClr val="0D1626"/>
                    </a:solidFill>
                  </a:tcPr>
                </a:tc>
                <a:tc>
                  <a:txBody>
                    <a:bodyPr wrap="square" tIns="25400" bIns="25400"/>
                    <a:lstStyle/>
                    <a:p>
                      <a:r>
                        <a:rPr sz="950" b="1" i="0">
                          <a:solidFill>
                            <a:srgbClr val="EF4444"/>
                          </a:solidFill>
                          <a:latin typeface="Montserrat"/>
                        </a:rPr>
                        <a:t>BREACH</a:t>
                      </a:r>
                    </a:p>
                  </a:txBody>
                  <a:tcPr>
                    <a:solidFill>
                      <a:srgbClr val="0D1626"/>
                    </a:solidFill>
                  </a:tcPr>
                </a:tc>
              </a:tr>
              <a:tr h="457200">
                <a:tc>
                  <a:txBody>
                    <a:bodyPr wrap="square" tIns="25400" bIns="25400"/>
                    <a:lstStyle/>
                    <a:p>
                      <a:r>
                        <a:rPr sz="1050" b="0" i="0">
                          <a:solidFill>
                            <a:srgbClr val="F2F5F8"/>
                          </a:solidFill>
                          <a:latin typeface="Montserrat"/>
                        </a:rPr>
                        <a:t>SFCID Gartner Magic Quadrant Report</a:t>
                      </a:r>
                    </a:p>
                  </a:txBody>
                  <a:tcPr>
                    <a:solidFill>
                      <a:srgbClr val="0D1626"/>
                    </a:solidFill>
                  </a:tcPr>
                </a:tc>
                <a:tc>
                  <a:txBody>
                    <a:bodyPr wrap="square" tIns="25400" bIns="25400"/>
                    <a:lstStyle/>
                    <a:p>
                      <a:r>
                        <a:rPr sz="1050" b="0" i="0">
                          <a:solidFill>
                            <a:srgbClr val="F2F5F8"/>
                          </a:solidFill>
                          <a:latin typeface="Montserrat"/>
                        </a:rPr>
                        <a:t>SFDC (single)</a:t>
                      </a:r>
                    </a:p>
                  </a:txBody>
                  <a:tcPr>
                    <a:solidFill>
                      <a:srgbClr val="0D1626"/>
                    </a:solidFill>
                  </a:tcPr>
                </a:tc>
                <a:tc>
                  <a:txBody>
                    <a:bodyPr wrap="square" tIns="25400" bIns="25400"/>
                    <a:lstStyle/>
                    <a:p>
                      <a:r>
                        <a:rPr sz="1050" b="0" i="0">
                          <a:solidFill>
                            <a:srgbClr val="F2F5F8"/>
                          </a:solidFill>
                          <a:latin typeface="Montserrat"/>
                        </a:rPr>
                        <a:t>1 bd</a:t>
                      </a:r>
                    </a:p>
                  </a:txBody>
                  <a:tcPr>
                    <a:solidFill>
                      <a:srgbClr val="0D1626"/>
                    </a:solidFill>
                  </a:tcPr>
                </a:tc>
                <a:tc>
                  <a:txBody>
                    <a:bodyPr wrap="square" tIns="25400" bIns="25400"/>
                    <a:lstStyle/>
                    <a:p>
                      <a:r>
                        <a:rPr sz="1050" b="0" i="0">
                          <a:solidFill>
                            <a:srgbClr val="F2F5F8"/>
                          </a:solidFill>
                          <a:latin typeface="Montserrat"/>
                        </a:rPr>
                        <a:t>4 bd</a:t>
                      </a:r>
                    </a:p>
                  </a:txBody>
                  <a:tcPr>
                    <a:solidFill>
                      <a:srgbClr val="0D1626"/>
                    </a:solidFill>
                  </a:tcPr>
                </a:tc>
                <a:tc>
                  <a:txBody>
                    <a:bodyPr wrap="square" tIns="25400" bIns="25400"/>
                    <a:lstStyle/>
                    <a:p>
                      <a:r>
                        <a:rPr sz="950" b="1" i="0">
                          <a:solidFill>
                            <a:srgbClr val="EF4444"/>
                          </a:solidFill>
                          <a:latin typeface="Montserrat"/>
                        </a:rPr>
                        <a:t>BREACH</a:t>
                      </a:r>
                    </a:p>
                  </a:txBody>
                  <a:tcPr>
                    <a:solidFill>
                      <a:srgbClr val="0D1626"/>
                    </a:solidFill>
                  </a:tcPr>
                </a:tc>
              </a:tr>
              <a:tr h="457200">
                <a:tc>
                  <a:txBody>
                    <a:bodyPr wrap="square" tIns="25400" bIns="25400"/>
                    <a:lstStyle/>
                    <a:p>
                      <a:r>
                        <a:rPr sz="1050" b="0" i="0">
                          <a:solidFill>
                            <a:srgbClr val="F2F5F8"/>
                          </a:solidFill>
                          <a:latin typeface="Montserrat"/>
                        </a:rPr>
                        <a:t>Content Marketing World SFDC Campaign(s)+Form</a:t>
                      </a:r>
                    </a:p>
                  </a:txBody>
                  <a:tcPr>
                    <a:solidFill>
                      <a:srgbClr val="0D1626"/>
                    </a:solidFill>
                  </a:tcPr>
                </a:tc>
                <a:tc>
                  <a:txBody>
                    <a:bodyPr wrap="square" tIns="25400" bIns="25400"/>
                    <a:lstStyle/>
                    <a:p>
                      <a:r>
                        <a:rPr sz="1050" b="0" i="0">
                          <a:solidFill>
                            <a:srgbClr val="F2F5F8"/>
                          </a:solidFill>
                          <a:latin typeface="Montserrat"/>
                        </a:rPr>
                        <a:t>SFDC (single)</a:t>
                      </a:r>
                    </a:p>
                  </a:txBody>
                  <a:tcPr>
                    <a:solidFill>
                      <a:srgbClr val="0D1626"/>
                    </a:solidFill>
                  </a:tcPr>
                </a:tc>
                <a:tc>
                  <a:txBody>
                    <a:bodyPr wrap="square" tIns="25400" bIns="25400"/>
                    <a:lstStyle/>
                    <a:p>
                      <a:r>
                        <a:rPr sz="1050" b="0" i="0">
                          <a:solidFill>
                            <a:srgbClr val="F2F5F8"/>
                          </a:solidFill>
                          <a:latin typeface="Montserrat"/>
                        </a:rPr>
                        <a:t>1 bd</a:t>
                      </a:r>
                    </a:p>
                  </a:txBody>
                  <a:tcPr>
                    <a:solidFill>
                      <a:srgbClr val="0D1626"/>
                    </a:solidFill>
                  </a:tcPr>
                </a:tc>
                <a:tc>
                  <a:txBody>
                    <a:bodyPr wrap="square" tIns="25400" bIns="25400"/>
                    <a:lstStyle/>
                    <a:p>
                      <a:r>
                        <a:rPr sz="1050" b="0" i="0">
                          <a:solidFill>
                            <a:srgbClr val="F2F5F8"/>
                          </a:solidFill>
                          <a:latin typeface="Montserrat"/>
                        </a:rPr>
                        <a:t>61 bd</a:t>
                      </a:r>
                    </a:p>
                  </a:txBody>
                  <a:tcPr>
                    <a:solidFill>
                      <a:srgbClr val="0D1626"/>
                    </a:solidFill>
                  </a:tcPr>
                </a:tc>
                <a:tc>
                  <a:txBody>
                    <a:bodyPr wrap="square" tIns="25400" bIns="25400"/>
                    <a:lstStyle/>
                    <a:p>
                      <a:r>
                        <a:rPr sz="950" b="1" i="0">
                          <a:solidFill>
                            <a:srgbClr val="EF4444"/>
                          </a:solidFill>
                          <a:latin typeface="Montserrat"/>
                        </a:rPr>
                        <a:t>BREACH</a:t>
                      </a:r>
                    </a:p>
                  </a:txBody>
                  <a:tcPr>
                    <a:solidFill>
                      <a:srgbClr val="0D1626"/>
                    </a:solidFill>
                  </a:tcPr>
                </a:tc>
              </a:tr>
              <a:tr h="457200">
                <a:tc>
                  <a:txBody>
                    <a:bodyPr wrap="square" tIns="25400" bIns="25400"/>
                    <a:lstStyle/>
                    <a:p>
                      <a:r>
                        <a:rPr sz="1050" b="0" i="0">
                          <a:solidFill>
                            <a:srgbClr val="F2F5F8"/>
                          </a:solidFill>
                          <a:latin typeface="Montserrat"/>
                        </a:rPr>
                        <a:t>Campaign codes for Bing/Google/LinkedIn Inmail</a:t>
                      </a:r>
                    </a:p>
                  </a:txBody>
                  <a:tcPr>
                    <a:solidFill>
                      <a:srgbClr val="0D1626"/>
                    </a:solidFill>
                  </a:tcPr>
                </a:tc>
                <a:tc>
                  <a:txBody>
                    <a:bodyPr wrap="square" tIns="25400" bIns="25400"/>
                    <a:lstStyle/>
                    <a:p>
                      <a:r>
                        <a:rPr sz="1050" b="0" i="0">
                          <a:solidFill>
                            <a:srgbClr val="F2F5F8"/>
                          </a:solidFill>
                          <a:latin typeface="Montserrat"/>
                        </a:rPr>
                        <a:t>SFDC (multiple)</a:t>
                      </a:r>
                    </a:p>
                  </a:txBody>
                  <a:tcPr>
                    <a:solidFill>
                      <a:srgbClr val="0D1626"/>
                    </a:solidFill>
                  </a:tcPr>
                </a:tc>
                <a:tc>
                  <a:txBody>
                    <a:bodyPr wrap="square" tIns="25400" bIns="25400"/>
                    <a:lstStyle/>
                    <a:p>
                      <a:r>
                        <a:rPr sz="1050" b="0" i="0">
                          <a:solidFill>
                            <a:srgbClr val="F2F5F8"/>
                          </a:solidFill>
                          <a:latin typeface="Montserrat"/>
                        </a:rPr>
                        <a:t>2 bd</a:t>
                      </a:r>
                    </a:p>
                  </a:txBody>
                  <a:tcPr>
                    <a:solidFill>
                      <a:srgbClr val="0D1626"/>
                    </a:solidFill>
                  </a:tcPr>
                </a:tc>
                <a:tc>
                  <a:txBody>
                    <a:bodyPr wrap="square" tIns="25400" bIns="25400"/>
                    <a:lstStyle/>
                    <a:p>
                      <a:r>
                        <a:rPr sz="1050" b="0" i="0">
                          <a:solidFill>
                            <a:srgbClr val="F2F5F8"/>
                          </a:solidFill>
                          <a:latin typeface="Montserrat"/>
                        </a:rPr>
                        <a:t>2 bd</a:t>
                      </a:r>
                    </a:p>
                  </a:txBody>
                  <a:tcPr>
                    <a:solidFill>
                      <a:srgbClr val="0D1626"/>
                    </a:solidFill>
                  </a:tcPr>
                </a:tc>
                <a:tc>
                  <a:txBody>
                    <a:bodyPr wrap="square" tIns="25400" bIns="25400"/>
                    <a:lstStyle/>
                    <a:p>
                      <a:r>
                        <a:rPr sz="950" b="1" i="0">
                          <a:solidFill>
                            <a:srgbClr val="22C55E"/>
                          </a:solidFill>
                          <a:latin typeface="Montserrat"/>
                        </a:rPr>
                        <a:t>ON TRACK</a:t>
                      </a:r>
                    </a:p>
                  </a:txBody>
                  <a:tcPr>
                    <a:solidFill>
                      <a:srgbClr val="0D1626"/>
                    </a:solidFill>
                  </a:tcPr>
                </a:tc>
              </a:tr>
            </a:tbl>
          </a:graphicData>
        </a:graphic>
      </p:graphicFrame>
      <p:sp>
        <p:nvSpPr>
          <p:cNvPr id="8" name="TextBox 7"/>
          <p:cNvSpPr txBox="1"/>
          <p:nvPr/>
        </p:nvSpPr>
        <p:spPr>
          <a:xfrm>
            <a:off x="548640" y="6355080"/>
            <a:ext cx="11064240" cy="457200"/>
          </a:xfrm>
          <a:prstGeom prst="rect">
            <a:avLst/>
          </a:prstGeom>
          <a:noFill/>
        </p:spPr>
        <p:txBody>
          <a:bodyPr wrap="square">
            <a:spAutoFit/>
          </a:bodyPr>
          <a:lstStyle/>
          <a:p>
            <a:r>
              <a:rPr sz="750" b="0" i="1">
                <a:solidFill>
                  <a:srgbClr val="9AA7B8"/>
                </a:solidFill>
                <a:latin typeface="Montserrat"/>
              </a:rPr>
              <a:t>Scored population: 6 completions whose Project Type maps directly to the sla-watchdog SLA table (SFDC Campaign creation, single/multiple). Within SLA: 1/6 (17%). Avg cycle time: 15.8 bd (6.8 bd excluding the 61-bd backlog clearance). The other 32 retro completions (Email, Audiences, Other, or null Project Type) have no direct entry in the SLA table and were excluded from scoring, not counted as breaches - a continuing table-coverage gap. No Rush/Urgent flag appears on any completed ticket this week.</a:t>
            </a:r>
          </a:p>
        </p:txBody>
      </p:sp>
      <p:sp>
        <p:nvSpPr>
          <p:cNvPr id="9" name="TextBox 8"/>
          <p:cNvSpPr txBox="1"/>
          <p:nvPr/>
        </p:nvSpPr>
        <p:spPr>
          <a:xfrm>
            <a:off x="11612880" y="6473952"/>
            <a:ext cx="457200" cy="320040"/>
          </a:xfrm>
          <a:prstGeom prst="rect">
            <a:avLst/>
          </a:prstGeom>
          <a:noFill/>
        </p:spPr>
        <p:txBody>
          <a:bodyPr wrap="square">
            <a:spAutoFit/>
          </a:bodyPr>
          <a:lstStyle/>
          <a:p>
            <a:pPr algn="r"/>
            <a:r>
              <a:rPr sz="900" b="0" i="0">
                <a:solidFill>
                  <a:srgbClr val="9AA7B8"/>
                </a:solidFill>
                <a:latin typeface="Montserra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626"/>
        </a:solidFill>
        <a:effectLst/>
      </p:bgPr>
    </p:bg>
    <p:spTree>
      <p:nvGrpSpPr>
        <p:cNvPr id="1" name=""/>
        <p:cNvGrpSpPr/>
        <p:nvPr/>
      </p:nvGrpSpPr>
      <p:grpSpPr/>
      <p:sp>
        <p:nvSpPr>
          <p:cNvPr id="2" name="Rectangle 1"/>
          <p:cNvSpPr/>
          <p:nvPr/>
        </p:nvSpPr>
        <p:spPr>
          <a:xfrm>
            <a:off x="0" y="0"/>
            <a:ext cx="12191695" cy="63500"/>
          </a:xfrm>
          <a:prstGeom prst="rect">
            <a:avLst/>
          </a:prstGeom>
          <a:gradFill rotWithShape="1">
            <a:gsLst>
              <a:gs pos="0">
                <a:srgbClr val="14B8A6"/>
              </a:gs>
              <a:gs pos="25000">
                <a:srgbClr val="22C55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515600" cy="320040"/>
          </a:xfrm>
          <a:prstGeom prst="rect">
            <a:avLst/>
          </a:prstGeom>
          <a:noFill/>
        </p:spPr>
        <p:txBody>
          <a:bodyPr wrap="square">
            <a:spAutoFit/>
          </a:bodyPr>
          <a:lstStyle/>
          <a:p>
            <a:r>
              <a:rPr sz="1200" b="1" i="0">
                <a:solidFill>
                  <a:srgbClr val="14B8A6"/>
                </a:solidFill>
                <a:latin typeface="Montserrat"/>
              </a:rPr>
              <a:t>RETROSPECTIVE</a:t>
            </a:r>
          </a:p>
        </p:txBody>
      </p:sp>
      <p:sp>
        <p:nvSpPr>
          <p:cNvPr id="4" name="Rectangle 3"/>
          <p:cNvSpPr/>
          <p:nvPr/>
        </p:nvSpPr>
        <p:spPr>
          <a:xfrm>
            <a:off x="566928" y="621792"/>
            <a:ext cx="457200" cy="3175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749808"/>
            <a:ext cx="11064240" cy="640080"/>
          </a:xfrm>
          <a:prstGeom prst="rect">
            <a:avLst/>
          </a:prstGeom>
          <a:noFill/>
        </p:spPr>
        <p:txBody>
          <a:bodyPr wrap="square">
            <a:spAutoFit/>
          </a:bodyPr>
          <a:lstStyle/>
          <a:p>
            <a:r>
              <a:rPr sz="2600" b="1" i="0">
                <a:solidFill>
                  <a:srgbClr val="F2F5F8"/>
                </a:solidFill>
                <a:latin typeface="Montserrat ExtraBold"/>
              </a:rPr>
              <a:t>Lead Weekly Wins</a:t>
            </a:r>
          </a:p>
        </p:txBody>
      </p:sp>
      <p:sp>
        <p:nvSpPr>
          <p:cNvPr id="6" name="TextBox 5"/>
          <p:cNvSpPr txBox="1"/>
          <p:nvPr/>
        </p:nvSpPr>
        <p:spPr>
          <a:xfrm>
            <a:off x="548640" y="1325880"/>
            <a:ext cx="11064240" cy="548640"/>
          </a:xfrm>
          <a:prstGeom prst="rect">
            <a:avLst/>
          </a:prstGeom>
          <a:noFill/>
        </p:spPr>
        <p:txBody>
          <a:bodyPr wrap="square">
            <a:spAutoFit/>
          </a:bodyPr>
          <a:lstStyle/>
          <a:p>
            <a:r>
              <a:rPr sz="1300" b="0" i="0">
                <a:solidFill>
                  <a:srgbClr val="9AA7B8"/>
                </a:solidFill>
                <a:latin typeface="Montserrat"/>
              </a:rPr>
              <a:t>Oct 15-21, 2026</a:t>
            </a:r>
          </a:p>
        </p:txBody>
      </p:sp>
      <p:sp>
        <p:nvSpPr>
          <p:cNvPr id="7" name="TextBox 6"/>
          <p:cNvSpPr txBox="1"/>
          <p:nvPr/>
        </p:nvSpPr>
        <p:spPr>
          <a:xfrm>
            <a:off x="548640" y="2103120"/>
            <a:ext cx="11064240" cy="3931920"/>
          </a:xfrm>
          <a:prstGeom prst="rect">
            <a:avLst/>
          </a:prstGeom>
          <a:noFill/>
        </p:spPr>
        <p:txBody>
          <a:bodyPr wrap="square">
            <a:spAutoFit/>
          </a:bodyPr>
          <a:lstStyle/>
          <a:p>
            <a:pPr>
              <a:spcAft>
                <a:spcPts val="800"/>
              </a:spcAft>
            </a:pPr>
            <a:r>
              <a:rPr sz="1500" b="1" i="0">
                <a:solidFill>
                  <a:srgbClr val="14B8A6"/>
                </a:solidFill>
                <a:latin typeface="Montserrat"/>
              </a:rPr>
              <a:t>Aayushi Sharma - 12 completions this week</a:t>
            </a:r>
          </a:p>
          <a:p>
            <a:pPr>
              <a:spcAft>
                <a:spcPts val="800"/>
              </a:spcAft>
            </a:pPr>
            <a:r>
              <a:rPr sz="1400" b="0" i="0">
                <a:solidFill>
                  <a:srgbClr val="F2F5F8"/>
                </a:solidFill>
                <a:latin typeface="Montserrat"/>
              </a:rPr>
              <a:t>-  7 Email(s)/Nurture-Sequence tickets closed (SHARP Webinar registration series x4, Festive Party London email builds, Acquia TV Axelerant IRONMAN build+campaign)</a:t>
            </a:r>
          </a:p>
          <a:p>
            <a:pPr>
              <a:spcAft>
                <a:spcPts val="800"/>
              </a:spcAft>
            </a:pPr>
            <a:r>
              <a:rPr sz="1400" b="0" i="0">
                <a:solidFill>
                  <a:srgbClr val="F2F5F8"/>
                </a:solidFill>
                <a:latin typeface="Montserrat"/>
              </a:rPr>
              <a:t>-  5 SFDC Campaign-creation tickets closed - directly ties to 5 of the 13 new Salesforce campaigns launched this period</a:t>
            </a:r>
          </a:p>
          <a:p>
            <a:pPr>
              <a:spcAft>
                <a:spcPts val="800"/>
              </a:spcAft>
            </a:pPr>
            <a:r>
              <a:rPr sz="1500" b="1" i="0">
                <a:solidFill>
                  <a:srgbClr val="14B8A6"/>
                </a:solidFill>
                <a:latin typeface="Montserrat"/>
              </a:rPr>
              <a:t>Watch items she owns</a:t>
            </a:r>
          </a:p>
          <a:p>
            <a:pPr>
              <a:spcAft>
                <a:spcPts val="800"/>
              </a:spcAft>
            </a:pPr>
            <a:r>
              <a:rPr sz="1400" b="0" i="0">
                <a:solidFill>
                  <a:srgbClr val="F2F5F8"/>
                </a:solidFill>
                <a:latin typeface="Montserrat"/>
              </a:rPr>
              <a:t>-  4 of her 5 SFDC-campaign tickets breached the 1-business-day SLA target (3-14 bd actual)</a:t>
            </a:r>
          </a:p>
          <a:p>
            <a:pPr>
              <a:spcAft>
                <a:spcPts val="800"/>
              </a:spcAft>
            </a:pPr>
            <a:r>
              <a:rPr sz="1400" b="0" i="0">
                <a:solidFill>
                  <a:srgbClr val="F2F5F8"/>
                </a:solidFill>
                <a:latin typeface="Montserrat"/>
              </a:rPr>
              <a:t>-  Carries the heaviest look-ahead load next week: 23 of 51 open tasks due (45%)</a:t>
            </a:r>
          </a:p>
        </p:txBody>
      </p:sp>
      <p:sp>
        <p:nvSpPr>
          <p:cNvPr id="8" name="TextBox 7"/>
          <p:cNvSpPr txBox="1"/>
          <p:nvPr/>
        </p:nvSpPr>
        <p:spPr>
          <a:xfrm>
            <a:off x="11612880" y="6473952"/>
            <a:ext cx="457200" cy="320040"/>
          </a:xfrm>
          <a:prstGeom prst="rect">
            <a:avLst/>
          </a:prstGeom>
          <a:noFill/>
        </p:spPr>
        <p:txBody>
          <a:bodyPr wrap="square">
            <a:spAutoFit/>
          </a:bodyPr>
          <a:lstStyle/>
          <a:p>
            <a:pPr algn="r"/>
            <a:r>
              <a:rPr sz="900" b="0" i="0">
                <a:solidFill>
                  <a:srgbClr val="9AA7B8"/>
                </a:solidFill>
                <a:latin typeface="Montserrat"/>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626"/>
        </a:solidFill>
        <a:effectLst/>
      </p:bgPr>
    </p:bg>
    <p:spTree>
      <p:nvGrpSpPr>
        <p:cNvPr id="1" name=""/>
        <p:cNvGrpSpPr/>
        <p:nvPr/>
      </p:nvGrpSpPr>
      <p:grpSpPr/>
      <p:sp>
        <p:nvSpPr>
          <p:cNvPr id="2" name="Rectangle 1"/>
          <p:cNvSpPr/>
          <p:nvPr/>
        </p:nvSpPr>
        <p:spPr>
          <a:xfrm>
            <a:off x="0" y="0"/>
            <a:ext cx="12191695" cy="63500"/>
          </a:xfrm>
          <a:prstGeom prst="rect">
            <a:avLst/>
          </a:prstGeom>
          <a:gradFill rotWithShape="1">
            <a:gsLst>
              <a:gs pos="0">
                <a:srgbClr val="14B8A6"/>
              </a:gs>
              <a:gs pos="25000">
                <a:srgbClr val="22C55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515600" cy="320040"/>
          </a:xfrm>
          <a:prstGeom prst="rect">
            <a:avLst/>
          </a:prstGeom>
          <a:noFill/>
        </p:spPr>
        <p:txBody>
          <a:bodyPr wrap="square">
            <a:spAutoFit/>
          </a:bodyPr>
          <a:lstStyle/>
          <a:p>
            <a:r>
              <a:rPr sz="1200" b="1" i="0">
                <a:solidFill>
                  <a:srgbClr val="3B82F6"/>
                </a:solidFill>
                <a:latin typeface="Montserrat"/>
              </a:rPr>
              <a:t>RETROSPECTIVE</a:t>
            </a:r>
          </a:p>
        </p:txBody>
      </p:sp>
      <p:sp>
        <p:nvSpPr>
          <p:cNvPr id="4" name="Rectangle 3"/>
          <p:cNvSpPr/>
          <p:nvPr/>
        </p:nvSpPr>
        <p:spPr>
          <a:xfrm>
            <a:off x="566928" y="621792"/>
            <a:ext cx="457200" cy="3175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749808"/>
            <a:ext cx="11064240" cy="640080"/>
          </a:xfrm>
          <a:prstGeom prst="rect">
            <a:avLst/>
          </a:prstGeom>
          <a:noFill/>
        </p:spPr>
        <p:txBody>
          <a:bodyPr wrap="square">
            <a:spAutoFit/>
          </a:bodyPr>
          <a:lstStyle/>
          <a:p>
            <a:r>
              <a:rPr sz="2600" b="1" i="0">
                <a:solidFill>
                  <a:srgbClr val="F2F5F8"/>
                </a:solidFill>
                <a:latin typeface="Montserrat ExtraBold"/>
              </a:rPr>
              <a:t>Team Performance Highlights</a:t>
            </a:r>
          </a:p>
        </p:txBody>
      </p:sp>
      <p:sp>
        <p:nvSpPr>
          <p:cNvPr id="6" name="TextBox 5"/>
          <p:cNvSpPr txBox="1"/>
          <p:nvPr/>
        </p:nvSpPr>
        <p:spPr>
          <a:xfrm>
            <a:off x="548640" y="1325880"/>
            <a:ext cx="11064240" cy="548640"/>
          </a:xfrm>
          <a:prstGeom prst="rect">
            <a:avLst/>
          </a:prstGeom>
          <a:noFill/>
        </p:spPr>
        <p:txBody>
          <a:bodyPr wrap="square">
            <a:spAutoFit/>
          </a:bodyPr>
          <a:lstStyle/>
          <a:p>
            <a:r>
              <a:rPr sz="1300" b="0" i="0">
                <a:solidFill>
                  <a:srgbClr val="9AA7B8"/>
                </a:solidFill>
                <a:latin typeface="Montserrat"/>
              </a:rPr>
              <a:t>Oct 15-21, 2026</a:t>
            </a:r>
          </a:p>
        </p:txBody>
      </p:sp>
      <p:sp>
        <p:nvSpPr>
          <p:cNvPr id="7" name="Rounded Rectangle 6"/>
          <p:cNvSpPr/>
          <p:nvPr/>
        </p:nvSpPr>
        <p:spPr>
          <a:xfrm>
            <a:off x="548640" y="2103120"/>
            <a:ext cx="3515258" cy="3931920"/>
          </a:xfrm>
          <a:prstGeom prst="roundRect">
            <a:avLst>
              <a:gd name="adj" fmla="val 4000"/>
            </a:avLst>
          </a:prstGeom>
          <a:solidFill>
            <a:srgbClr val="152033"/>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286000"/>
            <a:ext cx="3058058" cy="457200"/>
          </a:xfrm>
          <a:prstGeom prst="rect">
            <a:avLst/>
          </a:prstGeom>
          <a:noFill/>
        </p:spPr>
        <p:txBody>
          <a:bodyPr wrap="square">
            <a:spAutoFit/>
          </a:bodyPr>
          <a:lstStyle/>
          <a:p>
            <a:r>
              <a:rPr sz="1500" b="1" i="0">
                <a:solidFill>
                  <a:srgbClr val="3B82F6"/>
                </a:solidFill>
                <a:latin typeface="Montserrat ExtraBold"/>
              </a:rPr>
              <a:t>Harish Pandey</a:t>
            </a:r>
          </a:p>
        </p:txBody>
      </p:sp>
      <p:sp>
        <p:nvSpPr>
          <p:cNvPr id="9" name="TextBox 8"/>
          <p:cNvSpPr txBox="1"/>
          <p:nvPr/>
        </p:nvSpPr>
        <p:spPr>
          <a:xfrm>
            <a:off x="777240" y="2788920"/>
            <a:ext cx="3058058" cy="3017520"/>
          </a:xfrm>
          <a:prstGeom prst="rect">
            <a:avLst/>
          </a:prstGeom>
          <a:noFill/>
        </p:spPr>
        <p:txBody>
          <a:bodyPr wrap="square">
            <a:spAutoFit/>
          </a:bodyPr>
          <a:lstStyle/>
          <a:p>
            <a:pPr>
              <a:spcAft>
                <a:spcPts val="600"/>
              </a:spcAft>
            </a:pPr>
            <a:r>
              <a:rPr sz="1150" b="0" i="0">
                <a:solidFill>
                  <a:srgbClr val="F2F5F8"/>
                </a:solidFill>
                <a:latin typeface="Montserrat"/>
              </a:rPr>
              <a:t>-  9 completions: 7 Email/Nurture sends, 1 Other, 1 SFDC Campaigns (multiple)</a:t>
            </a:r>
          </a:p>
          <a:p>
            <a:pPr>
              <a:spcAft>
                <a:spcPts val="600"/>
              </a:spcAft>
            </a:pPr>
            <a:r>
              <a:rPr sz="1150" b="0" i="0">
                <a:solidFill>
                  <a:srgbClr val="F2F5F8"/>
                </a:solidFill>
                <a:latin typeface="Montserrat"/>
              </a:rPr>
              <a:t>-  Owns 6 of 8 upcoming email sends next week - 3 land same-day (10/27)</a:t>
            </a:r>
          </a:p>
        </p:txBody>
      </p:sp>
      <p:sp>
        <p:nvSpPr>
          <p:cNvPr id="10" name="Rounded Rectangle 9"/>
          <p:cNvSpPr/>
          <p:nvPr/>
        </p:nvSpPr>
        <p:spPr>
          <a:xfrm>
            <a:off x="4338218" y="2103120"/>
            <a:ext cx="3515258" cy="3931920"/>
          </a:xfrm>
          <a:prstGeom prst="roundRect">
            <a:avLst>
              <a:gd name="adj" fmla="val 4000"/>
            </a:avLst>
          </a:prstGeom>
          <a:solidFill>
            <a:srgbClr val="152033"/>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6818" y="2286000"/>
            <a:ext cx="3058058" cy="457200"/>
          </a:xfrm>
          <a:prstGeom prst="rect">
            <a:avLst/>
          </a:prstGeom>
          <a:noFill/>
        </p:spPr>
        <p:txBody>
          <a:bodyPr wrap="square">
            <a:spAutoFit/>
          </a:bodyPr>
          <a:lstStyle/>
          <a:p>
            <a:r>
              <a:rPr sz="1500" b="1" i="0">
                <a:solidFill>
                  <a:srgbClr val="3B82F6"/>
                </a:solidFill>
                <a:latin typeface="Montserrat ExtraBold"/>
              </a:rPr>
              <a:t>Felipe Tencio</a:t>
            </a:r>
          </a:p>
        </p:txBody>
      </p:sp>
      <p:sp>
        <p:nvSpPr>
          <p:cNvPr id="12" name="TextBox 11"/>
          <p:cNvSpPr txBox="1"/>
          <p:nvPr/>
        </p:nvSpPr>
        <p:spPr>
          <a:xfrm>
            <a:off x="4566818" y="2788920"/>
            <a:ext cx="3058058" cy="3017520"/>
          </a:xfrm>
          <a:prstGeom prst="rect">
            <a:avLst/>
          </a:prstGeom>
          <a:noFill/>
        </p:spPr>
        <p:txBody>
          <a:bodyPr wrap="square">
            <a:spAutoFit/>
          </a:bodyPr>
          <a:lstStyle/>
          <a:p>
            <a:pPr>
              <a:spcAft>
                <a:spcPts val="600"/>
              </a:spcAft>
            </a:pPr>
            <a:r>
              <a:rPr sz="1150" b="0" i="0">
                <a:solidFill>
                  <a:srgbClr val="F2F5F8"/>
                </a:solidFill>
                <a:latin typeface="Montserrat"/>
              </a:rPr>
              <a:t>-  11 completions: 7 Audiences pulls, 4 untyped (null Project Type)</a:t>
            </a:r>
          </a:p>
          <a:p>
            <a:pPr>
              <a:spcAft>
                <a:spcPts val="600"/>
              </a:spcAft>
            </a:pPr>
            <a:r>
              <a:rPr sz="1150" b="0" i="0">
                <a:solidFill>
                  <a:srgbClr val="F2F5F8"/>
                </a:solidFill>
                <a:latin typeface="Montserrat"/>
              </a:rPr>
              <a:t>-  Audiences remains his full focus - 6 open Audiences tickets on the board</a:t>
            </a:r>
          </a:p>
        </p:txBody>
      </p:sp>
      <p:sp>
        <p:nvSpPr>
          <p:cNvPr id="13" name="Rounded Rectangle 12"/>
          <p:cNvSpPr/>
          <p:nvPr/>
        </p:nvSpPr>
        <p:spPr>
          <a:xfrm>
            <a:off x="8127796" y="2103120"/>
            <a:ext cx="3515258" cy="3931920"/>
          </a:xfrm>
          <a:prstGeom prst="roundRect">
            <a:avLst>
              <a:gd name="adj" fmla="val 4000"/>
            </a:avLst>
          </a:prstGeom>
          <a:solidFill>
            <a:srgbClr val="152033"/>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56396" y="2286000"/>
            <a:ext cx="3058058" cy="457200"/>
          </a:xfrm>
          <a:prstGeom prst="rect">
            <a:avLst/>
          </a:prstGeom>
          <a:noFill/>
        </p:spPr>
        <p:txBody>
          <a:bodyPr wrap="square">
            <a:spAutoFit/>
          </a:bodyPr>
          <a:lstStyle/>
          <a:p>
            <a:r>
              <a:rPr sz="1500" b="1" i="0">
                <a:solidFill>
                  <a:srgbClr val="3B82F6"/>
                </a:solidFill>
                <a:latin typeface="Montserrat ExtraBold"/>
              </a:rPr>
              <a:t>Jennifer S.</a:t>
            </a:r>
          </a:p>
        </p:txBody>
      </p:sp>
      <p:sp>
        <p:nvSpPr>
          <p:cNvPr id="15" name="TextBox 14"/>
          <p:cNvSpPr txBox="1"/>
          <p:nvPr/>
        </p:nvSpPr>
        <p:spPr>
          <a:xfrm>
            <a:off x="8356396" y="2788920"/>
            <a:ext cx="3058058" cy="3017520"/>
          </a:xfrm>
          <a:prstGeom prst="rect">
            <a:avLst/>
          </a:prstGeom>
          <a:noFill/>
        </p:spPr>
        <p:txBody>
          <a:bodyPr wrap="square">
            <a:spAutoFit/>
          </a:bodyPr>
          <a:lstStyle/>
          <a:p>
            <a:pPr>
              <a:spcAft>
                <a:spcPts val="600"/>
              </a:spcAft>
            </a:pPr>
            <a:r>
              <a:rPr sz="1150" b="0" i="0">
                <a:solidFill>
                  <a:srgbClr val="F2F5F8"/>
                </a:solidFill>
                <a:latin typeface="Montserrat"/>
              </a:rPr>
              <a:t>-  0 completions this week</a:t>
            </a:r>
          </a:p>
          <a:p>
            <a:pPr>
              <a:spcAft>
                <a:spcPts val="600"/>
              </a:spcAft>
            </a:pPr>
            <a:r>
              <a:rPr sz="1150" b="0" i="0">
                <a:solidFill>
                  <a:srgbClr val="F2F5F8"/>
                </a:solidFill>
                <a:latin typeface="Montserrat"/>
              </a:rPr>
              <a:t>-  Owns the Urgent, 34-days-overdue Meta Lead Forms integration - unescalated</a:t>
            </a:r>
          </a:p>
          <a:p>
            <a:pPr>
              <a:spcAft>
                <a:spcPts val="600"/>
              </a:spcAft>
            </a:pPr>
            <a:r>
              <a:rPr sz="1150" b="0" i="0">
                <a:solidFill>
                  <a:srgbClr val="F2F5F8"/>
                </a:solidFill>
                <a:latin typeface="Montserrat"/>
              </a:rPr>
              <a:t>-  Also owns one of the 2 duplicate Zapier-LinkedIn tickets (downgraded to Medium/No)</a:t>
            </a:r>
          </a:p>
        </p:txBody>
      </p:sp>
      <p:sp>
        <p:nvSpPr>
          <p:cNvPr id="16" name="TextBox 15"/>
          <p:cNvSpPr txBox="1"/>
          <p:nvPr/>
        </p:nvSpPr>
        <p:spPr>
          <a:xfrm>
            <a:off x="11612880" y="6473952"/>
            <a:ext cx="457200" cy="320040"/>
          </a:xfrm>
          <a:prstGeom prst="rect">
            <a:avLst/>
          </a:prstGeom>
          <a:noFill/>
        </p:spPr>
        <p:txBody>
          <a:bodyPr wrap="square">
            <a:spAutoFit/>
          </a:bodyPr>
          <a:lstStyle/>
          <a:p>
            <a:pPr algn="r"/>
            <a:r>
              <a:rPr sz="900" b="0" i="0">
                <a:solidFill>
                  <a:srgbClr val="9AA7B8"/>
                </a:solidFill>
                <a:latin typeface="Montserrat"/>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626"/>
        </a:solidFill>
        <a:effectLst/>
      </p:bgPr>
    </p:bg>
    <p:spTree>
      <p:nvGrpSpPr>
        <p:cNvPr id="1" name=""/>
        <p:cNvGrpSpPr/>
        <p:nvPr/>
      </p:nvGrpSpPr>
      <p:grpSpPr/>
      <p:sp>
        <p:nvSpPr>
          <p:cNvPr id="2" name="Rectangle 1"/>
          <p:cNvSpPr/>
          <p:nvPr/>
        </p:nvSpPr>
        <p:spPr>
          <a:xfrm>
            <a:off x="0" y="0"/>
            <a:ext cx="12191695" cy="63500"/>
          </a:xfrm>
          <a:prstGeom prst="rect">
            <a:avLst/>
          </a:prstGeom>
          <a:gradFill rotWithShape="1">
            <a:gsLst>
              <a:gs pos="0">
                <a:srgbClr val="14B8A6"/>
              </a:gs>
              <a:gs pos="25000">
                <a:srgbClr val="22C55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10058400" cy="365760"/>
          </a:xfrm>
          <a:prstGeom prst="rect">
            <a:avLst/>
          </a:prstGeom>
          <a:noFill/>
        </p:spPr>
        <p:txBody>
          <a:bodyPr wrap="square">
            <a:spAutoFit/>
          </a:bodyPr>
          <a:lstStyle/>
          <a:p>
            <a:r>
              <a:rPr sz="1400" b="1" i="0">
                <a:solidFill>
                  <a:srgbClr val="F97316"/>
                </a:solidFill>
                <a:latin typeface="Montserrat"/>
              </a:rPr>
              <a:t>LOOK AHEAD</a:t>
            </a:r>
          </a:p>
        </p:txBody>
      </p:sp>
      <p:sp>
        <p:nvSpPr>
          <p:cNvPr id="4" name="TextBox 3"/>
          <p:cNvSpPr txBox="1"/>
          <p:nvPr/>
        </p:nvSpPr>
        <p:spPr>
          <a:xfrm>
            <a:off x="914400" y="3108960"/>
            <a:ext cx="10058400" cy="822960"/>
          </a:xfrm>
          <a:prstGeom prst="rect">
            <a:avLst/>
          </a:prstGeom>
          <a:noFill/>
        </p:spPr>
        <p:txBody>
          <a:bodyPr wrap="square">
            <a:spAutoFit/>
          </a:bodyPr>
          <a:lstStyle/>
          <a:p>
            <a:r>
              <a:rPr sz="3600" b="1" i="0">
                <a:solidFill>
                  <a:srgbClr val="F2F5F8"/>
                </a:solidFill>
                <a:latin typeface="Montserrat ExtraBold"/>
              </a:rPr>
              <a:t>Planning Next Week</a:t>
            </a:r>
          </a:p>
        </p:txBody>
      </p:sp>
      <p:sp>
        <p:nvSpPr>
          <p:cNvPr id="5" name="TextBox 4"/>
          <p:cNvSpPr txBox="1"/>
          <p:nvPr/>
        </p:nvSpPr>
        <p:spPr>
          <a:xfrm>
            <a:off x="914400" y="3931920"/>
            <a:ext cx="10058400" cy="457200"/>
          </a:xfrm>
          <a:prstGeom prst="rect">
            <a:avLst/>
          </a:prstGeom>
          <a:noFill/>
        </p:spPr>
        <p:txBody>
          <a:bodyPr wrap="square">
            <a:spAutoFit/>
          </a:bodyPr>
          <a:lstStyle/>
          <a:p>
            <a:r>
              <a:rPr sz="1500" b="0" i="0">
                <a:solidFill>
                  <a:srgbClr val="9AA7B8"/>
                </a:solidFill>
                <a:latin typeface="Montserrat"/>
              </a:rPr>
              <a:t>Oct 22 - Nov 1, 2026</a:t>
            </a:r>
          </a:p>
        </p:txBody>
      </p:sp>
      <p:sp>
        <p:nvSpPr>
          <p:cNvPr id="6" name="TextBox 5"/>
          <p:cNvSpPr txBox="1"/>
          <p:nvPr/>
        </p:nvSpPr>
        <p:spPr>
          <a:xfrm>
            <a:off x="11612880" y="6473952"/>
            <a:ext cx="457200" cy="320040"/>
          </a:xfrm>
          <a:prstGeom prst="rect">
            <a:avLst/>
          </a:prstGeom>
          <a:noFill/>
        </p:spPr>
        <p:txBody>
          <a:bodyPr wrap="square">
            <a:spAutoFit/>
          </a:bodyPr>
          <a:lstStyle/>
          <a:p>
            <a:pPr algn="r"/>
            <a:r>
              <a:rPr sz="900" b="0" i="0">
                <a:solidFill>
                  <a:srgbClr val="9AA7B8"/>
                </a:solidFill>
                <a:latin typeface="Montserra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626"/>
        </a:solidFill>
        <a:effectLst/>
      </p:bgPr>
    </p:bg>
    <p:spTree>
      <p:nvGrpSpPr>
        <p:cNvPr id="1" name=""/>
        <p:cNvGrpSpPr/>
        <p:nvPr/>
      </p:nvGrpSpPr>
      <p:grpSpPr/>
      <p:sp>
        <p:nvSpPr>
          <p:cNvPr id="2" name="Rectangle 1"/>
          <p:cNvSpPr/>
          <p:nvPr/>
        </p:nvSpPr>
        <p:spPr>
          <a:xfrm>
            <a:off x="0" y="0"/>
            <a:ext cx="12191695" cy="63500"/>
          </a:xfrm>
          <a:prstGeom prst="rect">
            <a:avLst/>
          </a:prstGeom>
          <a:gradFill rotWithShape="1">
            <a:gsLst>
              <a:gs pos="0">
                <a:srgbClr val="14B8A6"/>
              </a:gs>
              <a:gs pos="25000">
                <a:srgbClr val="22C55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515600" cy="320040"/>
          </a:xfrm>
          <a:prstGeom prst="rect">
            <a:avLst/>
          </a:prstGeom>
          <a:noFill/>
        </p:spPr>
        <p:txBody>
          <a:bodyPr wrap="square">
            <a:spAutoFit/>
          </a:bodyPr>
          <a:lstStyle/>
          <a:p>
            <a:r>
              <a:rPr sz="1200" b="1" i="0">
                <a:solidFill>
                  <a:srgbClr val="F97316"/>
                </a:solidFill>
                <a:latin typeface="Montserrat"/>
              </a:rPr>
              <a:t>LOOK AHEAD</a:t>
            </a:r>
          </a:p>
        </p:txBody>
      </p:sp>
      <p:sp>
        <p:nvSpPr>
          <p:cNvPr id="4" name="Rectangle 3"/>
          <p:cNvSpPr/>
          <p:nvPr/>
        </p:nvSpPr>
        <p:spPr>
          <a:xfrm>
            <a:off x="566928" y="621792"/>
            <a:ext cx="457200" cy="3175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749808"/>
            <a:ext cx="11064240" cy="640080"/>
          </a:xfrm>
          <a:prstGeom prst="rect">
            <a:avLst/>
          </a:prstGeom>
          <a:noFill/>
        </p:spPr>
        <p:txBody>
          <a:bodyPr wrap="square">
            <a:spAutoFit/>
          </a:bodyPr>
          <a:lstStyle/>
          <a:p>
            <a:r>
              <a:rPr sz="2600" b="1" i="0">
                <a:solidFill>
                  <a:srgbClr val="F2F5F8"/>
                </a:solidFill>
                <a:latin typeface="Montserrat ExtraBold"/>
              </a:rPr>
              <a:t>Upcoming Tasks by Team Member</a:t>
            </a:r>
          </a:p>
        </p:txBody>
      </p:sp>
      <p:sp>
        <p:nvSpPr>
          <p:cNvPr id="6" name="TextBox 5"/>
          <p:cNvSpPr txBox="1"/>
          <p:nvPr/>
        </p:nvSpPr>
        <p:spPr>
          <a:xfrm>
            <a:off x="548640" y="1325880"/>
            <a:ext cx="11064240" cy="548640"/>
          </a:xfrm>
          <a:prstGeom prst="rect">
            <a:avLst/>
          </a:prstGeom>
          <a:noFill/>
        </p:spPr>
        <p:txBody>
          <a:bodyPr wrap="square">
            <a:spAutoFit/>
          </a:bodyPr>
          <a:lstStyle/>
          <a:p>
            <a:r>
              <a:rPr sz="1300" b="0" i="0">
                <a:solidFill>
                  <a:srgbClr val="9AA7B8"/>
                </a:solidFill>
                <a:latin typeface="Montserrat"/>
              </a:rPr>
              <a:t>Oct 22 - Nov 1, 2026</a:t>
            </a:r>
          </a:p>
        </p:txBody>
      </p:sp>
      <p:sp>
        <p:nvSpPr>
          <p:cNvPr id="7" name="TextBox 6"/>
          <p:cNvSpPr txBox="1"/>
          <p:nvPr/>
        </p:nvSpPr>
        <p:spPr>
          <a:xfrm>
            <a:off x="548640" y="2103120"/>
            <a:ext cx="2103120" cy="502920"/>
          </a:xfrm>
          <a:prstGeom prst="rect">
            <a:avLst/>
          </a:prstGeom>
          <a:noFill/>
        </p:spPr>
        <p:txBody>
          <a:bodyPr wrap="square">
            <a:spAutoFit/>
          </a:bodyPr>
          <a:lstStyle/>
          <a:p>
            <a:r>
              <a:rPr sz="1200" b="0" i="0">
                <a:solidFill>
                  <a:srgbClr val="F2F5F8"/>
                </a:solidFill>
                <a:latin typeface="Montserrat"/>
              </a:rPr>
              <a:t>Aayushi Sharma</a:t>
            </a:r>
          </a:p>
        </p:txBody>
      </p:sp>
      <p:sp>
        <p:nvSpPr>
          <p:cNvPr id="8" name="Rectangle 7"/>
          <p:cNvSpPr/>
          <p:nvPr/>
        </p:nvSpPr>
        <p:spPr>
          <a:xfrm>
            <a:off x="2743200" y="2148840"/>
            <a:ext cx="8686800" cy="292608"/>
          </a:xfrm>
          <a:prstGeom prst="rect">
            <a:avLst/>
          </a:prstGeom>
          <a:solidFill>
            <a:srgbClr val="15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0" y="2148840"/>
            <a:ext cx="8686800" cy="29260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21440" y="2103120"/>
            <a:ext cx="548640" cy="502920"/>
          </a:xfrm>
          <a:prstGeom prst="rect">
            <a:avLst/>
          </a:prstGeom>
          <a:noFill/>
        </p:spPr>
        <p:txBody>
          <a:bodyPr wrap="square">
            <a:spAutoFit/>
          </a:bodyPr>
          <a:lstStyle/>
          <a:p>
            <a:r>
              <a:rPr sz="1200" b="1" i="0">
                <a:solidFill>
                  <a:srgbClr val="F2F5F8"/>
                </a:solidFill>
                <a:latin typeface="Montserrat"/>
              </a:rPr>
              <a:t>23</a:t>
            </a:r>
          </a:p>
        </p:txBody>
      </p:sp>
      <p:sp>
        <p:nvSpPr>
          <p:cNvPr id="11" name="TextBox 10"/>
          <p:cNvSpPr txBox="1"/>
          <p:nvPr/>
        </p:nvSpPr>
        <p:spPr>
          <a:xfrm>
            <a:off x="548640" y="2679192"/>
            <a:ext cx="2103120" cy="502920"/>
          </a:xfrm>
          <a:prstGeom prst="rect">
            <a:avLst/>
          </a:prstGeom>
          <a:noFill/>
        </p:spPr>
        <p:txBody>
          <a:bodyPr wrap="square">
            <a:spAutoFit/>
          </a:bodyPr>
          <a:lstStyle/>
          <a:p>
            <a:r>
              <a:rPr sz="1200" b="0" i="0">
                <a:solidFill>
                  <a:srgbClr val="F2F5F8"/>
                </a:solidFill>
                <a:latin typeface="Montserrat"/>
              </a:rPr>
              <a:t>Harish Pandey</a:t>
            </a:r>
          </a:p>
        </p:txBody>
      </p:sp>
      <p:sp>
        <p:nvSpPr>
          <p:cNvPr id="12" name="Rectangle 11"/>
          <p:cNvSpPr/>
          <p:nvPr/>
        </p:nvSpPr>
        <p:spPr>
          <a:xfrm>
            <a:off x="2743200" y="2724912"/>
            <a:ext cx="8686800" cy="292608"/>
          </a:xfrm>
          <a:prstGeom prst="rect">
            <a:avLst/>
          </a:prstGeom>
          <a:solidFill>
            <a:srgbClr val="15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0" y="2724912"/>
            <a:ext cx="4909930" cy="29260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521440" y="2679192"/>
            <a:ext cx="548640" cy="502920"/>
          </a:xfrm>
          <a:prstGeom prst="rect">
            <a:avLst/>
          </a:prstGeom>
          <a:noFill/>
        </p:spPr>
        <p:txBody>
          <a:bodyPr wrap="square">
            <a:spAutoFit/>
          </a:bodyPr>
          <a:lstStyle/>
          <a:p>
            <a:r>
              <a:rPr sz="1200" b="1" i="0">
                <a:solidFill>
                  <a:srgbClr val="F2F5F8"/>
                </a:solidFill>
                <a:latin typeface="Montserrat"/>
              </a:rPr>
              <a:t>13</a:t>
            </a:r>
          </a:p>
        </p:txBody>
      </p:sp>
      <p:sp>
        <p:nvSpPr>
          <p:cNvPr id="15" name="TextBox 14"/>
          <p:cNvSpPr txBox="1"/>
          <p:nvPr/>
        </p:nvSpPr>
        <p:spPr>
          <a:xfrm>
            <a:off x="548640" y="3255264"/>
            <a:ext cx="2103120" cy="502920"/>
          </a:xfrm>
          <a:prstGeom prst="rect">
            <a:avLst/>
          </a:prstGeom>
          <a:noFill/>
        </p:spPr>
        <p:txBody>
          <a:bodyPr wrap="square">
            <a:spAutoFit/>
          </a:bodyPr>
          <a:lstStyle/>
          <a:p>
            <a:r>
              <a:rPr sz="1200" b="0" i="0">
                <a:solidFill>
                  <a:srgbClr val="F2F5F8"/>
                </a:solidFill>
                <a:latin typeface="Montserrat"/>
              </a:rPr>
              <a:t>Felipe Tencio</a:t>
            </a:r>
          </a:p>
        </p:txBody>
      </p:sp>
      <p:sp>
        <p:nvSpPr>
          <p:cNvPr id="16" name="Rectangle 15"/>
          <p:cNvSpPr/>
          <p:nvPr/>
        </p:nvSpPr>
        <p:spPr>
          <a:xfrm>
            <a:off x="2743200" y="3300984"/>
            <a:ext cx="8686800" cy="292608"/>
          </a:xfrm>
          <a:prstGeom prst="rect">
            <a:avLst/>
          </a:prstGeom>
          <a:solidFill>
            <a:srgbClr val="15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0" y="3300984"/>
            <a:ext cx="2643808" cy="29260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521440" y="3255264"/>
            <a:ext cx="548640" cy="502920"/>
          </a:xfrm>
          <a:prstGeom prst="rect">
            <a:avLst/>
          </a:prstGeom>
          <a:noFill/>
        </p:spPr>
        <p:txBody>
          <a:bodyPr wrap="square">
            <a:spAutoFit/>
          </a:bodyPr>
          <a:lstStyle/>
          <a:p>
            <a:r>
              <a:rPr sz="1200" b="1" i="0">
                <a:solidFill>
                  <a:srgbClr val="F2F5F8"/>
                </a:solidFill>
                <a:latin typeface="Montserrat"/>
              </a:rPr>
              <a:t>7</a:t>
            </a:r>
          </a:p>
        </p:txBody>
      </p:sp>
      <p:sp>
        <p:nvSpPr>
          <p:cNvPr id="19" name="TextBox 18"/>
          <p:cNvSpPr txBox="1"/>
          <p:nvPr/>
        </p:nvSpPr>
        <p:spPr>
          <a:xfrm>
            <a:off x="548640" y="3831336"/>
            <a:ext cx="2103120" cy="502920"/>
          </a:xfrm>
          <a:prstGeom prst="rect">
            <a:avLst/>
          </a:prstGeom>
          <a:noFill/>
        </p:spPr>
        <p:txBody>
          <a:bodyPr wrap="square">
            <a:spAutoFit/>
          </a:bodyPr>
          <a:lstStyle/>
          <a:p>
            <a:r>
              <a:rPr sz="1200" b="0" i="0">
                <a:solidFill>
                  <a:srgbClr val="F2F5F8"/>
                </a:solidFill>
                <a:latin typeface="Montserrat"/>
              </a:rPr>
              <a:t>Unassigned</a:t>
            </a:r>
          </a:p>
        </p:txBody>
      </p:sp>
      <p:sp>
        <p:nvSpPr>
          <p:cNvPr id="20" name="Rectangle 19"/>
          <p:cNvSpPr/>
          <p:nvPr/>
        </p:nvSpPr>
        <p:spPr>
          <a:xfrm>
            <a:off x="2743200" y="3877056"/>
            <a:ext cx="8686800" cy="292608"/>
          </a:xfrm>
          <a:prstGeom prst="rect">
            <a:avLst/>
          </a:prstGeom>
          <a:solidFill>
            <a:srgbClr val="15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43200" y="3877056"/>
            <a:ext cx="2643808" cy="29260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521440" y="3831336"/>
            <a:ext cx="548640" cy="502920"/>
          </a:xfrm>
          <a:prstGeom prst="rect">
            <a:avLst/>
          </a:prstGeom>
          <a:noFill/>
        </p:spPr>
        <p:txBody>
          <a:bodyPr wrap="square">
            <a:spAutoFit/>
          </a:bodyPr>
          <a:lstStyle/>
          <a:p>
            <a:r>
              <a:rPr sz="1200" b="1" i="0">
                <a:solidFill>
                  <a:srgbClr val="F2F5F8"/>
                </a:solidFill>
                <a:latin typeface="Montserrat"/>
              </a:rPr>
              <a:t>7</a:t>
            </a:r>
          </a:p>
        </p:txBody>
      </p:sp>
      <p:sp>
        <p:nvSpPr>
          <p:cNvPr id="23" name="TextBox 22"/>
          <p:cNvSpPr txBox="1"/>
          <p:nvPr/>
        </p:nvSpPr>
        <p:spPr>
          <a:xfrm>
            <a:off x="548640" y="4407408"/>
            <a:ext cx="2103120" cy="502920"/>
          </a:xfrm>
          <a:prstGeom prst="rect">
            <a:avLst/>
          </a:prstGeom>
          <a:noFill/>
        </p:spPr>
        <p:txBody>
          <a:bodyPr wrap="square">
            <a:spAutoFit/>
          </a:bodyPr>
          <a:lstStyle/>
          <a:p>
            <a:r>
              <a:rPr sz="1200" b="0" i="0">
                <a:solidFill>
                  <a:srgbClr val="F2F5F8"/>
                </a:solidFill>
                <a:latin typeface="Montserrat"/>
              </a:rPr>
              <a:t>Shannon Bystock</a:t>
            </a:r>
          </a:p>
        </p:txBody>
      </p:sp>
      <p:sp>
        <p:nvSpPr>
          <p:cNvPr id="24" name="Rectangle 23"/>
          <p:cNvSpPr/>
          <p:nvPr/>
        </p:nvSpPr>
        <p:spPr>
          <a:xfrm>
            <a:off x="2743200" y="4453128"/>
            <a:ext cx="8686800" cy="292608"/>
          </a:xfrm>
          <a:prstGeom prst="rect">
            <a:avLst/>
          </a:prstGeom>
          <a:solidFill>
            <a:srgbClr val="15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743200" y="4453128"/>
            <a:ext cx="377686" cy="29260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521440" y="4407408"/>
            <a:ext cx="548640" cy="502920"/>
          </a:xfrm>
          <a:prstGeom prst="rect">
            <a:avLst/>
          </a:prstGeom>
          <a:noFill/>
        </p:spPr>
        <p:txBody>
          <a:bodyPr wrap="square">
            <a:spAutoFit/>
          </a:bodyPr>
          <a:lstStyle/>
          <a:p>
            <a:r>
              <a:rPr sz="1200" b="1" i="0">
                <a:solidFill>
                  <a:srgbClr val="F2F5F8"/>
                </a:solidFill>
                <a:latin typeface="Montserrat"/>
              </a:rPr>
              <a:t>1</a:t>
            </a:r>
          </a:p>
        </p:txBody>
      </p:sp>
      <p:sp>
        <p:nvSpPr>
          <p:cNvPr id="27" name="TextBox 26"/>
          <p:cNvSpPr txBox="1"/>
          <p:nvPr/>
        </p:nvSpPr>
        <p:spPr>
          <a:xfrm>
            <a:off x="548640" y="5943600"/>
            <a:ext cx="7315200" cy="365760"/>
          </a:xfrm>
          <a:prstGeom prst="rect">
            <a:avLst/>
          </a:prstGeom>
          <a:noFill/>
        </p:spPr>
        <p:txBody>
          <a:bodyPr wrap="square">
            <a:spAutoFit/>
          </a:bodyPr>
          <a:lstStyle/>
          <a:p>
            <a:r>
              <a:rPr sz="1400" b="1" i="0">
                <a:solidFill>
                  <a:srgbClr val="F97316"/>
                </a:solidFill>
                <a:latin typeface="Montserrat"/>
              </a:rPr>
              <a:t>Total Capacity Required: 51 Tasks</a:t>
            </a:r>
          </a:p>
        </p:txBody>
      </p:sp>
      <p:sp>
        <p:nvSpPr>
          <p:cNvPr id="28" name="TextBox 27"/>
          <p:cNvSpPr txBox="1"/>
          <p:nvPr/>
        </p:nvSpPr>
        <p:spPr>
          <a:xfrm>
            <a:off x="548640" y="6355080"/>
            <a:ext cx="11064240" cy="457200"/>
          </a:xfrm>
          <a:prstGeom prst="rect">
            <a:avLst/>
          </a:prstGeom>
          <a:noFill/>
        </p:spPr>
        <p:txBody>
          <a:bodyPr wrap="square">
            <a:spAutoFit/>
          </a:bodyPr>
          <a:lstStyle/>
          <a:p>
            <a:r>
              <a:rPr sz="750" b="0" i="1">
                <a:solidFill>
                  <a:srgbClr val="9AA7B8"/>
                </a:solidFill>
                <a:latin typeface="Montserrat"/>
              </a:rPr>
              <a:t>Source: Asana search_tasks, due_on 2026-10-22..2026-11-01, completed=false, queried 2026-10-22.</a:t>
            </a:r>
          </a:p>
        </p:txBody>
      </p:sp>
      <p:sp>
        <p:nvSpPr>
          <p:cNvPr id="29" name="TextBox 28"/>
          <p:cNvSpPr txBox="1"/>
          <p:nvPr/>
        </p:nvSpPr>
        <p:spPr>
          <a:xfrm>
            <a:off x="11612880" y="6473952"/>
            <a:ext cx="457200" cy="320040"/>
          </a:xfrm>
          <a:prstGeom prst="rect">
            <a:avLst/>
          </a:prstGeom>
          <a:noFill/>
        </p:spPr>
        <p:txBody>
          <a:bodyPr wrap="square">
            <a:spAutoFit/>
          </a:bodyPr>
          <a:lstStyle/>
          <a:p>
            <a:pPr algn="r"/>
            <a:r>
              <a:rPr sz="900" b="0" i="0">
                <a:solidFill>
                  <a:srgbClr val="9AA7B8"/>
                </a:solidFill>
                <a:latin typeface="Montserra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626"/>
        </a:solidFill>
        <a:effectLst/>
      </p:bgPr>
    </p:bg>
    <p:spTree>
      <p:nvGrpSpPr>
        <p:cNvPr id="1" name=""/>
        <p:cNvGrpSpPr/>
        <p:nvPr/>
      </p:nvGrpSpPr>
      <p:grpSpPr/>
      <p:sp>
        <p:nvSpPr>
          <p:cNvPr id="2" name="Rectangle 1"/>
          <p:cNvSpPr/>
          <p:nvPr/>
        </p:nvSpPr>
        <p:spPr>
          <a:xfrm>
            <a:off x="0" y="0"/>
            <a:ext cx="12191695" cy="63500"/>
          </a:xfrm>
          <a:prstGeom prst="rect">
            <a:avLst/>
          </a:prstGeom>
          <a:gradFill rotWithShape="1">
            <a:gsLst>
              <a:gs pos="0">
                <a:srgbClr val="14B8A6"/>
              </a:gs>
              <a:gs pos="25000">
                <a:srgbClr val="22C55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515600" cy="320040"/>
          </a:xfrm>
          <a:prstGeom prst="rect">
            <a:avLst/>
          </a:prstGeom>
          <a:noFill/>
        </p:spPr>
        <p:txBody>
          <a:bodyPr wrap="square">
            <a:spAutoFit/>
          </a:bodyPr>
          <a:lstStyle/>
          <a:p>
            <a:r>
              <a:rPr sz="1200" b="1" i="0">
                <a:solidFill>
                  <a:srgbClr val="F97316"/>
                </a:solidFill>
                <a:latin typeface="Montserrat"/>
              </a:rPr>
              <a:t>LOOK AHEAD</a:t>
            </a:r>
          </a:p>
        </p:txBody>
      </p:sp>
      <p:sp>
        <p:nvSpPr>
          <p:cNvPr id="4" name="Rectangle 3"/>
          <p:cNvSpPr/>
          <p:nvPr/>
        </p:nvSpPr>
        <p:spPr>
          <a:xfrm>
            <a:off x="566928" y="621792"/>
            <a:ext cx="457200" cy="3175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749808"/>
            <a:ext cx="11064240" cy="640080"/>
          </a:xfrm>
          <a:prstGeom prst="rect">
            <a:avLst/>
          </a:prstGeom>
          <a:noFill/>
        </p:spPr>
        <p:txBody>
          <a:bodyPr wrap="square">
            <a:spAutoFit/>
          </a:bodyPr>
          <a:lstStyle/>
          <a:p>
            <a:r>
              <a:rPr sz="2600" b="1" i="0">
                <a:solidFill>
                  <a:srgbClr val="F2F5F8"/>
                </a:solidFill>
                <a:latin typeface="Montserrat ExtraBold"/>
              </a:rPr>
              <a:t>Upcoming Email Sends Next Week</a:t>
            </a:r>
          </a:p>
        </p:txBody>
      </p:sp>
      <p:sp>
        <p:nvSpPr>
          <p:cNvPr id="6" name="TextBox 5"/>
          <p:cNvSpPr txBox="1"/>
          <p:nvPr/>
        </p:nvSpPr>
        <p:spPr>
          <a:xfrm>
            <a:off x="548640" y="1325880"/>
            <a:ext cx="11064240" cy="548640"/>
          </a:xfrm>
          <a:prstGeom prst="rect">
            <a:avLst/>
          </a:prstGeom>
          <a:noFill/>
        </p:spPr>
        <p:txBody>
          <a:bodyPr wrap="square">
            <a:spAutoFit/>
          </a:bodyPr>
          <a:lstStyle/>
          <a:p>
            <a:r>
              <a:rPr sz="1300" b="0" i="0">
                <a:solidFill>
                  <a:srgbClr val="9AA7B8"/>
                </a:solidFill>
                <a:latin typeface="Montserrat"/>
              </a:rPr>
              <a:t>Oct 22 - Nov 1, 2026</a:t>
            </a:r>
          </a:p>
        </p:txBody>
      </p:sp>
      <p:graphicFrame>
        <p:nvGraphicFramePr>
          <p:cNvPr id="7" name="Table 6"/>
          <p:cNvGraphicFramePr>
            <a:graphicFrameLocks noGrp="1"/>
          </p:cNvGraphicFramePr>
          <p:nvPr/>
        </p:nvGraphicFramePr>
        <p:xfrm>
          <a:off x="548640" y="2057400"/>
          <a:ext cx="11064238" cy="4114800"/>
        </p:xfrm>
        <a:graphic>
          <a:graphicData uri="http://schemas.openxmlformats.org/drawingml/2006/table">
            <a:tbl>
              <a:tblPr firstRow="1" bandRow="1">
                <a:tableStyleId>{5C22544A-7EE6-4342-B048-85BDC9FD1C3A}</a:tableStyleId>
              </a:tblPr>
              <a:tblGrid>
                <a:gridCol w="5667049"/>
                <a:gridCol w="1754086"/>
                <a:gridCol w="1619157"/>
                <a:gridCol w="2023946"/>
              </a:tblGrid>
              <a:tr h="457200">
                <a:tc>
                  <a:txBody>
                    <a:bodyPr tIns="25400" bIns="25400"/>
                    <a:lstStyle/>
                    <a:p>
                      <a:r>
                        <a:rPr sz="1050" b="1" i="0">
                          <a:solidFill>
                            <a:srgbClr val="F97316"/>
                          </a:solidFill>
                          <a:latin typeface="Montserrat"/>
                        </a:rPr>
                        <a:t>SEND / CAMPAIGN NAME</a:t>
                      </a:r>
                    </a:p>
                  </a:txBody>
                  <a:tcPr>
                    <a:solidFill>
                      <a:srgbClr val="152033"/>
                    </a:solidFill>
                  </a:tcPr>
                </a:tc>
                <a:tc>
                  <a:txBody>
                    <a:bodyPr tIns="25400" bIns="25400"/>
                    <a:lstStyle/>
                    <a:p>
                      <a:r>
                        <a:rPr sz="1050" b="1" i="0">
                          <a:solidFill>
                            <a:srgbClr val="F97316"/>
                          </a:solidFill>
                          <a:latin typeface="Montserrat"/>
                        </a:rPr>
                        <a:t>SEND DATE</a:t>
                      </a:r>
                    </a:p>
                  </a:txBody>
                  <a:tcPr>
                    <a:solidFill>
                      <a:srgbClr val="152033"/>
                    </a:solidFill>
                  </a:tcPr>
                </a:tc>
                <a:tc>
                  <a:txBody>
                    <a:bodyPr tIns="25400" bIns="25400"/>
                    <a:lstStyle/>
                    <a:p>
                      <a:r>
                        <a:rPr sz="1050" b="1" i="0">
                          <a:solidFill>
                            <a:srgbClr val="F97316"/>
                          </a:solidFill>
                          <a:latin typeface="Montserrat"/>
                        </a:rPr>
                        <a:t>OWNER</a:t>
                      </a:r>
                    </a:p>
                  </a:txBody>
                  <a:tcPr>
                    <a:solidFill>
                      <a:srgbClr val="152033"/>
                    </a:solidFill>
                  </a:tcPr>
                </a:tc>
                <a:tc>
                  <a:txBody>
                    <a:bodyPr tIns="25400" bIns="25400"/>
                    <a:lstStyle/>
                    <a:p>
                      <a:r>
                        <a:rPr sz="1050" b="1" i="0">
                          <a:solidFill>
                            <a:srgbClr val="F97316"/>
                          </a:solidFill>
                          <a:latin typeface="Montserrat"/>
                        </a:rPr>
                        <a:t>MOPS-STATUS</a:t>
                      </a:r>
                    </a:p>
                  </a:txBody>
                  <a:tcPr>
                    <a:solidFill>
                      <a:srgbClr val="152033"/>
                    </a:solidFill>
                  </a:tcPr>
                </a:tc>
              </a:tr>
              <a:tr h="457200">
                <a:tc>
                  <a:txBody>
                    <a:bodyPr wrap="square" tIns="25400" bIns="25400"/>
                    <a:lstStyle/>
                    <a:p>
                      <a:r>
                        <a:rPr sz="1050" b="0" i="0">
                          <a:solidFill>
                            <a:srgbClr val="F2F5F8"/>
                          </a:solidFill>
                          <a:latin typeface="Montserrat"/>
                        </a:rPr>
                        <a:t>Atlanta Marketing Leadership Dinner Promo 2</a:t>
                      </a:r>
                    </a:p>
                  </a:txBody>
                  <a:tcPr>
                    <a:solidFill>
                      <a:srgbClr val="0D1626"/>
                    </a:solidFill>
                  </a:tcPr>
                </a:tc>
                <a:tc>
                  <a:txBody>
                    <a:bodyPr wrap="square" tIns="25400" bIns="25400"/>
                    <a:lstStyle/>
                    <a:p>
                      <a:r>
                        <a:rPr sz="1050" b="0" i="0">
                          <a:solidFill>
                            <a:srgbClr val="F2F5F8"/>
                          </a:solidFill>
                          <a:latin typeface="Montserrat"/>
                        </a:rPr>
                        <a:t>2026-10-22</a:t>
                      </a:r>
                    </a:p>
                  </a:txBody>
                  <a:tcPr>
                    <a:solidFill>
                      <a:srgbClr val="0D1626"/>
                    </a:solidFill>
                  </a:tcPr>
                </a:tc>
                <a:tc>
                  <a:txBody>
                    <a:bodyPr wrap="square" tIns="25400" bIns="25400"/>
                    <a:lstStyle/>
                    <a:p>
                      <a:r>
                        <a:rPr sz="1050" b="0" i="0">
                          <a:solidFill>
                            <a:srgbClr val="F2F5F8"/>
                          </a:solidFill>
                          <a:latin typeface="Montserrat"/>
                        </a:rPr>
                        <a:t>Aayushi</a:t>
                      </a:r>
                    </a:p>
                  </a:txBody>
                  <a:tcPr>
                    <a:solidFill>
                      <a:srgbClr val="0D1626"/>
                    </a:solidFill>
                  </a:tcPr>
                </a:tc>
                <a:tc>
                  <a:txBody>
                    <a:bodyPr wrap="square" tIns="25400" bIns="25400"/>
                    <a:lstStyle/>
                    <a:p>
                      <a:r>
                        <a:rPr sz="1050" b="0" i="0">
                          <a:solidFill>
                            <a:srgbClr val="F2F5F8"/>
                          </a:solidFill>
                          <a:latin typeface="Montserrat"/>
                        </a:rPr>
                        <a:t>IN PROGRESS</a:t>
                      </a:r>
                    </a:p>
                  </a:txBody>
                  <a:tcPr>
                    <a:solidFill>
                      <a:srgbClr val="0D1626"/>
                    </a:solidFill>
                  </a:tcPr>
                </a:tc>
              </a:tr>
              <a:tr h="457200">
                <a:tc>
                  <a:txBody>
                    <a:bodyPr wrap="square" tIns="25400" bIns="25400"/>
                    <a:lstStyle/>
                    <a:p>
                      <a:r>
                        <a:rPr sz="1050" b="0" i="0">
                          <a:solidFill>
                            <a:srgbClr val="F2F5F8"/>
                          </a:solidFill>
                          <a:latin typeface="Montserrat"/>
                        </a:rPr>
                        <a:t>Acquia Festive Party, Paris Email Invite 1</a:t>
                      </a:r>
                    </a:p>
                  </a:txBody>
                  <a:tcPr>
                    <a:solidFill>
                      <a:srgbClr val="0D1626"/>
                    </a:solidFill>
                  </a:tcPr>
                </a:tc>
                <a:tc>
                  <a:txBody>
                    <a:bodyPr wrap="square" tIns="25400" bIns="25400"/>
                    <a:lstStyle/>
                    <a:p>
                      <a:r>
                        <a:rPr sz="1050" b="0" i="0">
                          <a:solidFill>
                            <a:srgbClr val="F2F5F8"/>
                          </a:solidFill>
                          <a:latin typeface="Montserrat"/>
                        </a:rPr>
                        <a:t>2026-10-22</a:t>
                      </a:r>
                    </a:p>
                  </a:txBody>
                  <a:tcPr>
                    <a:solidFill>
                      <a:srgbClr val="0D1626"/>
                    </a:solidFill>
                  </a:tcPr>
                </a:tc>
                <a:tc>
                  <a:txBody>
                    <a:bodyPr wrap="square" tIns="25400" bIns="25400"/>
                    <a:lstStyle/>
                    <a:p>
                      <a:r>
                        <a:rPr sz="1050" b="0" i="0">
                          <a:solidFill>
                            <a:srgbClr val="F2F5F8"/>
                          </a:solidFill>
                          <a:latin typeface="Montserrat"/>
                        </a:rPr>
                        <a:t>Harish</a:t>
                      </a:r>
                    </a:p>
                  </a:txBody>
                  <a:tcPr>
                    <a:solidFill>
                      <a:srgbClr val="0D1626"/>
                    </a:solidFill>
                  </a:tcPr>
                </a:tc>
                <a:tc>
                  <a:txBody>
                    <a:bodyPr wrap="square" tIns="25400" bIns="25400"/>
                    <a:lstStyle/>
                    <a:p>
                      <a:r>
                        <a:rPr sz="1050" b="0" i="0">
                          <a:solidFill>
                            <a:srgbClr val="F2F5F8"/>
                          </a:solidFill>
                          <a:latin typeface="Montserrat"/>
                        </a:rPr>
                        <a:t>ASSIGNED</a:t>
                      </a:r>
                    </a:p>
                  </a:txBody>
                  <a:tcPr>
                    <a:solidFill>
                      <a:srgbClr val="0D1626"/>
                    </a:solidFill>
                  </a:tcPr>
                </a:tc>
              </a:tr>
              <a:tr h="457200">
                <a:tc>
                  <a:txBody>
                    <a:bodyPr wrap="square" tIns="25400" bIns="25400"/>
                    <a:lstStyle/>
                    <a:p>
                      <a:r>
                        <a:rPr sz="1050" b="0" i="0">
                          <a:solidFill>
                            <a:srgbClr val="F2F5F8"/>
                          </a:solidFill>
                          <a:latin typeface="Montserrat"/>
                        </a:rPr>
                        <a:t>October 2026 Partner Newsletter</a:t>
                      </a:r>
                    </a:p>
                  </a:txBody>
                  <a:tcPr>
                    <a:solidFill>
                      <a:srgbClr val="0D1626"/>
                    </a:solidFill>
                  </a:tcPr>
                </a:tc>
                <a:tc>
                  <a:txBody>
                    <a:bodyPr wrap="square" tIns="25400" bIns="25400"/>
                    <a:lstStyle/>
                    <a:p>
                      <a:r>
                        <a:rPr sz="1050" b="0" i="0">
                          <a:solidFill>
                            <a:srgbClr val="F2F5F8"/>
                          </a:solidFill>
                          <a:latin typeface="Montserrat"/>
                        </a:rPr>
                        <a:t>2026-10-22</a:t>
                      </a:r>
                    </a:p>
                  </a:txBody>
                  <a:tcPr>
                    <a:solidFill>
                      <a:srgbClr val="0D1626"/>
                    </a:solidFill>
                  </a:tcPr>
                </a:tc>
                <a:tc>
                  <a:txBody>
                    <a:bodyPr wrap="square" tIns="25400" bIns="25400"/>
                    <a:lstStyle/>
                    <a:p>
                      <a:r>
                        <a:rPr sz="1050" b="0" i="0">
                          <a:solidFill>
                            <a:srgbClr val="F2F5F8"/>
                          </a:solidFill>
                          <a:latin typeface="Montserrat"/>
                        </a:rPr>
                        <a:t>Harish</a:t>
                      </a:r>
                    </a:p>
                  </a:txBody>
                  <a:tcPr>
                    <a:solidFill>
                      <a:srgbClr val="0D1626"/>
                    </a:solidFill>
                  </a:tcPr>
                </a:tc>
                <a:tc>
                  <a:txBody>
                    <a:bodyPr wrap="square" tIns="25400" bIns="25400"/>
                    <a:lstStyle/>
                    <a:p>
                      <a:r>
                        <a:rPr sz="1050" b="0" i="0">
                          <a:solidFill>
                            <a:srgbClr val="F2F5F8"/>
                          </a:solidFill>
                          <a:latin typeface="Montserrat"/>
                        </a:rPr>
                        <a:t>ASSIGNED</a:t>
                      </a:r>
                    </a:p>
                  </a:txBody>
                  <a:tcPr>
                    <a:solidFill>
                      <a:srgbClr val="0D1626"/>
                    </a:solidFill>
                  </a:tcPr>
                </a:tc>
              </a:tr>
              <a:tr h="457200">
                <a:tc>
                  <a:txBody>
                    <a:bodyPr wrap="square" tIns="25400" bIns="25400"/>
                    <a:lstStyle/>
                    <a:p>
                      <a:r>
                        <a:rPr sz="1050" b="0" i="0">
                          <a:solidFill>
                            <a:srgbClr val="F2F5F8"/>
                          </a:solidFill>
                          <a:latin typeface="Montserrat"/>
                        </a:rPr>
                        <a:t>DAM Workshop DC Email - Invite 02</a:t>
                      </a:r>
                    </a:p>
                  </a:txBody>
                  <a:tcPr>
                    <a:solidFill>
                      <a:srgbClr val="0D1626"/>
                    </a:solidFill>
                  </a:tcPr>
                </a:tc>
                <a:tc>
                  <a:txBody>
                    <a:bodyPr wrap="square" tIns="25400" bIns="25400"/>
                    <a:lstStyle/>
                    <a:p>
                      <a:r>
                        <a:rPr sz="1050" b="0" i="0">
                          <a:solidFill>
                            <a:srgbClr val="F2F5F8"/>
                          </a:solidFill>
                          <a:latin typeface="Montserrat"/>
                        </a:rPr>
                        <a:t>2026-10-23</a:t>
                      </a:r>
                    </a:p>
                  </a:txBody>
                  <a:tcPr>
                    <a:solidFill>
                      <a:srgbClr val="0D1626"/>
                    </a:solidFill>
                  </a:tcPr>
                </a:tc>
                <a:tc>
                  <a:txBody>
                    <a:bodyPr wrap="square" tIns="25400" bIns="25400"/>
                    <a:lstStyle/>
                    <a:p>
                      <a:r>
                        <a:rPr sz="1050" b="0" i="0">
                          <a:solidFill>
                            <a:srgbClr val="F2F5F8"/>
                          </a:solidFill>
                          <a:latin typeface="Montserrat"/>
                        </a:rPr>
                        <a:t>Aayushi</a:t>
                      </a:r>
                    </a:p>
                  </a:txBody>
                  <a:tcPr>
                    <a:solidFill>
                      <a:srgbClr val="0D1626"/>
                    </a:solidFill>
                  </a:tcPr>
                </a:tc>
                <a:tc>
                  <a:txBody>
                    <a:bodyPr wrap="square" tIns="25400" bIns="25400"/>
                    <a:lstStyle/>
                    <a:p>
                      <a:r>
                        <a:rPr sz="1050" b="0" i="0">
                          <a:solidFill>
                            <a:srgbClr val="F2F5F8"/>
                          </a:solidFill>
                          <a:latin typeface="Montserrat"/>
                        </a:rPr>
                        <a:t>IN PROGRESS</a:t>
                      </a:r>
                    </a:p>
                  </a:txBody>
                  <a:tcPr>
                    <a:solidFill>
                      <a:srgbClr val="0D1626"/>
                    </a:solidFill>
                  </a:tcPr>
                </a:tc>
              </a:tr>
              <a:tr h="457200">
                <a:tc>
                  <a:txBody>
                    <a:bodyPr wrap="square" tIns="25400" bIns="25400"/>
                    <a:lstStyle/>
                    <a:p>
                      <a:r>
                        <a:rPr sz="1050" b="0" i="0">
                          <a:solidFill>
                            <a:srgbClr val="F2F5F8"/>
                          </a:solidFill>
                          <a:latin typeface="Montserrat"/>
                        </a:rPr>
                        <a:t>[OnDAM Paris] Pre-Event Email Send</a:t>
                      </a:r>
                    </a:p>
                  </a:txBody>
                  <a:tcPr>
                    <a:solidFill>
                      <a:srgbClr val="0D1626"/>
                    </a:solidFill>
                  </a:tcPr>
                </a:tc>
                <a:tc>
                  <a:txBody>
                    <a:bodyPr wrap="square" tIns="25400" bIns="25400"/>
                    <a:lstStyle/>
                    <a:p>
                      <a:r>
                        <a:rPr sz="1050" b="0" i="0">
                          <a:solidFill>
                            <a:srgbClr val="F2F5F8"/>
                          </a:solidFill>
                          <a:latin typeface="Montserrat"/>
                        </a:rPr>
                        <a:t>2026-10-27</a:t>
                      </a:r>
                    </a:p>
                  </a:txBody>
                  <a:tcPr>
                    <a:solidFill>
                      <a:srgbClr val="0D1626"/>
                    </a:solidFill>
                  </a:tcPr>
                </a:tc>
                <a:tc>
                  <a:txBody>
                    <a:bodyPr wrap="square" tIns="25400" bIns="25400"/>
                    <a:lstStyle/>
                    <a:p>
                      <a:r>
                        <a:rPr sz="1050" b="0" i="0">
                          <a:solidFill>
                            <a:srgbClr val="F2F5F8"/>
                          </a:solidFill>
                          <a:latin typeface="Montserrat"/>
                        </a:rPr>
                        <a:t>Harish</a:t>
                      </a:r>
                    </a:p>
                  </a:txBody>
                  <a:tcPr>
                    <a:solidFill>
                      <a:srgbClr val="0D1626"/>
                    </a:solidFill>
                  </a:tcPr>
                </a:tc>
                <a:tc>
                  <a:txBody>
                    <a:bodyPr wrap="square" tIns="25400" bIns="25400"/>
                    <a:lstStyle/>
                    <a:p>
                      <a:r>
                        <a:rPr sz="1050" b="0" i="0">
                          <a:solidFill>
                            <a:srgbClr val="F2F5F8"/>
                          </a:solidFill>
                          <a:latin typeface="Montserrat"/>
                        </a:rPr>
                        <a:t>ASSIGNED</a:t>
                      </a:r>
                    </a:p>
                  </a:txBody>
                  <a:tcPr>
                    <a:solidFill>
                      <a:srgbClr val="0D1626"/>
                    </a:solidFill>
                  </a:tcPr>
                </a:tc>
              </a:tr>
              <a:tr h="457200">
                <a:tc>
                  <a:txBody>
                    <a:bodyPr wrap="square" tIns="25400" bIns="25400"/>
                    <a:lstStyle/>
                    <a:p>
                      <a:r>
                        <a:rPr sz="1050" b="0" i="0">
                          <a:solidFill>
                            <a:srgbClr val="F2F5F8"/>
                          </a:solidFill>
                          <a:latin typeface="Montserrat"/>
                        </a:rPr>
                        <a:t>Promote LinkedIn Live Series w/ Capgemini</a:t>
                      </a:r>
                    </a:p>
                  </a:txBody>
                  <a:tcPr>
                    <a:solidFill>
                      <a:srgbClr val="0D1626"/>
                    </a:solidFill>
                  </a:tcPr>
                </a:tc>
                <a:tc>
                  <a:txBody>
                    <a:bodyPr wrap="square" tIns="25400" bIns="25400"/>
                    <a:lstStyle/>
                    <a:p>
                      <a:r>
                        <a:rPr sz="1050" b="0" i="0">
                          <a:solidFill>
                            <a:srgbClr val="F2F5F8"/>
                          </a:solidFill>
                          <a:latin typeface="Montserrat"/>
                        </a:rPr>
                        <a:t>2026-10-27</a:t>
                      </a:r>
                    </a:p>
                  </a:txBody>
                  <a:tcPr>
                    <a:solidFill>
                      <a:srgbClr val="0D1626"/>
                    </a:solidFill>
                  </a:tcPr>
                </a:tc>
                <a:tc>
                  <a:txBody>
                    <a:bodyPr wrap="square" tIns="25400" bIns="25400"/>
                    <a:lstStyle/>
                    <a:p>
                      <a:r>
                        <a:rPr sz="1050" b="0" i="0">
                          <a:solidFill>
                            <a:srgbClr val="F2F5F8"/>
                          </a:solidFill>
                          <a:latin typeface="Montserrat"/>
                        </a:rPr>
                        <a:t>Harish</a:t>
                      </a:r>
                    </a:p>
                  </a:txBody>
                  <a:tcPr>
                    <a:solidFill>
                      <a:srgbClr val="0D1626"/>
                    </a:solidFill>
                  </a:tcPr>
                </a:tc>
                <a:tc>
                  <a:txBody>
                    <a:bodyPr wrap="square" tIns="25400" bIns="25400"/>
                    <a:lstStyle/>
                    <a:p>
                      <a:r>
                        <a:rPr sz="1050" b="0" i="0">
                          <a:solidFill>
                            <a:srgbClr val="F2F5F8"/>
                          </a:solidFill>
                          <a:latin typeface="Montserrat"/>
                        </a:rPr>
                        <a:t>ASSIGNED</a:t>
                      </a:r>
                    </a:p>
                  </a:txBody>
                  <a:tcPr>
                    <a:solidFill>
                      <a:srgbClr val="0D1626"/>
                    </a:solidFill>
                  </a:tcPr>
                </a:tc>
              </a:tr>
              <a:tr h="457200">
                <a:tc>
                  <a:txBody>
                    <a:bodyPr wrap="square" tIns="25400" bIns="25400"/>
                    <a:lstStyle/>
                    <a:p>
                      <a:r>
                        <a:rPr sz="1050" b="0" i="0">
                          <a:solidFill>
                            <a:srgbClr val="F2F5F8"/>
                          </a:solidFill>
                          <a:latin typeface="Montserrat"/>
                        </a:rPr>
                        <a:t>GAIN Interact Event 2026 - HTML Email 2</a:t>
                      </a:r>
                    </a:p>
                  </a:txBody>
                  <a:tcPr>
                    <a:solidFill>
                      <a:srgbClr val="0D1626"/>
                    </a:solidFill>
                  </a:tcPr>
                </a:tc>
                <a:tc>
                  <a:txBody>
                    <a:bodyPr wrap="square" tIns="25400" bIns="25400"/>
                    <a:lstStyle/>
                    <a:p>
                      <a:r>
                        <a:rPr sz="1050" b="0" i="0">
                          <a:solidFill>
                            <a:srgbClr val="F2F5F8"/>
                          </a:solidFill>
                          <a:latin typeface="Montserrat"/>
                        </a:rPr>
                        <a:t>2026-10-27</a:t>
                      </a:r>
                    </a:p>
                  </a:txBody>
                  <a:tcPr>
                    <a:solidFill>
                      <a:srgbClr val="0D1626"/>
                    </a:solidFill>
                  </a:tcPr>
                </a:tc>
                <a:tc>
                  <a:txBody>
                    <a:bodyPr wrap="square" tIns="25400" bIns="25400"/>
                    <a:lstStyle/>
                    <a:p>
                      <a:r>
                        <a:rPr sz="1050" b="0" i="0">
                          <a:solidFill>
                            <a:srgbClr val="F2F5F8"/>
                          </a:solidFill>
                          <a:latin typeface="Montserrat"/>
                        </a:rPr>
                        <a:t>Harish</a:t>
                      </a:r>
                    </a:p>
                  </a:txBody>
                  <a:tcPr>
                    <a:solidFill>
                      <a:srgbClr val="0D1626"/>
                    </a:solidFill>
                  </a:tcPr>
                </a:tc>
                <a:tc>
                  <a:txBody>
                    <a:bodyPr wrap="square" tIns="25400" bIns="25400"/>
                    <a:lstStyle/>
                    <a:p>
                      <a:r>
                        <a:rPr sz="1050" b="0" i="0">
                          <a:solidFill>
                            <a:srgbClr val="F2F5F8"/>
                          </a:solidFill>
                          <a:latin typeface="Montserrat"/>
                        </a:rPr>
                        <a:t>ASSIGNED</a:t>
                      </a:r>
                    </a:p>
                  </a:txBody>
                  <a:tcPr>
                    <a:solidFill>
                      <a:srgbClr val="0D1626"/>
                    </a:solidFill>
                  </a:tcPr>
                </a:tc>
              </a:tr>
              <a:tr h="457200">
                <a:tc>
                  <a:txBody>
                    <a:bodyPr wrap="square" tIns="25400" bIns="25400"/>
                    <a:lstStyle/>
                    <a:p>
                      <a:r>
                        <a:rPr sz="1050" b="0" i="0">
                          <a:solidFill>
                            <a:srgbClr val="F2F5F8"/>
                          </a:solidFill>
                          <a:latin typeface="Montserrat"/>
                        </a:rPr>
                        <a:t>Acquia Festive Party (London) Email 2</a:t>
                      </a:r>
                    </a:p>
                  </a:txBody>
                  <a:tcPr>
                    <a:solidFill>
                      <a:srgbClr val="0D1626"/>
                    </a:solidFill>
                  </a:tcPr>
                </a:tc>
                <a:tc>
                  <a:txBody>
                    <a:bodyPr wrap="square" tIns="25400" bIns="25400"/>
                    <a:lstStyle/>
                    <a:p>
                      <a:r>
                        <a:rPr sz="1050" b="0" i="0">
                          <a:solidFill>
                            <a:srgbClr val="F2F5F8"/>
                          </a:solidFill>
                          <a:latin typeface="Montserrat"/>
                        </a:rPr>
                        <a:t>2026-10-28</a:t>
                      </a:r>
                    </a:p>
                  </a:txBody>
                  <a:tcPr>
                    <a:solidFill>
                      <a:srgbClr val="0D1626"/>
                    </a:solidFill>
                  </a:tcPr>
                </a:tc>
                <a:tc>
                  <a:txBody>
                    <a:bodyPr wrap="square" tIns="25400" bIns="25400"/>
                    <a:lstStyle/>
                    <a:p>
                      <a:r>
                        <a:rPr sz="1050" b="0" i="0">
                          <a:solidFill>
                            <a:srgbClr val="F2F5F8"/>
                          </a:solidFill>
                          <a:latin typeface="Montserrat"/>
                        </a:rPr>
                        <a:t>Harish</a:t>
                      </a:r>
                    </a:p>
                  </a:txBody>
                  <a:tcPr>
                    <a:solidFill>
                      <a:srgbClr val="0D1626"/>
                    </a:solidFill>
                  </a:tcPr>
                </a:tc>
                <a:tc>
                  <a:txBody>
                    <a:bodyPr wrap="square" tIns="25400" bIns="25400"/>
                    <a:lstStyle/>
                    <a:p>
                      <a:r>
                        <a:rPr sz="1050" b="0" i="0">
                          <a:solidFill>
                            <a:srgbClr val="F2F5F8"/>
                          </a:solidFill>
                          <a:latin typeface="Montserrat"/>
                        </a:rPr>
                        <a:t>ASSIGNED</a:t>
                      </a:r>
                    </a:p>
                  </a:txBody>
                  <a:tcPr>
                    <a:solidFill>
                      <a:srgbClr val="0D1626"/>
                    </a:solidFill>
                  </a:tcPr>
                </a:tc>
              </a:tr>
            </a:tbl>
          </a:graphicData>
        </a:graphic>
      </p:graphicFrame>
      <p:sp>
        <p:nvSpPr>
          <p:cNvPr id="8" name="TextBox 7"/>
          <p:cNvSpPr txBox="1"/>
          <p:nvPr/>
        </p:nvSpPr>
        <p:spPr>
          <a:xfrm>
            <a:off x="548640" y="6355080"/>
            <a:ext cx="11064240" cy="457200"/>
          </a:xfrm>
          <a:prstGeom prst="rect">
            <a:avLst/>
          </a:prstGeom>
          <a:noFill/>
        </p:spPr>
        <p:txBody>
          <a:bodyPr wrap="square">
            <a:spAutoFit/>
          </a:bodyPr>
          <a:lstStyle/>
          <a:p>
            <a:r>
              <a:rPr sz="750" b="0" i="1">
                <a:solidFill>
                  <a:srgbClr val="9AA7B8"/>
                </a:solidFill>
                <a:latin typeface="Montserrat"/>
              </a:rPr>
              <a:t>CLASH FLAGS: 2026-10-22 has 3 sends same-day (Aayushi x1, Harish x2); 2026-10-27 has 3 sends, all owned by Harish. Region/audience field is null on all 8 rows, so these are date-collision flags, not confirmed audience overlap. Source: Asana milestone sub-tasks, Project Type=Email, incomplete, due 2026-10-22..2026-11-01.</a:t>
            </a:r>
          </a:p>
        </p:txBody>
      </p:sp>
      <p:sp>
        <p:nvSpPr>
          <p:cNvPr id="9" name="TextBox 8"/>
          <p:cNvSpPr txBox="1"/>
          <p:nvPr/>
        </p:nvSpPr>
        <p:spPr>
          <a:xfrm>
            <a:off x="11612880" y="6473952"/>
            <a:ext cx="457200" cy="320040"/>
          </a:xfrm>
          <a:prstGeom prst="rect">
            <a:avLst/>
          </a:prstGeom>
          <a:noFill/>
        </p:spPr>
        <p:txBody>
          <a:bodyPr wrap="square">
            <a:spAutoFit/>
          </a:bodyPr>
          <a:lstStyle/>
          <a:p>
            <a:pPr algn="r"/>
            <a:r>
              <a:rPr sz="900" b="0" i="0">
                <a:solidFill>
                  <a:srgbClr val="9AA7B8"/>
                </a:solidFill>
                <a:latin typeface="Montserra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626"/>
        </a:solidFill>
        <a:effectLst/>
      </p:bgPr>
    </p:bg>
    <p:spTree>
      <p:nvGrpSpPr>
        <p:cNvPr id="1" name=""/>
        <p:cNvGrpSpPr/>
        <p:nvPr/>
      </p:nvGrpSpPr>
      <p:grpSpPr/>
      <p:sp>
        <p:nvSpPr>
          <p:cNvPr id="2" name="Rectangle 1"/>
          <p:cNvSpPr/>
          <p:nvPr/>
        </p:nvSpPr>
        <p:spPr>
          <a:xfrm>
            <a:off x="0" y="0"/>
            <a:ext cx="12191695" cy="63500"/>
          </a:xfrm>
          <a:prstGeom prst="rect">
            <a:avLst/>
          </a:prstGeom>
          <a:gradFill rotWithShape="1">
            <a:gsLst>
              <a:gs pos="0">
                <a:srgbClr val="14B8A6"/>
              </a:gs>
              <a:gs pos="25000">
                <a:srgbClr val="22C55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515600" cy="320040"/>
          </a:xfrm>
          <a:prstGeom prst="rect">
            <a:avLst/>
          </a:prstGeom>
          <a:noFill/>
        </p:spPr>
        <p:txBody>
          <a:bodyPr wrap="square">
            <a:spAutoFit/>
          </a:bodyPr>
          <a:lstStyle/>
          <a:p>
            <a:r>
              <a:rPr sz="1200" b="1" i="0">
                <a:solidFill>
                  <a:srgbClr val="F97316"/>
                </a:solidFill>
                <a:latin typeface="Montserrat"/>
              </a:rPr>
              <a:t>LOOK AHEAD</a:t>
            </a:r>
          </a:p>
        </p:txBody>
      </p:sp>
      <p:sp>
        <p:nvSpPr>
          <p:cNvPr id="4" name="Rectangle 3"/>
          <p:cNvSpPr/>
          <p:nvPr/>
        </p:nvSpPr>
        <p:spPr>
          <a:xfrm>
            <a:off x="566928" y="621792"/>
            <a:ext cx="457200" cy="3175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749808"/>
            <a:ext cx="11064240" cy="640080"/>
          </a:xfrm>
          <a:prstGeom prst="rect">
            <a:avLst/>
          </a:prstGeom>
          <a:noFill/>
        </p:spPr>
        <p:txBody>
          <a:bodyPr wrap="square">
            <a:spAutoFit/>
          </a:bodyPr>
          <a:lstStyle/>
          <a:p>
            <a:r>
              <a:rPr sz="2600" b="1" i="0">
                <a:solidFill>
                  <a:srgbClr val="F2F5F8"/>
                </a:solidFill>
                <a:latin typeface="Montserrat ExtraBold"/>
              </a:rPr>
              <a:t>Priority Pipeline</a:t>
            </a:r>
          </a:p>
        </p:txBody>
      </p:sp>
      <p:sp>
        <p:nvSpPr>
          <p:cNvPr id="6" name="TextBox 5"/>
          <p:cNvSpPr txBox="1"/>
          <p:nvPr/>
        </p:nvSpPr>
        <p:spPr>
          <a:xfrm>
            <a:off x="548640" y="1325880"/>
            <a:ext cx="11064240" cy="548640"/>
          </a:xfrm>
          <a:prstGeom prst="rect">
            <a:avLst/>
          </a:prstGeom>
          <a:noFill/>
        </p:spPr>
        <p:txBody>
          <a:bodyPr wrap="square">
            <a:spAutoFit/>
          </a:bodyPr>
          <a:lstStyle/>
          <a:p>
            <a:r>
              <a:rPr sz="1300" b="0" i="0">
                <a:solidFill>
                  <a:srgbClr val="9AA7B8"/>
                </a:solidFill>
                <a:latin typeface="Montserrat"/>
              </a:rPr>
              <a:t>Oct 22 - Nov 1, 2026</a:t>
            </a:r>
          </a:p>
        </p:txBody>
      </p:sp>
      <p:sp>
        <p:nvSpPr>
          <p:cNvPr id="7" name="TextBox 6"/>
          <p:cNvSpPr txBox="1"/>
          <p:nvPr/>
        </p:nvSpPr>
        <p:spPr>
          <a:xfrm>
            <a:off x="548640" y="2103120"/>
            <a:ext cx="11064240" cy="3931920"/>
          </a:xfrm>
          <a:prstGeom prst="rect">
            <a:avLst/>
          </a:prstGeom>
          <a:noFill/>
        </p:spPr>
        <p:txBody>
          <a:bodyPr wrap="square">
            <a:spAutoFit/>
          </a:bodyPr>
          <a:lstStyle/>
          <a:p>
            <a:pPr>
              <a:spcAft>
                <a:spcPts val="800"/>
              </a:spcAft>
            </a:pPr>
            <a:r>
              <a:rPr sz="1500" b="1" i="0">
                <a:solidFill>
                  <a:srgbClr val="F97316"/>
                </a:solidFill>
                <a:latin typeface="Montserrat"/>
              </a:rPr>
              <a:t>Aayushi Sharma - 23 of 51 look-ahead tasks (45% of total capacity)</a:t>
            </a:r>
          </a:p>
          <a:p>
            <a:pPr>
              <a:spcAft>
                <a:spcPts val="800"/>
              </a:spcAft>
            </a:pPr>
            <a:r>
              <a:rPr sz="1400" b="0" i="0">
                <a:solidFill>
                  <a:srgbClr val="F2F5F8"/>
                </a:solidFill>
                <a:latin typeface="Montserrat"/>
              </a:rPr>
              <a:t>-  Known email-send commitments next week: Atlanta Dinner Promo 2 (10/22), DAM Workshop DC Email Invite 02 (10/23)</a:t>
            </a:r>
          </a:p>
          <a:p>
            <a:pPr>
              <a:spcAft>
                <a:spcPts val="800"/>
              </a:spcAft>
            </a:pPr>
            <a:r>
              <a:rPr sz="1500" b="1" i="0">
                <a:solidFill>
                  <a:srgbClr val="F97316"/>
                </a:solidFill>
                <a:latin typeface="Montserrat"/>
              </a:rPr>
              <a:t>Gap, not a finding we can score</a:t>
            </a:r>
          </a:p>
          <a:p>
            <a:pPr>
              <a:spcAft>
                <a:spcPts val="800"/>
              </a:spcAft>
            </a:pPr>
            <a:r>
              <a:rPr sz="1400" b="0" i="0">
                <a:solidFill>
                  <a:srgbClr val="F2F5F8"/>
                </a:solidFill>
                <a:latin typeface="Montserrat"/>
              </a:rPr>
              <a:t>-  Priority is null on 48 of 51 open top-level tickets (94%) - true priority-based sequencing of her queue isn't possible from the data as filled in today</a:t>
            </a:r>
          </a:p>
          <a:p>
            <a:pPr>
              <a:spcAft>
                <a:spcPts val="800"/>
              </a:spcAft>
            </a:pPr>
            <a:r>
              <a:rPr sz="1400" b="0" i="0">
                <a:solidFill>
                  <a:srgbClr val="F2F5F8"/>
                </a:solidFill>
                <a:latin typeface="Montserrat"/>
              </a:rPr>
              <a:t>-  Only 2 open tickets board-wide carry a non-null Priority (both Medium) plus the 1 Urgent (Meta Lead Forms, owned by Jennifer, not Aayushi)</a:t>
            </a:r>
          </a:p>
        </p:txBody>
      </p:sp>
      <p:sp>
        <p:nvSpPr>
          <p:cNvPr id="8" name="TextBox 7"/>
          <p:cNvSpPr txBox="1"/>
          <p:nvPr/>
        </p:nvSpPr>
        <p:spPr>
          <a:xfrm>
            <a:off x="11612880" y="6473952"/>
            <a:ext cx="457200" cy="320040"/>
          </a:xfrm>
          <a:prstGeom prst="rect">
            <a:avLst/>
          </a:prstGeom>
          <a:noFill/>
        </p:spPr>
        <p:txBody>
          <a:bodyPr wrap="square">
            <a:spAutoFit/>
          </a:bodyPr>
          <a:lstStyle/>
          <a:p>
            <a:pPr algn="r"/>
            <a:r>
              <a:rPr sz="900" b="0" i="0">
                <a:solidFill>
                  <a:srgbClr val="9AA7B8"/>
                </a:solidFill>
                <a:latin typeface="Montserra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626"/>
        </a:solidFill>
        <a:effectLst/>
      </p:bgPr>
    </p:bg>
    <p:spTree>
      <p:nvGrpSpPr>
        <p:cNvPr id="1" name=""/>
        <p:cNvGrpSpPr/>
        <p:nvPr/>
      </p:nvGrpSpPr>
      <p:grpSpPr/>
      <p:sp>
        <p:nvSpPr>
          <p:cNvPr id="2" name="Rectangle 1"/>
          <p:cNvSpPr/>
          <p:nvPr/>
        </p:nvSpPr>
        <p:spPr>
          <a:xfrm>
            <a:off x="0" y="0"/>
            <a:ext cx="12191695" cy="63500"/>
          </a:xfrm>
          <a:prstGeom prst="rect">
            <a:avLst/>
          </a:prstGeom>
          <a:gradFill rotWithShape="1">
            <a:gsLst>
              <a:gs pos="0">
                <a:srgbClr val="14B8A6"/>
              </a:gs>
              <a:gs pos="25000">
                <a:srgbClr val="22C55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515600" cy="320040"/>
          </a:xfrm>
          <a:prstGeom prst="rect">
            <a:avLst/>
          </a:prstGeom>
          <a:noFill/>
        </p:spPr>
        <p:txBody>
          <a:bodyPr wrap="square">
            <a:spAutoFit/>
          </a:bodyPr>
          <a:lstStyle/>
          <a:p>
            <a:r>
              <a:rPr sz="1200" b="1" i="0">
                <a:solidFill>
                  <a:srgbClr val="3B82F6"/>
                </a:solidFill>
                <a:latin typeface="Montserrat"/>
              </a:rPr>
              <a:t>LOOK AHEAD</a:t>
            </a:r>
          </a:p>
        </p:txBody>
      </p:sp>
      <p:sp>
        <p:nvSpPr>
          <p:cNvPr id="4" name="Rectangle 3"/>
          <p:cNvSpPr/>
          <p:nvPr/>
        </p:nvSpPr>
        <p:spPr>
          <a:xfrm>
            <a:off x="566928" y="621792"/>
            <a:ext cx="457200" cy="3175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749808"/>
            <a:ext cx="11064240" cy="640080"/>
          </a:xfrm>
          <a:prstGeom prst="rect">
            <a:avLst/>
          </a:prstGeom>
          <a:noFill/>
        </p:spPr>
        <p:txBody>
          <a:bodyPr wrap="square">
            <a:spAutoFit/>
          </a:bodyPr>
          <a:lstStyle/>
          <a:p>
            <a:r>
              <a:rPr sz="2600" b="1" i="0">
                <a:solidFill>
                  <a:srgbClr val="F2F5F8"/>
                </a:solidFill>
                <a:latin typeface="Montserrat ExtraBold"/>
              </a:rPr>
              <a:t>Upcoming Strategic Priorities</a:t>
            </a:r>
          </a:p>
        </p:txBody>
      </p:sp>
      <p:sp>
        <p:nvSpPr>
          <p:cNvPr id="6" name="TextBox 5"/>
          <p:cNvSpPr txBox="1"/>
          <p:nvPr/>
        </p:nvSpPr>
        <p:spPr>
          <a:xfrm>
            <a:off x="548640" y="1325880"/>
            <a:ext cx="11064240" cy="548640"/>
          </a:xfrm>
          <a:prstGeom prst="rect">
            <a:avLst/>
          </a:prstGeom>
          <a:noFill/>
        </p:spPr>
        <p:txBody>
          <a:bodyPr wrap="square">
            <a:spAutoFit/>
          </a:bodyPr>
          <a:lstStyle/>
          <a:p>
            <a:r>
              <a:rPr sz="1300" b="0" i="0">
                <a:solidFill>
                  <a:srgbClr val="9AA7B8"/>
                </a:solidFill>
                <a:latin typeface="Montserrat"/>
              </a:rPr>
              <a:t>Oct 22 - Nov 1, 2026</a:t>
            </a:r>
          </a:p>
        </p:txBody>
      </p:sp>
      <p:sp>
        <p:nvSpPr>
          <p:cNvPr id="7" name="Rounded Rectangle 6"/>
          <p:cNvSpPr/>
          <p:nvPr/>
        </p:nvSpPr>
        <p:spPr>
          <a:xfrm>
            <a:off x="548640" y="2103120"/>
            <a:ext cx="3515258" cy="3931920"/>
          </a:xfrm>
          <a:prstGeom prst="roundRect">
            <a:avLst>
              <a:gd name="adj" fmla="val 4000"/>
            </a:avLst>
          </a:prstGeom>
          <a:solidFill>
            <a:srgbClr val="152033"/>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286000"/>
            <a:ext cx="3058058" cy="457200"/>
          </a:xfrm>
          <a:prstGeom prst="rect">
            <a:avLst/>
          </a:prstGeom>
          <a:noFill/>
        </p:spPr>
        <p:txBody>
          <a:bodyPr wrap="square">
            <a:spAutoFit/>
          </a:bodyPr>
          <a:lstStyle/>
          <a:p>
            <a:r>
              <a:rPr sz="1500" b="1" i="0">
                <a:solidFill>
                  <a:srgbClr val="3B82F6"/>
                </a:solidFill>
                <a:latin typeface="Montserrat ExtraBold"/>
              </a:rPr>
              <a:t>Harish Pandey</a:t>
            </a:r>
          </a:p>
        </p:txBody>
      </p:sp>
      <p:sp>
        <p:nvSpPr>
          <p:cNvPr id="9" name="TextBox 8"/>
          <p:cNvSpPr txBox="1"/>
          <p:nvPr/>
        </p:nvSpPr>
        <p:spPr>
          <a:xfrm>
            <a:off x="777240" y="2788920"/>
            <a:ext cx="3058058" cy="3017520"/>
          </a:xfrm>
          <a:prstGeom prst="rect">
            <a:avLst/>
          </a:prstGeom>
          <a:noFill/>
        </p:spPr>
        <p:txBody>
          <a:bodyPr wrap="square">
            <a:spAutoFit/>
          </a:bodyPr>
          <a:lstStyle/>
          <a:p>
            <a:pPr>
              <a:spcAft>
                <a:spcPts val="600"/>
              </a:spcAft>
            </a:pPr>
            <a:r>
              <a:rPr sz="1150" b="0" i="0">
                <a:solidFill>
                  <a:srgbClr val="F2F5F8"/>
                </a:solidFill>
                <a:latin typeface="Montserrat"/>
              </a:rPr>
              <a:t>-  13 look-ahead tasks</a:t>
            </a:r>
          </a:p>
          <a:p>
            <a:pPr>
              <a:spcAft>
                <a:spcPts val="600"/>
              </a:spcAft>
            </a:pPr>
            <a:r>
              <a:rPr sz="1150" b="0" i="0">
                <a:solidFill>
                  <a:srgbClr val="F2F5F8"/>
                </a:solidFill>
                <a:latin typeface="Montserrat"/>
              </a:rPr>
              <a:t>-  Owns 6 of 8 upcoming email sends - 3 on 10/27 alone</a:t>
            </a:r>
          </a:p>
          <a:p>
            <a:pPr>
              <a:spcAft>
                <a:spcPts val="600"/>
              </a:spcAft>
            </a:pPr>
            <a:r>
              <a:rPr sz="1150" b="0" i="0">
                <a:solidFill>
                  <a:srgbClr val="F2F5F8"/>
                </a:solidFill>
                <a:latin typeface="Montserrat"/>
              </a:rPr>
              <a:t>-  DAM New Features Partner Webinar due 10/23</a:t>
            </a:r>
          </a:p>
        </p:txBody>
      </p:sp>
      <p:sp>
        <p:nvSpPr>
          <p:cNvPr id="10" name="Rounded Rectangle 9"/>
          <p:cNvSpPr/>
          <p:nvPr/>
        </p:nvSpPr>
        <p:spPr>
          <a:xfrm>
            <a:off x="4338218" y="2103120"/>
            <a:ext cx="3515258" cy="3931920"/>
          </a:xfrm>
          <a:prstGeom prst="roundRect">
            <a:avLst>
              <a:gd name="adj" fmla="val 4000"/>
            </a:avLst>
          </a:prstGeom>
          <a:solidFill>
            <a:srgbClr val="152033"/>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6818" y="2286000"/>
            <a:ext cx="3058058" cy="457200"/>
          </a:xfrm>
          <a:prstGeom prst="rect">
            <a:avLst/>
          </a:prstGeom>
          <a:noFill/>
        </p:spPr>
        <p:txBody>
          <a:bodyPr wrap="square">
            <a:spAutoFit/>
          </a:bodyPr>
          <a:lstStyle/>
          <a:p>
            <a:r>
              <a:rPr sz="1500" b="1" i="0">
                <a:solidFill>
                  <a:srgbClr val="3B82F6"/>
                </a:solidFill>
                <a:latin typeface="Montserrat ExtraBold"/>
              </a:rPr>
              <a:t>Felipe Tencio</a:t>
            </a:r>
          </a:p>
        </p:txBody>
      </p:sp>
      <p:sp>
        <p:nvSpPr>
          <p:cNvPr id="12" name="TextBox 11"/>
          <p:cNvSpPr txBox="1"/>
          <p:nvPr/>
        </p:nvSpPr>
        <p:spPr>
          <a:xfrm>
            <a:off x="4566818" y="2788920"/>
            <a:ext cx="3058058" cy="3017520"/>
          </a:xfrm>
          <a:prstGeom prst="rect">
            <a:avLst/>
          </a:prstGeom>
          <a:noFill/>
        </p:spPr>
        <p:txBody>
          <a:bodyPr wrap="square">
            <a:spAutoFit/>
          </a:bodyPr>
          <a:lstStyle/>
          <a:p>
            <a:pPr>
              <a:spcAft>
                <a:spcPts val="600"/>
              </a:spcAft>
            </a:pPr>
            <a:r>
              <a:rPr sz="1150" b="0" i="0">
                <a:solidFill>
                  <a:srgbClr val="F2F5F8"/>
                </a:solidFill>
                <a:latin typeface="Montserrat"/>
              </a:rPr>
              <a:t>-  7 look-ahead tasks</a:t>
            </a:r>
          </a:p>
          <a:p>
            <a:pPr>
              <a:spcAft>
                <a:spcPts val="600"/>
              </a:spcAft>
            </a:pPr>
            <a:r>
              <a:rPr sz="1150" b="0" i="0">
                <a:solidFill>
                  <a:srgbClr val="F2F5F8"/>
                </a:solidFill>
                <a:latin typeface="Montserrat"/>
              </a:rPr>
              <a:t>-  Continued Audiences focus - 6 open Audiences tickets</a:t>
            </a:r>
          </a:p>
          <a:p>
            <a:pPr>
              <a:spcAft>
                <a:spcPts val="600"/>
              </a:spcAft>
            </a:pPr>
            <a:r>
              <a:rPr sz="1150" b="0" i="0">
                <a:solidFill>
                  <a:srgbClr val="F2F5F8"/>
                </a:solidFill>
                <a:latin typeface="Montserrat"/>
              </a:rPr>
              <a:t>-  Sharp Webinar (gid 1218623014564671) due 10/22, reassigned to Shannon Bystock</a:t>
            </a:r>
          </a:p>
        </p:txBody>
      </p:sp>
      <p:sp>
        <p:nvSpPr>
          <p:cNvPr id="13" name="Rounded Rectangle 12"/>
          <p:cNvSpPr/>
          <p:nvPr/>
        </p:nvSpPr>
        <p:spPr>
          <a:xfrm>
            <a:off x="8127796" y="2103120"/>
            <a:ext cx="3515258" cy="3931920"/>
          </a:xfrm>
          <a:prstGeom prst="roundRect">
            <a:avLst>
              <a:gd name="adj" fmla="val 4000"/>
            </a:avLst>
          </a:prstGeom>
          <a:solidFill>
            <a:srgbClr val="152033"/>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56396" y="2286000"/>
            <a:ext cx="3058058" cy="457200"/>
          </a:xfrm>
          <a:prstGeom prst="rect">
            <a:avLst/>
          </a:prstGeom>
          <a:noFill/>
        </p:spPr>
        <p:txBody>
          <a:bodyPr wrap="square">
            <a:spAutoFit/>
          </a:bodyPr>
          <a:lstStyle/>
          <a:p>
            <a:r>
              <a:rPr sz="1500" b="1" i="0">
                <a:solidFill>
                  <a:srgbClr val="3B82F6"/>
                </a:solidFill>
                <a:latin typeface="Montserrat ExtraBold"/>
              </a:rPr>
              <a:t>Jennifer S.</a:t>
            </a:r>
          </a:p>
        </p:txBody>
      </p:sp>
      <p:sp>
        <p:nvSpPr>
          <p:cNvPr id="15" name="TextBox 14"/>
          <p:cNvSpPr txBox="1"/>
          <p:nvPr/>
        </p:nvSpPr>
        <p:spPr>
          <a:xfrm>
            <a:off x="8356396" y="2788920"/>
            <a:ext cx="3058058" cy="3017520"/>
          </a:xfrm>
          <a:prstGeom prst="rect">
            <a:avLst/>
          </a:prstGeom>
          <a:noFill/>
        </p:spPr>
        <p:txBody>
          <a:bodyPr wrap="square">
            <a:spAutoFit/>
          </a:bodyPr>
          <a:lstStyle/>
          <a:p>
            <a:pPr>
              <a:spcAft>
                <a:spcPts val="600"/>
              </a:spcAft>
            </a:pPr>
            <a:r>
              <a:rPr sz="1150" b="0" i="0">
                <a:solidFill>
                  <a:srgbClr val="F2F5F8"/>
                </a:solidFill>
                <a:latin typeface="Montserrat"/>
              </a:rPr>
              <a:t>-  Priority #1: escalate Meta Lead Forms integration (34 days overdue, Urgent, no escalation on file)</a:t>
            </a:r>
          </a:p>
          <a:p>
            <a:pPr>
              <a:spcAft>
                <a:spcPts val="600"/>
              </a:spcAft>
            </a:pPr>
            <a:r>
              <a:rPr sz="1150" b="0" i="0">
                <a:solidFill>
                  <a:srgbClr val="F2F5F8"/>
                </a:solidFill>
                <a:latin typeface="Montserrat"/>
              </a:rPr>
              <a:t>-  Decide the Zapier-LinkedIn duplicate-ticket merge</a:t>
            </a:r>
          </a:p>
          <a:p>
            <a:pPr>
              <a:spcAft>
                <a:spcPts val="600"/>
              </a:spcAft>
            </a:pPr>
            <a:r>
              <a:rPr sz="1150" b="0" i="0">
                <a:solidFill>
                  <a:srgbClr val="F2F5F8"/>
                </a:solidFill>
                <a:latin typeface="Montserrat"/>
              </a:rPr>
              <a:t>-  0 look-ahead tasks currently assigned</a:t>
            </a:r>
          </a:p>
        </p:txBody>
      </p:sp>
      <p:sp>
        <p:nvSpPr>
          <p:cNvPr id="16" name="TextBox 15"/>
          <p:cNvSpPr txBox="1"/>
          <p:nvPr/>
        </p:nvSpPr>
        <p:spPr>
          <a:xfrm>
            <a:off x="11612880" y="6473952"/>
            <a:ext cx="457200" cy="320040"/>
          </a:xfrm>
          <a:prstGeom prst="rect">
            <a:avLst/>
          </a:prstGeom>
          <a:noFill/>
        </p:spPr>
        <p:txBody>
          <a:bodyPr wrap="square">
            <a:spAutoFit/>
          </a:bodyPr>
          <a:lstStyle/>
          <a:p>
            <a:pPr algn="r"/>
            <a:r>
              <a:rPr sz="900" b="0" i="0">
                <a:solidFill>
                  <a:srgbClr val="9AA7B8"/>
                </a:solidFill>
                <a:latin typeface="Montserra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1626"/>
        </a:solidFill>
        <a:effectLst/>
      </p:bgPr>
    </p:bg>
    <p:spTree>
      <p:nvGrpSpPr>
        <p:cNvPr id="1" name=""/>
        <p:cNvGrpSpPr/>
        <p:nvPr/>
      </p:nvGrpSpPr>
      <p:grpSpPr/>
      <p:sp>
        <p:nvSpPr>
          <p:cNvPr id="2" name="Rectangle 1"/>
          <p:cNvSpPr/>
          <p:nvPr/>
        </p:nvSpPr>
        <p:spPr>
          <a:xfrm>
            <a:off x="0" y="0"/>
            <a:ext cx="12191695" cy="63500"/>
          </a:xfrm>
          <a:prstGeom prst="rect">
            <a:avLst/>
          </a:prstGeom>
          <a:gradFill rotWithShape="1">
            <a:gsLst>
              <a:gs pos="0">
                <a:srgbClr val="14B8A6"/>
              </a:gs>
              <a:gs pos="25000">
                <a:srgbClr val="22C55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515600" cy="320040"/>
          </a:xfrm>
          <a:prstGeom prst="rect">
            <a:avLst/>
          </a:prstGeom>
          <a:noFill/>
        </p:spPr>
        <p:txBody>
          <a:bodyPr wrap="square">
            <a:spAutoFit/>
          </a:bodyPr>
          <a:lstStyle/>
          <a:p>
            <a:r>
              <a:rPr sz="1200" b="1" i="0">
                <a:solidFill>
                  <a:srgbClr val="F97316"/>
                </a:solidFill>
                <a:latin typeface="Montserrat"/>
              </a:rPr>
              <a:t>LOOK AHEAD</a:t>
            </a:r>
          </a:p>
        </p:txBody>
      </p:sp>
      <p:sp>
        <p:nvSpPr>
          <p:cNvPr id="4" name="Rectangle 3"/>
          <p:cNvSpPr/>
          <p:nvPr/>
        </p:nvSpPr>
        <p:spPr>
          <a:xfrm>
            <a:off x="566928" y="621792"/>
            <a:ext cx="457200" cy="3175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749808"/>
            <a:ext cx="11064240" cy="640080"/>
          </a:xfrm>
          <a:prstGeom prst="rect">
            <a:avLst/>
          </a:prstGeom>
          <a:noFill/>
        </p:spPr>
        <p:txBody>
          <a:bodyPr wrap="square">
            <a:spAutoFit/>
          </a:bodyPr>
          <a:lstStyle/>
          <a:p>
            <a:r>
              <a:rPr sz="2600" b="1" i="0">
                <a:solidFill>
                  <a:srgbClr val="F2F5F8"/>
                </a:solidFill>
                <a:latin typeface="Montserrat ExtraBold"/>
              </a:rPr>
              <a:t>Active Sub-Projects</a:t>
            </a:r>
          </a:p>
        </p:txBody>
      </p:sp>
      <p:sp>
        <p:nvSpPr>
          <p:cNvPr id="6" name="TextBox 5"/>
          <p:cNvSpPr txBox="1"/>
          <p:nvPr/>
        </p:nvSpPr>
        <p:spPr>
          <a:xfrm>
            <a:off x="548640" y="1325880"/>
            <a:ext cx="11064240" cy="548640"/>
          </a:xfrm>
          <a:prstGeom prst="rect">
            <a:avLst/>
          </a:prstGeom>
          <a:noFill/>
        </p:spPr>
        <p:txBody>
          <a:bodyPr wrap="square">
            <a:spAutoFit/>
          </a:bodyPr>
          <a:lstStyle/>
          <a:p>
            <a:r>
              <a:rPr sz="1300" b="0" i="0">
                <a:solidFill>
                  <a:srgbClr val="9AA7B8"/>
                </a:solidFill>
                <a:latin typeface="Montserrat"/>
              </a:rPr>
              <a:t>Oct 22 - Nov 1, 2026</a:t>
            </a:r>
          </a:p>
        </p:txBody>
      </p:sp>
      <p:graphicFrame>
        <p:nvGraphicFramePr>
          <p:cNvPr id="7" name="Table 6"/>
          <p:cNvGraphicFramePr>
            <a:graphicFrameLocks noGrp="1"/>
          </p:cNvGraphicFramePr>
          <p:nvPr/>
        </p:nvGraphicFramePr>
        <p:xfrm>
          <a:off x="548640" y="2057400"/>
          <a:ext cx="11064240" cy="2286000"/>
        </p:xfrm>
        <a:graphic>
          <a:graphicData uri="http://schemas.openxmlformats.org/drawingml/2006/table">
            <a:tbl>
              <a:tblPr firstRow="1" bandRow="1">
                <a:tableStyleId>{5C22544A-7EE6-4342-B048-85BDC9FD1C3A}</a:tableStyleId>
              </a:tblPr>
              <a:tblGrid>
                <a:gridCol w="2212848"/>
                <a:gridCol w="7191756"/>
                <a:gridCol w="1659636"/>
              </a:tblGrid>
              <a:tr h="457200">
                <a:tc>
                  <a:txBody>
                    <a:bodyPr tIns="25400" bIns="25400"/>
                    <a:lstStyle/>
                    <a:p>
                      <a:r>
                        <a:rPr sz="1050" b="1" i="0">
                          <a:solidFill>
                            <a:srgbClr val="F97316"/>
                          </a:solidFill>
                          <a:latin typeface="Montserrat"/>
                        </a:rPr>
                        <a:t>SUB-CATEGORY</a:t>
                      </a:r>
                    </a:p>
                  </a:txBody>
                  <a:tcPr>
                    <a:solidFill>
                      <a:srgbClr val="152033"/>
                    </a:solidFill>
                  </a:tcPr>
                </a:tc>
                <a:tc>
                  <a:txBody>
                    <a:bodyPr tIns="25400" bIns="25400"/>
                    <a:lstStyle/>
                    <a:p>
                      <a:r>
                        <a:rPr sz="1050" b="1" i="0">
                          <a:solidFill>
                            <a:srgbClr val="F97316"/>
                          </a:solidFill>
                          <a:latin typeface="Montserrat"/>
                        </a:rPr>
                        <a:t>CORE ACTIVITY</a:t>
                      </a:r>
                    </a:p>
                  </a:txBody>
                  <a:tcPr>
                    <a:solidFill>
                      <a:srgbClr val="152033"/>
                    </a:solidFill>
                  </a:tcPr>
                </a:tc>
                <a:tc>
                  <a:txBody>
                    <a:bodyPr tIns="25400" bIns="25400"/>
                    <a:lstStyle/>
                    <a:p>
                      <a:r>
                        <a:rPr sz="1050" b="1" i="0">
                          <a:solidFill>
                            <a:srgbClr val="F97316"/>
                          </a:solidFill>
                          <a:latin typeface="Montserrat"/>
                        </a:rPr>
                        <a:t>STATUS</a:t>
                      </a:r>
                    </a:p>
                  </a:txBody>
                  <a:tcPr>
                    <a:solidFill>
                      <a:srgbClr val="152033"/>
                    </a:solidFill>
                  </a:tcPr>
                </a:tc>
              </a:tr>
              <a:tr h="457200">
                <a:tc>
                  <a:txBody>
                    <a:bodyPr wrap="square" tIns="25400" bIns="25400"/>
                    <a:lstStyle/>
                    <a:p>
                      <a:r>
                        <a:rPr sz="1050" b="0" i="0">
                          <a:solidFill>
                            <a:srgbClr val="F2F5F8"/>
                          </a:solidFill>
                          <a:latin typeface="Montserrat"/>
                        </a:rPr>
                        <a:t>Email Requests</a:t>
                      </a:r>
                    </a:p>
                  </a:txBody>
                  <a:tcPr>
                    <a:solidFill>
                      <a:srgbClr val="0D1626"/>
                    </a:solidFill>
                  </a:tcPr>
                </a:tc>
                <a:tc>
                  <a:txBody>
                    <a:bodyPr wrap="square" tIns="25400" bIns="25400"/>
                    <a:lstStyle/>
                    <a:p>
                      <a:r>
                        <a:rPr sz="1050" b="0" i="0">
                          <a:solidFill>
                            <a:srgbClr val="F2F5F8"/>
                          </a:solidFill>
                          <a:latin typeface="Montserrat"/>
                        </a:rPr>
                        <a:t>17 open / 14 completed in retro - highest-volume category</a:t>
                      </a:r>
                    </a:p>
                  </a:txBody>
                  <a:tcPr>
                    <a:solidFill>
                      <a:srgbClr val="0D1626"/>
                    </a:solidFill>
                  </a:tcPr>
                </a:tc>
                <a:tc>
                  <a:txBody>
                    <a:bodyPr wrap="square" tIns="25400" bIns="25400"/>
                    <a:lstStyle/>
                    <a:p>
                      <a:r>
                        <a:rPr sz="950" b="1" i="0">
                          <a:solidFill>
                            <a:srgbClr val="F59E0B"/>
                          </a:solidFill>
                          <a:latin typeface="Montserrat"/>
                        </a:rPr>
                        <a:t>AT RISK</a:t>
                      </a:r>
                    </a:p>
                  </a:txBody>
                  <a:tcPr>
                    <a:solidFill>
                      <a:srgbClr val="0D1626"/>
                    </a:solidFill>
                  </a:tcPr>
                </a:tc>
              </a:tr>
              <a:tr h="457200">
                <a:tc>
                  <a:txBody>
                    <a:bodyPr wrap="square" tIns="25400" bIns="25400"/>
                    <a:lstStyle/>
                    <a:p>
                      <a:r>
                        <a:rPr sz="1050" b="0" i="0">
                          <a:solidFill>
                            <a:srgbClr val="F2F5F8"/>
                          </a:solidFill>
                          <a:latin typeface="Montserrat"/>
                        </a:rPr>
                        <a:t>SFDC &amp; UTM</a:t>
                      </a:r>
                    </a:p>
                  </a:txBody>
                  <a:tcPr>
                    <a:solidFill>
                      <a:srgbClr val="0D1626"/>
                    </a:solidFill>
                  </a:tcPr>
                </a:tc>
                <a:tc>
                  <a:txBody>
                    <a:bodyPr wrap="square" tIns="25400" bIns="25400"/>
                    <a:lstStyle/>
                    <a:p>
                      <a:r>
                        <a:rPr sz="1050" b="0" i="0">
                          <a:solidFill>
                            <a:srgbClr val="F2F5F8"/>
                          </a:solidFill>
                          <a:latin typeface="Montserrat"/>
                        </a:rPr>
                        <a:t>2 open (both 'multiple', blank names/no notes) / 6 completed in retro</a:t>
                      </a:r>
                    </a:p>
                  </a:txBody>
                  <a:tcPr>
                    <a:solidFill>
                      <a:srgbClr val="0D1626"/>
                    </a:solidFill>
                  </a:tcPr>
                </a:tc>
                <a:tc>
                  <a:txBody>
                    <a:bodyPr wrap="square" tIns="25400" bIns="25400"/>
                    <a:lstStyle/>
                    <a:p>
                      <a:r>
                        <a:rPr sz="950" b="1" i="0">
                          <a:solidFill>
                            <a:srgbClr val="EF4444"/>
                          </a:solidFill>
                          <a:latin typeface="Montserrat"/>
                        </a:rPr>
                        <a:t>BLOCKED</a:t>
                      </a:r>
                    </a:p>
                  </a:txBody>
                  <a:tcPr>
                    <a:solidFill>
                      <a:srgbClr val="0D1626"/>
                    </a:solidFill>
                  </a:tcPr>
                </a:tc>
              </a:tr>
              <a:tr h="457200">
                <a:tc>
                  <a:txBody>
                    <a:bodyPr wrap="square" tIns="25400" bIns="25400"/>
                    <a:lstStyle/>
                    <a:p>
                      <a:r>
                        <a:rPr sz="1050" b="0" i="0">
                          <a:solidFill>
                            <a:srgbClr val="F2F5F8"/>
                          </a:solidFill>
                          <a:latin typeface="Montserrat"/>
                        </a:rPr>
                        <a:t>Webinar Requests</a:t>
                      </a:r>
                    </a:p>
                  </a:txBody>
                  <a:tcPr>
                    <a:solidFill>
                      <a:srgbClr val="0D1626"/>
                    </a:solidFill>
                  </a:tcPr>
                </a:tc>
                <a:tc>
                  <a:txBody>
                    <a:bodyPr wrap="square" tIns="25400" bIns="25400"/>
                    <a:lstStyle/>
                    <a:p>
                      <a:r>
                        <a:rPr sz="1050" b="0" i="0">
                          <a:solidFill>
                            <a:srgbClr val="F2F5F8"/>
                          </a:solidFill>
                          <a:latin typeface="Montserrat"/>
                        </a:rPr>
                        <a:t>2 open, active sub-task chains (email builds, landing pages) running in parallel</a:t>
                      </a:r>
                    </a:p>
                  </a:txBody>
                  <a:tcPr>
                    <a:solidFill>
                      <a:srgbClr val="0D1626"/>
                    </a:solidFill>
                  </a:tcPr>
                </a:tc>
                <a:tc>
                  <a:txBody>
                    <a:bodyPr wrap="square" tIns="25400" bIns="25400"/>
                    <a:lstStyle/>
                    <a:p>
                      <a:r>
                        <a:rPr sz="950" b="1" i="0">
                          <a:solidFill>
                            <a:srgbClr val="3B82F6"/>
                          </a:solidFill>
                          <a:latin typeface="Montserrat"/>
                        </a:rPr>
                        <a:t>IN PROGRESS</a:t>
                      </a:r>
                    </a:p>
                  </a:txBody>
                  <a:tcPr>
                    <a:solidFill>
                      <a:srgbClr val="0D1626"/>
                    </a:solidFill>
                  </a:tcPr>
                </a:tc>
              </a:tr>
              <a:tr h="457200">
                <a:tc>
                  <a:txBody>
                    <a:bodyPr wrap="square" tIns="25400" bIns="25400"/>
                    <a:lstStyle/>
                    <a:p>
                      <a:r>
                        <a:rPr sz="1050" b="0" i="0">
                          <a:solidFill>
                            <a:srgbClr val="F2F5F8"/>
                          </a:solidFill>
                          <a:latin typeface="Montserrat"/>
                        </a:rPr>
                        <a:t>List Uploads</a:t>
                      </a:r>
                    </a:p>
                  </a:txBody>
                  <a:tcPr>
                    <a:solidFill>
                      <a:srgbClr val="0D1626"/>
                    </a:solidFill>
                  </a:tcPr>
                </a:tc>
                <a:tc>
                  <a:txBody>
                    <a:bodyPr wrap="square" tIns="25400" bIns="25400"/>
                    <a:lstStyle/>
                    <a:p>
                      <a:r>
                        <a:rPr sz="1050" b="0" i="0">
                          <a:solidFill>
                            <a:srgbClr val="F2F5F8"/>
                          </a:solidFill>
                          <a:latin typeface="Montserrat"/>
                        </a:rPr>
                        <a:t>1 open top-level + 4 unassigned sub-tasks due 10/23-10/26</a:t>
                      </a:r>
                    </a:p>
                  </a:txBody>
                  <a:tcPr>
                    <a:solidFill>
                      <a:srgbClr val="0D1626"/>
                    </a:solidFill>
                  </a:tcPr>
                </a:tc>
                <a:tc>
                  <a:txBody>
                    <a:bodyPr wrap="square" tIns="25400" bIns="25400"/>
                    <a:lstStyle/>
                    <a:p>
                      <a:r>
                        <a:rPr sz="950" b="1" i="0">
                          <a:solidFill>
                            <a:srgbClr val="F59E0B"/>
                          </a:solidFill>
                          <a:latin typeface="Montserrat"/>
                        </a:rPr>
                        <a:t>AT RISK</a:t>
                      </a:r>
                    </a:p>
                  </a:txBody>
                  <a:tcPr>
                    <a:solidFill>
                      <a:srgbClr val="0D1626"/>
                    </a:solidFill>
                  </a:tcPr>
                </a:tc>
              </a:tr>
            </a:tbl>
          </a:graphicData>
        </a:graphic>
      </p:graphicFrame>
      <p:sp>
        <p:nvSpPr>
          <p:cNvPr id="8" name="TextBox 7"/>
          <p:cNvSpPr txBox="1"/>
          <p:nvPr/>
        </p:nvSpPr>
        <p:spPr>
          <a:xfrm>
            <a:off x="548640" y="6355080"/>
            <a:ext cx="11064240" cy="457200"/>
          </a:xfrm>
          <a:prstGeom prst="rect">
            <a:avLst/>
          </a:prstGeom>
          <a:noFill/>
        </p:spPr>
        <p:txBody>
          <a:bodyPr wrap="square">
            <a:spAutoFit/>
          </a:bodyPr>
          <a:lstStyle/>
          <a:p>
            <a:r>
              <a:rPr sz="750" b="0" i="1">
                <a:solidFill>
                  <a:srgbClr val="9AA7B8"/>
                </a:solidFill>
                <a:latin typeface="Montserrat"/>
              </a:rPr>
              <a:t>UTM(s)+SFDC remains the disabled dead branch per n8n coverage (0 tickets). Source: Asana, [MOps] Intake, open+retro-completed tasks grouped by Project Type.</a:t>
            </a:r>
          </a:p>
        </p:txBody>
      </p:sp>
      <p:sp>
        <p:nvSpPr>
          <p:cNvPr id="9" name="TextBox 8"/>
          <p:cNvSpPr txBox="1"/>
          <p:nvPr/>
        </p:nvSpPr>
        <p:spPr>
          <a:xfrm>
            <a:off x="11612880" y="6473952"/>
            <a:ext cx="457200" cy="320040"/>
          </a:xfrm>
          <a:prstGeom prst="rect">
            <a:avLst/>
          </a:prstGeom>
          <a:noFill/>
        </p:spPr>
        <p:txBody>
          <a:bodyPr wrap="square">
            <a:spAutoFit/>
          </a:bodyPr>
          <a:lstStyle/>
          <a:p>
            <a:pPr algn="r"/>
            <a:r>
              <a:rPr sz="900" b="0" i="0">
                <a:solidFill>
                  <a:srgbClr val="9AA7B8"/>
                </a:solidFill>
                <a:latin typeface="Montserrat"/>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1626"/>
        </a:solidFill>
        <a:effectLst/>
      </p:bgPr>
    </p:bg>
    <p:spTree>
      <p:nvGrpSpPr>
        <p:cNvPr id="1" name=""/>
        <p:cNvGrpSpPr/>
        <p:nvPr/>
      </p:nvGrpSpPr>
      <p:grpSpPr/>
      <p:sp>
        <p:nvSpPr>
          <p:cNvPr id="2" name="Rectangle 1"/>
          <p:cNvSpPr/>
          <p:nvPr/>
        </p:nvSpPr>
        <p:spPr>
          <a:xfrm>
            <a:off x="0" y="0"/>
            <a:ext cx="12191695" cy="63500"/>
          </a:xfrm>
          <a:prstGeom prst="rect">
            <a:avLst/>
          </a:prstGeom>
          <a:gradFill rotWithShape="1">
            <a:gsLst>
              <a:gs pos="0">
                <a:srgbClr val="14B8A6"/>
              </a:gs>
              <a:gs pos="25000">
                <a:srgbClr val="22C55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515600" cy="320040"/>
          </a:xfrm>
          <a:prstGeom prst="rect">
            <a:avLst/>
          </a:prstGeom>
          <a:noFill/>
        </p:spPr>
        <p:txBody>
          <a:bodyPr wrap="square">
            <a:spAutoFit/>
          </a:bodyPr>
          <a:lstStyle/>
          <a:p>
            <a:r>
              <a:rPr sz="1200" b="1" i="0">
                <a:solidFill>
                  <a:srgbClr val="F97316"/>
                </a:solidFill>
                <a:latin typeface="Montserrat"/>
              </a:rPr>
              <a:t>LOOK AHEAD</a:t>
            </a:r>
          </a:p>
        </p:txBody>
      </p:sp>
      <p:sp>
        <p:nvSpPr>
          <p:cNvPr id="4" name="Rectangle 3"/>
          <p:cNvSpPr/>
          <p:nvPr/>
        </p:nvSpPr>
        <p:spPr>
          <a:xfrm>
            <a:off x="566928" y="621792"/>
            <a:ext cx="457200" cy="3175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749808"/>
            <a:ext cx="11064240" cy="640080"/>
          </a:xfrm>
          <a:prstGeom prst="rect">
            <a:avLst/>
          </a:prstGeom>
          <a:noFill/>
        </p:spPr>
        <p:txBody>
          <a:bodyPr wrap="square">
            <a:spAutoFit/>
          </a:bodyPr>
          <a:lstStyle/>
          <a:p>
            <a:r>
              <a:rPr sz="2600" b="1" i="0">
                <a:solidFill>
                  <a:srgbClr val="F2F5F8"/>
                </a:solidFill>
                <a:latin typeface="Montserrat ExtraBold"/>
              </a:rPr>
              <a:t>Incomplete Tickets</a:t>
            </a:r>
          </a:p>
        </p:txBody>
      </p:sp>
      <p:sp>
        <p:nvSpPr>
          <p:cNvPr id="6" name="TextBox 5"/>
          <p:cNvSpPr txBox="1"/>
          <p:nvPr/>
        </p:nvSpPr>
        <p:spPr>
          <a:xfrm>
            <a:off x="548640" y="1325880"/>
            <a:ext cx="11064240" cy="548640"/>
          </a:xfrm>
          <a:prstGeom prst="rect">
            <a:avLst/>
          </a:prstGeom>
          <a:noFill/>
        </p:spPr>
        <p:txBody>
          <a:bodyPr wrap="square">
            <a:spAutoFit/>
          </a:bodyPr>
          <a:lstStyle/>
          <a:p>
            <a:r>
              <a:rPr sz="1300" b="0" i="0">
                <a:solidFill>
                  <a:srgbClr val="9AA7B8"/>
                </a:solidFill>
                <a:latin typeface="Montserrat"/>
              </a:rPr>
              <a:t>Oct 22 - Nov 1, 2026</a:t>
            </a:r>
          </a:p>
        </p:txBody>
      </p:sp>
      <p:graphicFrame>
        <p:nvGraphicFramePr>
          <p:cNvPr id="7" name="Table 6"/>
          <p:cNvGraphicFramePr>
            <a:graphicFrameLocks noGrp="1"/>
          </p:cNvGraphicFramePr>
          <p:nvPr/>
        </p:nvGraphicFramePr>
        <p:xfrm>
          <a:off x="548640" y="2057400"/>
          <a:ext cx="11064239" cy="3200400"/>
        </p:xfrm>
        <a:graphic>
          <a:graphicData uri="http://schemas.openxmlformats.org/drawingml/2006/table">
            <a:tbl>
              <a:tblPr firstRow="1" bandRow="1">
                <a:tableStyleId>{5C22544A-7EE6-4342-B048-85BDC9FD1C3A}</a:tableStyleId>
              </a:tblPr>
              <a:tblGrid>
                <a:gridCol w="2996565"/>
                <a:gridCol w="1498282"/>
                <a:gridCol w="5532120"/>
                <a:gridCol w="1037272"/>
              </a:tblGrid>
              <a:tr h="457200">
                <a:tc>
                  <a:txBody>
                    <a:bodyPr tIns="25400" bIns="25400"/>
                    <a:lstStyle/>
                    <a:p>
                      <a:r>
                        <a:rPr sz="1050" b="1" i="0">
                          <a:solidFill>
                            <a:srgbClr val="F97316"/>
                          </a:solidFill>
                          <a:latin typeface="Montserrat"/>
                        </a:rPr>
                        <a:t>TICKET</a:t>
                      </a:r>
                    </a:p>
                  </a:txBody>
                  <a:tcPr>
                    <a:solidFill>
                      <a:srgbClr val="152033"/>
                    </a:solidFill>
                  </a:tcPr>
                </a:tc>
                <a:tc>
                  <a:txBody>
                    <a:bodyPr tIns="25400" bIns="25400"/>
                    <a:lstStyle/>
                    <a:p>
                      <a:r>
                        <a:rPr sz="1050" b="1" i="0">
                          <a:solidFill>
                            <a:srgbClr val="F97316"/>
                          </a:solidFill>
                          <a:latin typeface="Montserrat"/>
                        </a:rPr>
                        <a:t>ASSIGNEE</a:t>
                      </a:r>
                    </a:p>
                  </a:txBody>
                  <a:tcPr>
                    <a:solidFill>
                      <a:srgbClr val="152033"/>
                    </a:solidFill>
                  </a:tcPr>
                </a:tc>
                <a:tc>
                  <a:txBody>
                    <a:bodyPr tIns="25400" bIns="25400"/>
                    <a:lstStyle/>
                    <a:p>
                      <a:r>
                        <a:rPr sz="1050" b="1" i="0">
                          <a:solidFill>
                            <a:srgbClr val="F97316"/>
                          </a:solidFill>
                          <a:latin typeface="Montserrat"/>
                        </a:rPr>
                        <a:t>MISSING INFO</a:t>
                      </a:r>
                    </a:p>
                  </a:txBody>
                  <a:tcPr>
                    <a:solidFill>
                      <a:srgbClr val="152033"/>
                    </a:solidFill>
                  </a:tcPr>
                </a:tc>
                <a:tc>
                  <a:txBody>
                    <a:bodyPr tIns="25400" bIns="25400"/>
                    <a:lstStyle/>
                    <a:p>
                      <a:r>
                        <a:rPr sz="1050" b="1" i="0">
                          <a:solidFill>
                            <a:srgbClr val="F97316"/>
                          </a:solidFill>
                          <a:latin typeface="Montserrat"/>
                        </a:rPr>
                        <a:t>PRIORITY</a:t>
                      </a:r>
                    </a:p>
                  </a:txBody>
                  <a:tcPr>
                    <a:solidFill>
                      <a:srgbClr val="152033"/>
                    </a:solidFill>
                  </a:tcPr>
                </a:tc>
              </a:tr>
              <a:tr h="457200">
                <a:tc>
                  <a:txBody>
                    <a:bodyPr wrap="square" tIns="25400" bIns="25400"/>
                    <a:lstStyle/>
                    <a:p>
                      <a:r>
                        <a:rPr sz="1050" b="0" i="0">
                          <a:solidFill>
                            <a:srgbClr val="F2F5F8"/>
                          </a:solidFill>
                          <a:latin typeface="Montserrat"/>
                        </a:rPr>
                        <a:t>(blank name)</a:t>
                      </a:r>
                    </a:p>
                  </a:txBody>
                  <a:tcPr>
                    <a:solidFill>
                      <a:srgbClr val="0D1626"/>
                    </a:solidFill>
                  </a:tcPr>
                </a:tc>
                <a:tc>
                  <a:txBody>
                    <a:bodyPr wrap="square" tIns="25400" bIns="25400"/>
                    <a:lstStyle/>
                    <a:p>
                      <a:r>
                        <a:rPr sz="1050" b="0" i="0">
                          <a:solidFill>
                            <a:srgbClr val="F2F5F8"/>
                          </a:solidFill>
                          <a:latin typeface="Montserrat"/>
                        </a:rPr>
                        <a:t>Unassigned</a:t>
                      </a:r>
                    </a:p>
                  </a:txBody>
                  <a:tcPr>
                    <a:solidFill>
                      <a:srgbClr val="0D1626"/>
                    </a:solidFill>
                  </a:tcPr>
                </a:tc>
                <a:tc>
                  <a:txBody>
                    <a:bodyPr wrap="square" tIns="25400" bIns="25400"/>
                    <a:lstStyle/>
                    <a:p>
                      <a:r>
                        <a:rPr sz="1050" b="0" i="0">
                          <a:solidFill>
                            <a:srgbClr val="F2F5F8"/>
                          </a:solidFill>
                          <a:latin typeface="Montserrat"/>
                        </a:rPr>
                        <a:t>No content at all - empty notes, no Project Type, no comments</a:t>
                      </a:r>
                    </a:p>
                  </a:txBody>
                  <a:tcPr>
                    <a:solidFill>
                      <a:srgbClr val="0D1626"/>
                    </a:solidFill>
                  </a:tcPr>
                </a:tc>
                <a:tc>
                  <a:txBody>
                    <a:bodyPr wrap="square" tIns="25400" bIns="25400"/>
                    <a:lstStyle/>
                    <a:p>
                      <a:r>
                        <a:rPr sz="1050" b="0" i="0">
                          <a:solidFill>
                            <a:srgbClr val="F2F5F8"/>
                          </a:solidFill>
                          <a:latin typeface="Montserrat"/>
                        </a:rPr>
                        <a:t>null</a:t>
                      </a:r>
                    </a:p>
                  </a:txBody>
                  <a:tcPr>
                    <a:solidFill>
                      <a:srgbClr val="0D1626"/>
                    </a:solidFill>
                  </a:tcPr>
                </a:tc>
              </a:tr>
              <a:tr h="457200">
                <a:tc>
                  <a:txBody>
                    <a:bodyPr wrap="square" tIns="25400" bIns="25400"/>
                    <a:lstStyle/>
                    <a:p>
                      <a:r>
                        <a:rPr sz="1050" b="0" i="0">
                          <a:solidFill>
                            <a:srgbClr val="F2F5F8"/>
                          </a:solidFill>
                          <a:latin typeface="Montserrat"/>
                        </a:rPr>
                        <a:t>Zapier integration - LinkedIn</a:t>
                      </a:r>
                    </a:p>
                  </a:txBody>
                  <a:tcPr>
                    <a:solidFill>
                      <a:srgbClr val="0D1626"/>
                    </a:solidFill>
                  </a:tcPr>
                </a:tc>
                <a:tc>
                  <a:txBody>
                    <a:bodyPr wrap="square" tIns="25400" bIns="25400"/>
                    <a:lstStyle/>
                    <a:p>
                      <a:r>
                        <a:rPr sz="1050" b="0" i="0">
                          <a:solidFill>
                            <a:srgbClr val="F2F5F8"/>
                          </a:solidFill>
                          <a:latin typeface="Montserrat"/>
                        </a:rPr>
                        <a:t>Unassigned</a:t>
                      </a:r>
                    </a:p>
                  </a:txBody>
                  <a:tcPr>
                    <a:solidFill>
                      <a:srgbClr val="0D1626"/>
                    </a:solidFill>
                  </a:tcPr>
                </a:tc>
                <a:tc>
                  <a:txBody>
                    <a:bodyPr wrap="square" tIns="25400" bIns="25400"/>
                    <a:lstStyle/>
                    <a:p>
                      <a:r>
                        <a:rPr sz="1050" b="0" i="0">
                          <a:solidFill>
                            <a:srgbClr val="F2F5F8"/>
                          </a:solidFill>
                          <a:latin typeface="Montserrat"/>
                        </a:rPr>
                        <a:t>Stalled on Zapier-vs-native-Pardot/LinkedIn decision, not missing data</a:t>
                      </a:r>
                    </a:p>
                  </a:txBody>
                  <a:tcPr>
                    <a:solidFill>
                      <a:srgbClr val="0D1626"/>
                    </a:solidFill>
                  </a:tcPr>
                </a:tc>
                <a:tc>
                  <a:txBody>
                    <a:bodyPr wrap="square" tIns="25400" bIns="25400"/>
                    <a:lstStyle/>
                    <a:p>
                      <a:r>
                        <a:rPr sz="1050" b="0" i="0">
                          <a:solidFill>
                            <a:srgbClr val="F2F5F8"/>
                          </a:solidFill>
                          <a:latin typeface="Montserrat"/>
                        </a:rPr>
                        <a:t>null</a:t>
                      </a:r>
                    </a:p>
                  </a:txBody>
                  <a:tcPr>
                    <a:solidFill>
                      <a:srgbClr val="0D1626"/>
                    </a:solidFill>
                  </a:tcPr>
                </a:tc>
              </a:tr>
              <a:tr h="457200">
                <a:tc>
                  <a:txBody>
                    <a:bodyPr wrap="square" tIns="25400" bIns="25400"/>
                    <a:lstStyle/>
                    <a:p>
                      <a:r>
                        <a:rPr sz="1050" b="0" i="0">
                          <a:solidFill>
                            <a:srgbClr val="F2F5F8"/>
                          </a:solidFill>
                          <a:latin typeface="Montserrat"/>
                        </a:rPr>
                        <a:t>EMEA - GLAM/BASE campaign (Behaviour&lt;50)</a:t>
                      </a:r>
                    </a:p>
                  </a:txBody>
                  <a:tcPr>
                    <a:solidFill>
                      <a:srgbClr val="0D1626"/>
                    </a:solidFill>
                  </a:tcPr>
                </a:tc>
                <a:tc>
                  <a:txBody>
                    <a:bodyPr wrap="square" tIns="25400" bIns="25400"/>
                    <a:lstStyle/>
                    <a:p>
                      <a:r>
                        <a:rPr sz="1050" b="0" i="0">
                          <a:solidFill>
                            <a:srgbClr val="F2F5F8"/>
                          </a:solidFill>
                          <a:latin typeface="Montserrat"/>
                        </a:rPr>
                        <a:t>Felipe Tencio</a:t>
                      </a:r>
                    </a:p>
                  </a:txBody>
                  <a:tcPr>
                    <a:solidFill>
                      <a:srgbClr val="0D1626"/>
                    </a:solidFill>
                  </a:tcPr>
                </a:tc>
                <a:tc>
                  <a:txBody>
                    <a:bodyPr wrap="square" tIns="25400" bIns="25400"/>
                    <a:lstStyle/>
                    <a:p>
                      <a:r>
                        <a:rPr sz="1050" b="0" i="0">
                          <a:solidFill>
                            <a:srgbClr val="F2F5F8"/>
                          </a:solidFill>
                          <a:latin typeface="Montserrat"/>
                        </a:rPr>
                        <a:t>Content/emails already approved - only needs go-live confirmation (status label is stale)</a:t>
                      </a:r>
                    </a:p>
                  </a:txBody>
                  <a:tcPr>
                    <a:solidFill>
                      <a:srgbClr val="0D1626"/>
                    </a:solidFill>
                  </a:tcPr>
                </a:tc>
                <a:tc>
                  <a:txBody>
                    <a:bodyPr wrap="square" tIns="25400" bIns="25400"/>
                    <a:lstStyle/>
                    <a:p>
                      <a:r>
                        <a:rPr sz="1050" b="0" i="0">
                          <a:solidFill>
                            <a:srgbClr val="F2F5F8"/>
                          </a:solidFill>
                          <a:latin typeface="Montserrat"/>
                        </a:rPr>
                        <a:t>null</a:t>
                      </a:r>
                    </a:p>
                  </a:txBody>
                  <a:tcPr>
                    <a:solidFill>
                      <a:srgbClr val="0D1626"/>
                    </a:solidFill>
                  </a:tcPr>
                </a:tc>
              </a:tr>
              <a:tr h="457200">
                <a:tc>
                  <a:txBody>
                    <a:bodyPr wrap="square" tIns="25400" bIns="25400"/>
                    <a:lstStyle/>
                    <a:p>
                      <a:r>
                        <a:rPr sz="1050" b="0" i="0">
                          <a:solidFill>
                            <a:srgbClr val="F2F5F8"/>
                          </a:solidFill>
                          <a:latin typeface="Montserrat"/>
                        </a:rPr>
                        <a:t>[Event Name] Pre Event Marketing Emails</a:t>
                      </a:r>
                    </a:p>
                  </a:txBody>
                  <a:tcPr>
                    <a:solidFill>
                      <a:srgbClr val="0D1626"/>
                    </a:solidFill>
                  </a:tcPr>
                </a:tc>
                <a:tc>
                  <a:txBody>
                    <a:bodyPr wrap="square" tIns="25400" bIns="25400"/>
                    <a:lstStyle/>
                    <a:p>
                      <a:r>
                        <a:rPr sz="1050" b="0" i="0">
                          <a:solidFill>
                            <a:srgbClr val="F2F5F8"/>
                          </a:solidFill>
                          <a:latin typeface="Montserrat"/>
                        </a:rPr>
                        <a:t>Unassigned</a:t>
                      </a:r>
                    </a:p>
                  </a:txBody>
                  <a:tcPr>
                    <a:solidFill>
                      <a:srgbClr val="0D1626"/>
                    </a:solidFill>
                  </a:tcPr>
                </a:tc>
                <a:tc>
                  <a:txBody>
                    <a:bodyPr wrap="square" tIns="25400" bIns="25400"/>
                    <a:lstStyle/>
                    <a:p>
                      <a:r>
                        <a:rPr sz="1050" b="0" i="0">
                          <a:solidFill>
                            <a:srgbClr val="F2F5F8"/>
                          </a:solidFill>
                          <a:latin typeface="Montserrat"/>
                        </a:rPr>
                        <a:t>Requester never supplied copy/banner (2026-07-13 ask unanswered, 113 days)</a:t>
                      </a:r>
                    </a:p>
                  </a:txBody>
                  <a:tcPr>
                    <a:solidFill>
                      <a:srgbClr val="0D1626"/>
                    </a:solidFill>
                  </a:tcPr>
                </a:tc>
                <a:tc>
                  <a:txBody>
                    <a:bodyPr wrap="square" tIns="25400" bIns="25400"/>
                    <a:lstStyle/>
                    <a:p>
                      <a:r>
                        <a:rPr sz="1050" b="0" i="0">
                          <a:solidFill>
                            <a:srgbClr val="F2F5F8"/>
                          </a:solidFill>
                          <a:latin typeface="Montserrat"/>
                        </a:rPr>
                        <a:t>null</a:t>
                      </a:r>
                    </a:p>
                  </a:txBody>
                  <a:tcPr>
                    <a:solidFill>
                      <a:srgbClr val="0D1626"/>
                    </a:solidFill>
                  </a:tcPr>
                </a:tc>
              </a:tr>
              <a:tr h="457200">
                <a:tc>
                  <a:txBody>
                    <a:bodyPr wrap="square" tIns="25400" bIns="25400"/>
                    <a:lstStyle/>
                    <a:p>
                      <a:r>
                        <a:rPr sz="1050" b="0" i="0">
                          <a:solidFill>
                            <a:srgbClr val="F2F5F8"/>
                          </a:solidFill>
                          <a:latin typeface="Montserrat"/>
                        </a:rPr>
                        <a:t>Create contact list (Drupal/Smarter Content ICP)</a:t>
                      </a:r>
                    </a:p>
                  </a:txBody>
                  <a:tcPr>
                    <a:solidFill>
                      <a:srgbClr val="0D1626"/>
                    </a:solidFill>
                  </a:tcPr>
                </a:tc>
                <a:tc>
                  <a:txBody>
                    <a:bodyPr wrap="square" tIns="25400" bIns="25400"/>
                    <a:lstStyle/>
                    <a:p>
                      <a:r>
                        <a:rPr sz="1050" b="0" i="0">
                          <a:solidFill>
                            <a:srgbClr val="F2F5F8"/>
                          </a:solidFill>
                          <a:latin typeface="Montserrat"/>
                        </a:rPr>
                        <a:t>Unassigned</a:t>
                      </a:r>
                    </a:p>
                  </a:txBody>
                  <a:tcPr>
                    <a:solidFill>
                      <a:srgbClr val="0D1626"/>
                    </a:solidFill>
                  </a:tcPr>
                </a:tc>
                <a:tc>
                  <a:txBody>
                    <a:bodyPr wrap="square" tIns="25400" bIns="25400"/>
                    <a:lstStyle/>
                    <a:p>
                      <a:r>
                        <a:rPr sz="1050" b="0" i="0">
                          <a:solidFill>
                            <a:srgbClr val="F2F5F8"/>
                          </a:solidFill>
                          <a:latin typeface="Montserrat"/>
                        </a:rPr>
                        <a:t>Which data source/system (6sense/Pardot/SF) never confirmed (263 days)</a:t>
                      </a:r>
                    </a:p>
                  </a:txBody>
                  <a:tcPr>
                    <a:solidFill>
                      <a:srgbClr val="0D1626"/>
                    </a:solidFill>
                  </a:tcPr>
                </a:tc>
                <a:tc>
                  <a:txBody>
                    <a:bodyPr wrap="square" tIns="25400" bIns="25400"/>
                    <a:lstStyle/>
                    <a:p>
                      <a:r>
                        <a:rPr sz="1050" b="0" i="0">
                          <a:solidFill>
                            <a:srgbClr val="F2F5F8"/>
                          </a:solidFill>
                          <a:latin typeface="Montserrat"/>
                        </a:rPr>
                        <a:t>null</a:t>
                      </a:r>
                    </a:p>
                  </a:txBody>
                  <a:tcPr>
                    <a:solidFill>
                      <a:srgbClr val="0D1626"/>
                    </a:solidFill>
                  </a:tcPr>
                </a:tc>
              </a:tr>
              <a:tr h="457200">
                <a:tc>
                  <a:txBody>
                    <a:bodyPr wrap="square" tIns="25400" bIns="25400"/>
                    <a:lstStyle/>
                    <a:p>
                      <a:r>
                        <a:rPr sz="1050" b="0" i="0">
                          <a:solidFill>
                            <a:srgbClr val="F2F5F8"/>
                          </a:solidFill>
                          <a:latin typeface="Montserrat"/>
                        </a:rPr>
                        <a:t>Optimize Starter upon ACP Renewal</a:t>
                      </a:r>
                    </a:p>
                  </a:txBody>
                  <a:tcPr>
                    <a:solidFill>
                      <a:srgbClr val="0D1626"/>
                    </a:solidFill>
                  </a:tcPr>
                </a:tc>
                <a:tc>
                  <a:txBody>
                    <a:bodyPr wrap="square" tIns="25400" bIns="25400"/>
                    <a:lstStyle/>
                    <a:p>
                      <a:r>
                        <a:rPr sz="1050" b="0" i="0">
                          <a:solidFill>
                            <a:srgbClr val="F2F5F8"/>
                          </a:solidFill>
                          <a:latin typeface="Montserrat"/>
                        </a:rPr>
                        <a:t>Karen Plant</a:t>
                      </a:r>
                    </a:p>
                  </a:txBody>
                  <a:tcPr>
                    <a:solidFill>
                      <a:srgbClr val="0D1626"/>
                    </a:solidFill>
                  </a:tcPr>
                </a:tc>
                <a:tc>
                  <a:txBody>
                    <a:bodyPr wrap="square" tIns="25400" bIns="25400"/>
                    <a:lstStyle/>
                    <a:p>
                      <a:r>
                        <a:rPr sz="1050" b="0" i="0">
                          <a:solidFill>
                            <a:srgbClr val="F2F5F8"/>
                          </a:solidFill>
                          <a:latin typeface="Montserrat"/>
                        </a:rPr>
                        <a:t>Stalled on product-ownership handoff decision (441 days)</a:t>
                      </a:r>
                    </a:p>
                  </a:txBody>
                  <a:tcPr>
                    <a:solidFill>
                      <a:srgbClr val="0D1626"/>
                    </a:solidFill>
                  </a:tcPr>
                </a:tc>
                <a:tc>
                  <a:txBody>
                    <a:bodyPr wrap="square" tIns="25400" bIns="25400"/>
                    <a:lstStyle/>
                    <a:p>
                      <a:r>
                        <a:rPr sz="1050" b="0" i="0">
                          <a:solidFill>
                            <a:srgbClr val="F2F5F8"/>
                          </a:solidFill>
                          <a:latin typeface="Montserrat"/>
                        </a:rPr>
                        <a:t>null</a:t>
                      </a:r>
                    </a:p>
                  </a:txBody>
                  <a:tcPr>
                    <a:solidFill>
                      <a:srgbClr val="0D1626"/>
                    </a:solidFill>
                  </a:tcPr>
                </a:tc>
              </a:tr>
            </a:tbl>
          </a:graphicData>
        </a:graphic>
      </p:graphicFrame>
      <p:sp>
        <p:nvSpPr>
          <p:cNvPr id="8" name="TextBox 7"/>
          <p:cNvSpPr txBox="1"/>
          <p:nvPr/>
        </p:nvSpPr>
        <p:spPr>
          <a:xfrm>
            <a:off x="548640" y="6355080"/>
            <a:ext cx="11064240" cy="457200"/>
          </a:xfrm>
          <a:prstGeom prst="rect">
            <a:avLst/>
          </a:prstGeom>
          <a:noFill/>
        </p:spPr>
        <p:txBody>
          <a:bodyPr wrap="square">
            <a:spAutoFit/>
          </a:bodyPr>
          <a:lstStyle/>
          <a:p>
            <a:r>
              <a:rPr sz="750" b="0" i="1">
                <a:solidFill>
                  <a:srgbClr val="9AA7B8"/>
                </a:solidFill>
                <a:latin typeface="Montserrat"/>
              </a:rPr>
              <a:t>Priority is null on every row - consistent with the board-wide 94% null-Priority finding (see slide 13). Source: Asana MOPS-Status = Blocked / Waiting for Feedback / Require Information.</a:t>
            </a:r>
          </a:p>
        </p:txBody>
      </p:sp>
      <p:sp>
        <p:nvSpPr>
          <p:cNvPr id="9" name="TextBox 8"/>
          <p:cNvSpPr txBox="1"/>
          <p:nvPr/>
        </p:nvSpPr>
        <p:spPr>
          <a:xfrm>
            <a:off x="11612880" y="6473952"/>
            <a:ext cx="457200" cy="320040"/>
          </a:xfrm>
          <a:prstGeom prst="rect">
            <a:avLst/>
          </a:prstGeom>
          <a:noFill/>
        </p:spPr>
        <p:txBody>
          <a:bodyPr wrap="square">
            <a:spAutoFit/>
          </a:bodyPr>
          <a:lstStyle/>
          <a:p>
            <a:pPr algn="r"/>
            <a:r>
              <a:rPr sz="900" b="0" i="0">
                <a:solidFill>
                  <a:srgbClr val="9AA7B8"/>
                </a:solidFill>
                <a:latin typeface="Montserrat"/>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1626"/>
        </a:solidFill>
        <a:effectLst/>
      </p:bgPr>
    </p:bg>
    <p:spTree>
      <p:nvGrpSpPr>
        <p:cNvPr id="1" name=""/>
        <p:cNvGrpSpPr/>
        <p:nvPr/>
      </p:nvGrpSpPr>
      <p:grpSpPr/>
      <p:sp>
        <p:nvSpPr>
          <p:cNvPr id="2" name="Rectangle 1"/>
          <p:cNvSpPr/>
          <p:nvPr/>
        </p:nvSpPr>
        <p:spPr>
          <a:xfrm>
            <a:off x="0" y="0"/>
            <a:ext cx="12191695" cy="63500"/>
          </a:xfrm>
          <a:prstGeom prst="rect">
            <a:avLst/>
          </a:prstGeom>
          <a:gradFill rotWithShape="1">
            <a:gsLst>
              <a:gs pos="0">
                <a:srgbClr val="14B8A6"/>
              </a:gs>
              <a:gs pos="25000">
                <a:srgbClr val="22C55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515600" cy="320040"/>
          </a:xfrm>
          <a:prstGeom prst="rect">
            <a:avLst/>
          </a:prstGeom>
          <a:noFill/>
        </p:spPr>
        <p:txBody>
          <a:bodyPr wrap="square">
            <a:spAutoFit/>
          </a:bodyPr>
          <a:lstStyle/>
          <a:p>
            <a:r>
              <a:rPr sz="1200" b="1" i="0">
                <a:solidFill>
                  <a:srgbClr val="F97316"/>
                </a:solidFill>
                <a:latin typeface="Montserrat"/>
              </a:rPr>
              <a:t>LOOK AHEAD</a:t>
            </a:r>
          </a:p>
        </p:txBody>
      </p:sp>
      <p:sp>
        <p:nvSpPr>
          <p:cNvPr id="4" name="Rectangle 3"/>
          <p:cNvSpPr/>
          <p:nvPr/>
        </p:nvSpPr>
        <p:spPr>
          <a:xfrm>
            <a:off x="566928" y="621792"/>
            <a:ext cx="457200" cy="3175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749808"/>
            <a:ext cx="11064240" cy="640080"/>
          </a:xfrm>
          <a:prstGeom prst="rect">
            <a:avLst/>
          </a:prstGeom>
          <a:noFill/>
        </p:spPr>
        <p:txBody>
          <a:bodyPr wrap="square">
            <a:spAutoFit/>
          </a:bodyPr>
          <a:lstStyle/>
          <a:p>
            <a:r>
              <a:rPr sz="2600" b="1" i="0">
                <a:solidFill>
                  <a:srgbClr val="F2F5F8"/>
                </a:solidFill>
                <a:latin typeface="Montserrat ExtraBold"/>
              </a:rPr>
              <a:t>Data Hygiene &amp; Recommendations</a:t>
            </a:r>
          </a:p>
        </p:txBody>
      </p:sp>
      <p:sp>
        <p:nvSpPr>
          <p:cNvPr id="6" name="TextBox 5"/>
          <p:cNvSpPr txBox="1"/>
          <p:nvPr/>
        </p:nvSpPr>
        <p:spPr>
          <a:xfrm>
            <a:off x="548640" y="1325880"/>
            <a:ext cx="11064240" cy="548640"/>
          </a:xfrm>
          <a:prstGeom prst="rect">
            <a:avLst/>
          </a:prstGeom>
          <a:noFill/>
        </p:spPr>
        <p:txBody>
          <a:bodyPr wrap="square">
            <a:spAutoFit/>
          </a:bodyPr>
          <a:lstStyle/>
          <a:p>
            <a:r>
              <a:rPr sz="1300" b="0" i="0">
                <a:solidFill>
                  <a:srgbClr val="9AA7B8"/>
                </a:solidFill>
                <a:latin typeface="Montserrat"/>
              </a:rPr>
              <a:t>Oct 22 - Nov 1, 2026</a:t>
            </a:r>
          </a:p>
        </p:txBody>
      </p:sp>
      <p:sp>
        <p:nvSpPr>
          <p:cNvPr id="7" name="TextBox 6"/>
          <p:cNvSpPr txBox="1"/>
          <p:nvPr/>
        </p:nvSpPr>
        <p:spPr>
          <a:xfrm>
            <a:off x="548640" y="2103120"/>
            <a:ext cx="11064240" cy="3931920"/>
          </a:xfrm>
          <a:prstGeom prst="rect">
            <a:avLst/>
          </a:prstGeom>
          <a:noFill/>
        </p:spPr>
        <p:txBody>
          <a:bodyPr wrap="square">
            <a:spAutoFit/>
          </a:bodyPr>
          <a:lstStyle/>
          <a:p>
            <a:pPr>
              <a:spcAft>
                <a:spcPts val="800"/>
              </a:spcAft>
            </a:pPr>
            <a:r>
              <a:rPr sz="1300" b="1" i="0">
                <a:solidFill>
                  <a:srgbClr val="F97316"/>
                </a:solidFill>
                <a:latin typeface="Montserrat"/>
              </a:rPr>
              <a:t>Naming convention compliance: 0 of 13 new campaigns fully match</a:t>
            </a:r>
          </a:p>
          <a:p>
            <a:pPr>
              <a:spcAft>
                <a:spcPts val="800"/>
              </a:spcAft>
            </a:pPr>
            <a:r>
              <a:rPr sz="1200" b="0" i="0">
                <a:solidFill>
                  <a:srgbClr val="F2F5F8"/>
                </a:solidFill>
                <a:latin typeface="Montserrat"/>
              </a:rPr>
              <a:t>-  1 close variant (Global_Web_DC_Gartner_Magic_Quadrant_2026_Q4 - right segment order, wrong quarter separator: underscore not hyphen)</a:t>
            </a:r>
          </a:p>
          <a:p>
            <a:pPr>
              <a:spcAft>
                <a:spcPts val="800"/>
              </a:spcAft>
            </a:pPr>
            <a:r>
              <a:rPr sz="1200" b="0" i="0">
                <a:solidFill>
                  <a:srgbClr val="F2F5F8"/>
                </a:solidFill>
                <a:latin typeface="Montserrat"/>
              </a:rPr>
              <a:t>-  12 of 13 use one of three recurring non-conforming shapes instead (evt_..., em_promo_..., demgen_...) - the 6th straight week (since 09-10) this report has found ~0% compliance</a:t>
            </a:r>
          </a:p>
          <a:p>
            <a:pPr>
              <a:spcAft>
                <a:spcPts val="800"/>
              </a:spcAft>
            </a:pPr>
            <a:r>
              <a:rPr sz="1300" b="1" i="0">
                <a:solidFill>
                  <a:srgbClr val="F97316"/>
                </a:solidFill>
                <a:latin typeface="Montserrat"/>
              </a:rPr>
              <a:t>Other flags</a:t>
            </a:r>
          </a:p>
          <a:p>
            <a:pPr>
              <a:spcAft>
                <a:spcPts val="800"/>
              </a:spcAft>
            </a:pPr>
            <a:r>
              <a:rPr sz="1200" b="0" i="0">
                <a:solidFill>
                  <a:srgbClr val="F2F5F8"/>
                </a:solidFill>
                <a:latin typeface="Montserrat"/>
              </a:rPr>
              <a:t>-  trial_parent_2026 is missing StartDate</a:t>
            </a:r>
          </a:p>
          <a:p>
            <a:pPr>
              <a:spcAft>
                <a:spcPts val="800"/>
              </a:spcAft>
            </a:pPr>
            <a:r>
              <a:rPr sz="1200" b="0" i="0">
                <a:solidFill>
                  <a:srgbClr val="F2F5F8"/>
                </a:solidFill>
                <a:latin typeface="Montserrat"/>
              </a:rPr>
              <a:t>-  2 persistent zero-member campaigns carried over from last week's flag: All_DemandGen_CC_LinkedIn Ads for DAM_2026-Q4 (created 10/08, 0 members 10 business days later - and this one DOES fully match the naming convention) and evt_acquia holiday party boston (event ran 10/14, still 0 members 8 days post-event)</a:t>
            </a:r>
          </a:p>
          <a:p>
            <a:pPr>
              <a:spcAft>
                <a:spcPts val="800"/>
              </a:spcAft>
            </a:pPr>
            <a:r>
              <a:rPr sz="1200" b="0" i="0">
                <a:solidFill>
                  <a:srgbClr val="F2F5F8"/>
                </a:solidFill>
                <a:latin typeface="Montserrat"/>
              </a:rPr>
              <a:t>-  demgen_google ads for dam_global_CC_2026-Q4: Campaign rollup shows 3 members but only 2 CampaignMember child rows exist - a 1-record reconciliation gap</a:t>
            </a:r>
          </a:p>
          <a:p>
            <a:pPr>
              <a:spcAft>
                <a:spcPts val="800"/>
              </a:spcAft>
            </a:pPr>
            <a:r>
              <a:rPr sz="1300" b="1" i="0">
                <a:solidFill>
                  <a:srgbClr val="F97316"/>
                </a:solidFill>
                <a:latin typeface="Montserrat"/>
              </a:rPr>
              <a:t>Recommendations</a:t>
            </a:r>
          </a:p>
          <a:p>
            <a:pPr>
              <a:spcAft>
                <a:spcPts val="800"/>
              </a:spcAft>
            </a:pPr>
            <a:r>
              <a:rPr sz="1200" b="0" i="0">
                <a:solidFill>
                  <a:srgbClr val="F2F5F8"/>
                </a:solidFill>
                <a:latin typeface="Montserrat"/>
              </a:rPr>
              <a:t>-  1. Confirm which naming shape is actually canonical - 6 straight weeks of near-0% match against the documented Region_Channel_Product_Description_YYYY-Qn convention suggests the documented format isn't the one in production use</a:t>
            </a:r>
          </a:p>
          <a:p>
            <a:pPr>
              <a:spcAft>
                <a:spcPts val="800"/>
              </a:spcAft>
            </a:pPr>
            <a:r>
              <a:rPr sz="1200" b="0" i="0">
                <a:solidFill>
                  <a:srgbClr val="F2F5F8"/>
                </a:solidFill>
                <a:latin typeface="Montserrat"/>
              </a:rPr>
              <a:t>-  2. Close out the 2 persistent zero-member campaigns (10 and 58+ calendar days old respectively) before they distort next period's response-rate rollups</a:t>
            </a:r>
          </a:p>
          <a:p>
            <a:pPr>
              <a:spcAft>
                <a:spcPts val="800"/>
              </a:spcAft>
            </a:pPr>
            <a:r>
              <a:rPr sz="1200" b="0" i="0">
                <a:solidFill>
                  <a:srgbClr val="F2F5F8"/>
                </a:solidFill>
                <a:latin typeface="Montserrat"/>
              </a:rPr>
              <a:t>-  3. Sweep the 3 blank-name tickets (1 Blocked + 2 SFDC-multiple) in one pass - together they're 3 of 51 open top-level tickets carrying zero actionable content</a:t>
            </a:r>
          </a:p>
        </p:txBody>
      </p:sp>
      <p:sp>
        <p:nvSpPr>
          <p:cNvPr id="8" name="TextBox 7"/>
          <p:cNvSpPr txBox="1"/>
          <p:nvPr/>
        </p:nvSpPr>
        <p:spPr>
          <a:xfrm>
            <a:off x="11612880" y="6473952"/>
            <a:ext cx="457200" cy="320040"/>
          </a:xfrm>
          <a:prstGeom prst="rect">
            <a:avLst/>
          </a:prstGeom>
          <a:noFill/>
        </p:spPr>
        <p:txBody>
          <a:bodyPr wrap="square">
            <a:spAutoFit/>
          </a:bodyPr>
          <a:lstStyle/>
          <a:p>
            <a:pPr algn="r"/>
            <a:r>
              <a:rPr sz="900" b="0" i="0">
                <a:solidFill>
                  <a:srgbClr val="9AA7B8"/>
                </a:solidFill>
                <a:latin typeface="Montserrat"/>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1626"/>
        </a:solidFill>
        <a:effectLst/>
      </p:bgPr>
    </p:bg>
    <p:spTree>
      <p:nvGrpSpPr>
        <p:cNvPr id="1" name=""/>
        <p:cNvGrpSpPr/>
        <p:nvPr/>
      </p:nvGrpSpPr>
      <p:grpSpPr/>
      <p:sp>
        <p:nvSpPr>
          <p:cNvPr id="2" name="Rectangle 1"/>
          <p:cNvSpPr/>
          <p:nvPr/>
        </p:nvSpPr>
        <p:spPr>
          <a:xfrm>
            <a:off x="0" y="0"/>
            <a:ext cx="12191695" cy="63500"/>
          </a:xfrm>
          <a:prstGeom prst="rect">
            <a:avLst/>
          </a:prstGeom>
          <a:gradFill rotWithShape="1">
            <a:gsLst>
              <a:gs pos="0">
                <a:srgbClr val="14B8A6"/>
              </a:gs>
              <a:gs pos="25000">
                <a:srgbClr val="22C55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468880"/>
            <a:ext cx="9601200" cy="914400"/>
          </a:xfrm>
          <a:prstGeom prst="rect">
            <a:avLst/>
          </a:prstGeom>
          <a:noFill/>
        </p:spPr>
        <p:txBody>
          <a:bodyPr wrap="square">
            <a:spAutoFit/>
          </a:bodyPr>
          <a:lstStyle/>
          <a:p>
            <a:r>
              <a:rPr sz="4400" b="1" i="0">
                <a:solidFill>
                  <a:srgbClr val="F2F5F8"/>
                </a:solidFill>
                <a:latin typeface="Montserrat ExtraBold"/>
              </a:rPr>
              <a:t>Questions?</a:t>
            </a:r>
          </a:p>
        </p:txBody>
      </p:sp>
      <p:sp>
        <p:nvSpPr>
          <p:cNvPr id="4" name="TextBox 3"/>
          <p:cNvSpPr txBox="1"/>
          <p:nvPr/>
        </p:nvSpPr>
        <p:spPr>
          <a:xfrm>
            <a:off x="914400" y="3429000"/>
            <a:ext cx="9601200" cy="548640"/>
          </a:xfrm>
          <a:prstGeom prst="rect">
            <a:avLst/>
          </a:prstGeom>
          <a:noFill/>
        </p:spPr>
        <p:txBody>
          <a:bodyPr wrap="square">
            <a:spAutoFit/>
          </a:bodyPr>
          <a:lstStyle/>
          <a:p>
            <a:r>
              <a:rPr sz="1800" b="0" i="0">
                <a:solidFill>
                  <a:srgbClr val="14B8A6"/>
                </a:solidFill>
                <a:latin typeface="Montserrat"/>
              </a:rPr>
              <a:t>Thank you - MOps Team</a:t>
            </a:r>
          </a:p>
        </p:txBody>
      </p:sp>
      <p:sp>
        <p:nvSpPr>
          <p:cNvPr id="5" name="TextBox 4"/>
          <p:cNvSpPr txBox="1"/>
          <p:nvPr/>
        </p:nvSpPr>
        <p:spPr>
          <a:xfrm>
            <a:off x="914400" y="3977639"/>
            <a:ext cx="9601200" cy="457200"/>
          </a:xfrm>
          <a:prstGeom prst="rect">
            <a:avLst/>
          </a:prstGeom>
          <a:noFill/>
        </p:spPr>
        <p:txBody>
          <a:bodyPr wrap="square">
            <a:spAutoFit/>
          </a:bodyPr>
          <a:lstStyle/>
          <a:p>
            <a:r>
              <a:rPr sz="1300" b="0" i="0">
                <a:solidFill>
                  <a:srgbClr val="9AA7B8"/>
                </a:solidFill>
                <a:latin typeface="Montserrat"/>
              </a:rPr>
              <a:t>Next Review: October 29, 2026 | Lead: Aayushi Sharma</a:t>
            </a:r>
          </a:p>
        </p:txBody>
      </p:sp>
      <p:sp>
        <p:nvSpPr>
          <p:cNvPr id="6" name="TextBox 5"/>
          <p:cNvSpPr txBox="1"/>
          <p:nvPr/>
        </p:nvSpPr>
        <p:spPr>
          <a:xfrm>
            <a:off x="11612880" y="6473952"/>
            <a:ext cx="457200" cy="320040"/>
          </a:xfrm>
          <a:prstGeom prst="rect">
            <a:avLst/>
          </a:prstGeom>
          <a:noFill/>
        </p:spPr>
        <p:txBody>
          <a:bodyPr wrap="square">
            <a:spAutoFit/>
          </a:bodyPr>
          <a:lstStyle/>
          <a:p>
            <a:pPr algn="r"/>
            <a:r>
              <a:rPr sz="900" b="0" i="0">
                <a:solidFill>
                  <a:srgbClr val="9AA7B8"/>
                </a:solidFill>
                <a:latin typeface="Montserrat"/>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1626"/>
        </a:solidFill>
        <a:effectLst/>
      </p:bgPr>
    </p:bg>
    <p:spTree>
      <p:nvGrpSpPr>
        <p:cNvPr id="1" name=""/>
        <p:cNvGrpSpPr/>
        <p:nvPr/>
      </p:nvGrpSpPr>
      <p:grpSpPr/>
      <p:sp>
        <p:nvSpPr>
          <p:cNvPr id="2" name="Rectangle 1"/>
          <p:cNvSpPr/>
          <p:nvPr/>
        </p:nvSpPr>
        <p:spPr>
          <a:xfrm>
            <a:off x="0" y="0"/>
            <a:ext cx="12191695" cy="63500"/>
          </a:xfrm>
          <a:prstGeom prst="rect">
            <a:avLst/>
          </a:prstGeom>
          <a:gradFill rotWithShape="1">
            <a:gsLst>
              <a:gs pos="0">
                <a:srgbClr val="14B8A6"/>
              </a:gs>
              <a:gs pos="25000">
                <a:srgbClr val="22C55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515600" cy="320040"/>
          </a:xfrm>
          <a:prstGeom prst="rect">
            <a:avLst/>
          </a:prstGeom>
          <a:noFill/>
        </p:spPr>
        <p:txBody>
          <a:bodyPr wrap="square">
            <a:spAutoFit/>
          </a:bodyPr>
          <a:lstStyle/>
          <a:p>
            <a:r>
              <a:rPr sz="1200" b="1" i="0">
                <a:solidFill>
                  <a:srgbClr val="A855F7"/>
                </a:solidFill>
                <a:latin typeface="Montserrat"/>
              </a:rPr>
              <a:t>SOURCES</a:t>
            </a:r>
          </a:p>
        </p:txBody>
      </p:sp>
      <p:sp>
        <p:nvSpPr>
          <p:cNvPr id="4" name="Rectangle 3"/>
          <p:cNvSpPr/>
          <p:nvPr/>
        </p:nvSpPr>
        <p:spPr>
          <a:xfrm>
            <a:off x="566928" y="621792"/>
            <a:ext cx="457200" cy="3175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749808"/>
            <a:ext cx="11064240" cy="640080"/>
          </a:xfrm>
          <a:prstGeom prst="rect">
            <a:avLst/>
          </a:prstGeom>
          <a:noFill/>
        </p:spPr>
        <p:txBody>
          <a:bodyPr wrap="square">
            <a:spAutoFit/>
          </a:bodyPr>
          <a:lstStyle/>
          <a:p>
            <a:r>
              <a:rPr sz="2600" b="1" i="0">
                <a:solidFill>
                  <a:srgbClr val="F2F5F8"/>
                </a:solidFill>
                <a:latin typeface="Montserrat ExtraBold"/>
              </a:rPr>
              <a:t>Data &amp; Image Sources</a:t>
            </a:r>
          </a:p>
        </p:txBody>
      </p:sp>
      <p:sp>
        <p:nvSpPr>
          <p:cNvPr id="6" name="TextBox 5"/>
          <p:cNvSpPr txBox="1"/>
          <p:nvPr/>
        </p:nvSpPr>
        <p:spPr>
          <a:xfrm>
            <a:off x="548640" y="2103120"/>
            <a:ext cx="11064240" cy="3931920"/>
          </a:xfrm>
          <a:prstGeom prst="rect">
            <a:avLst/>
          </a:prstGeom>
          <a:noFill/>
        </p:spPr>
        <p:txBody>
          <a:bodyPr wrap="square">
            <a:spAutoFit/>
          </a:bodyPr>
          <a:lstStyle/>
          <a:p>
            <a:pPr>
              <a:spcAft>
                <a:spcPts val="800"/>
              </a:spcAft>
            </a:pPr>
            <a:r>
              <a:rPr sz="1300" b="1" i="0">
                <a:solidFill>
                  <a:srgbClr val="A855F7"/>
                </a:solidFill>
                <a:latin typeface="Montserrat"/>
              </a:rPr>
              <a:t>Asana</a:t>
            </a:r>
          </a:p>
          <a:p>
            <a:pPr>
              <a:spcAft>
                <a:spcPts val="800"/>
              </a:spcAft>
            </a:pPr>
            <a:r>
              <a:rPr sz="1200" b="0" i="0">
                <a:solidFill>
                  <a:srgbClr val="F2F5F8"/>
                </a:solidFill>
                <a:latin typeface="Montserrat"/>
              </a:rPr>
              <a:t>-  [MOps] Intake project (gid 1205660951274722). search_tasks queries for: 38 retro completions (completed_on 2026-10-15..2026-10-21), 51 look-ahead due tasks (due_on 2026-10-22..2026-11-01), 51 open top-level tickets, 10 sent + 8 upcoming Email milestone sub-tasks. Queried 2026-10-22. All queries returned under the 100-item limit - no pagination gap.</a:t>
            </a:r>
          </a:p>
          <a:p>
            <a:pPr>
              <a:spcAft>
                <a:spcPts val="800"/>
              </a:spcAft>
            </a:pPr>
            <a:r>
              <a:rPr sz="1300" b="1" i="0">
                <a:solidFill>
                  <a:srgbClr val="A855F7"/>
                </a:solidFill>
                <a:latin typeface="Montserrat"/>
              </a:rPr>
              <a:t>Salesforce (SOQL, read-only - no write path exists)</a:t>
            </a:r>
          </a:p>
          <a:p>
            <a:pPr>
              <a:spcAft>
                <a:spcPts val="800"/>
              </a:spcAft>
            </a:pPr>
            <a:r>
              <a:rPr sz="1200" b="0" i="0">
                <a:solidFill>
                  <a:srgbClr val="F2F5F8"/>
                </a:solidFill>
                <a:latin typeface="Montserrat"/>
              </a:rPr>
              <a:t>-  Campaign + CampaignMember queries, queried 2026-10-22. LAST_N_DAYS:7 in this org includes partial-day 'today' - the cited 13-campaign retro figure uses an explicit date-literal query (CreatedDate/StartDate in 2026-10-15..2026-10-21) instead. One campaign's member count (em_promo_acquia festive party paris_dc) shifted 85-&gt;89 between two queries seconds apart due to live Pardot sync; 89 is cited, reconciled against CampaignMember detail.</a:t>
            </a:r>
          </a:p>
          <a:p>
            <a:pPr>
              <a:spcAft>
                <a:spcPts val="800"/>
              </a:spcAft>
            </a:pPr>
            <a:r>
              <a:rPr sz="1300" b="1" i="0">
                <a:solidFill>
                  <a:srgbClr val="A855F7"/>
                </a:solidFill>
                <a:latin typeface="Montserrat"/>
              </a:rPr>
              <a:t>Jira (Atlassian) - GAP</a:t>
            </a:r>
          </a:p>
          <a:p>
            <a:pPr>
              <a:spcAft>
                <a:spcPts val="800"/>
              </a:spcAft>
            </a:pPr>
            <a:r>
              <a:rPr sz="1200" b="0" i="0">
                <a:solidFill>
                  <a:srgbClr val="F2F5F8"/>
                </a:solidFill>
                <a:latin typeface="Montserrat"/>
              </a:rPr>
              <a:t>-  The Atlassian MCP connector timed out on 3 consecutive attempts this run (CONNECT_TIMEOUT). MOPS Jira issue data is not reflected anywhere in this deck. This is a recurring gap - the same connector failure happened on the 2026-09-10 run.</a:t>
            </a:r>
          </a:p>
          <a:p>
            <a:pPr>
              <a:spcAft>
                <a:spcPts val="800"/>
              </a:spcAft>
            </a:pPr>
            <a:r>
              <a:rPr sz="1300" b="1" i="0">
                <a:solidFill>
                  <a:srgbClr val="A855F7"/>
                </a:solidFill>
                <a:latin typeface="Montserrat"/>
              </a:rPr>
              <a:t>Google Slides / Drive upload</a:t>
            </a:r>
          </a:p>
          <a:p>
            <a:pPr>
              <a:spcAft>
                <a:spcPts val="800"/>
              </a:spcAft>
            </a:pPr>
            <a:r>
              <a:rPr sz="1200" b="0" i="0">
                <a:solidFill>
                  <a:srgbClr val="F2F5F8"/>
                </a:solidFill>
                <a:latin typeface="Montserrat"/>
              </a:rPr>
              <a:t>-  Not attempted this run. This is the 13th consecutive week (since 2026-07-23) hitting the same Drive create_file base64-only-content wall: this 66,190-byte deck needs an estimated ~88,256 base64 characters / ~339,786 output tokens in a single tool call, far past any turn's output budget. Per this run's own instruction not to retry a known-broken path blind, the call was not made. Deck built locally only at outputs/weekly-review/MOps_Weekly_Review_2026-10-22.pptx.</a:t>
            </a:r>
          </a:p>
          <a:p>
            <a:pPr>
              <a:spcAft>
                <a:spcPts val="800"/>
              </a:spcAft>
            </a:pPr>
            <a:r>
              <a:rPr sz="1300" b="1" i="0">
                <a:solidFill>
                  <a:srgbClr val="A855F7"/>
                </a:solidFill>
                <a:latin typeface="Montserrat"/>
              </a:rPr>
              <a:t>Images</a:t>
            </a:r>
          </a:p>
          <a:p>
            <a:pPr>
              <a:spcAft>
                <a:spcPts val="800"/>
              </a:spcAft>
            </a:pPr>
            <a:r>
              <a:rPr sz="1200" b="0" i="0">
                <a:solidFill>
                  <a:srgbClr val="F2F5F8"/>
                </a:solidFill>
                <a:latin typeface="Montserrat"/>
              </a:rPr>
              <a:t>-  No external images used - every shape, bar, and badge on this deck is a native PowerPoint shape built directly from the data above; nothing to attribute.</a:t>
            </a:r>
          </a:p>
        </p:txBody>
      </p:sp>
      <p:sp>
        <p:nvSpPr>
          <p:cNvPr id="7" name="TextBox 6"/>
          <p:cNvSpPr txBox="1"/>
          <p:nvPr/>
        </p:nvSpPr>
        <p:spPr>
          <a:xfrm>
            <a:off x="11612880" y="6473952"/>
            <a:ext cx="457200" cy="320040"/>
          </a:xfrm>
          <a:prstGeom prst="rect">
            <a:avLst/>
          </a:prstGeom>
          <a:noFill/>
        </p:spPr>
        <p:txBody>
          <a:bodyPr wrap="square">
            <a:spAutoFit/>
          </a:bodyPr>
          <a:lstStyle/>
          <a:p>
            <a:pPr algn="r"/>
            <a:r>
              <a:rPr sz="900" b="0" i="0">
                <a:solidFill>
                  <a:srgbClr val="9AA7B8"/>
                </a:solidFill>
                <a:latin typeface="Montserrat"/>
              </a:rP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