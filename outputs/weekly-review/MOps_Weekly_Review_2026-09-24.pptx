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2F5F7"/>
                </a:solidFill>
                <a:latin typeface="Montserrat ExtraBold"/>
              </a:rPr>
              <a:t>MOps Weekly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B8A6"/>
                </a:solidFill>
                <a:latin typeface="Montserrat"/>
              </a:rPr>
              <a:t>Team Performance, Campaign Results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September 24, 2026 | Project Review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9067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5F7"/>
                </a:solidFill>
                <a:latin typeface="Montserrat ExtraBold"/>
              </a:rPr>
              <a:t>Reviewing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 i="0">
                <a:solidFill>
                  <a:srgbClr val="14B8A6"/>
                </a:solidFill>
                <a:latin typeface="Montserrat ExtraBol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7B5"/>
                </a:solidFill>
                <a:latin typeface="Montserrat"/>
              </a:rPr>
              <a:t>Tasks 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83080"/>
            <a:ext cx="6583680" cy="91440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783080"/>
            <a:ext cx="6126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2F5F7"/>
                </a:solidFill>
                <a:latin typeface="Montserrat"/>
              </a:rPr>
              <a:t>35 tasks shipped (5 requests + 30 sub-tasks) — a lighter top-line week, steady sub-task throughput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6583680" cy="91440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83080"/>
            <a:ext cx="6126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2F5F7"/>
                </a:solidFill>
                <a:latin typeface="Montserrat"/>
              </a:rPr>
              <a:t>14 SFDC campaigns created/launched → 7,601 contacts + 193 leads, 7,752 responses, 87 opportunities, $365K pipeline (6 already won)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783080"/>
            <a:ext cx="6583680" cy="91440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83080"/>
            <a:ext cx="6126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2F5F7"/>
                </a:solidFill>
                <a:latin typeface="Montserrat"/>
              </a:rPr>
              <a:t>Campaign-creation SLA clean this week (no SFDC-Campaign-only builds to test); List Upload hit its 3–7 day window (6 bd) — email-type SLA compliance flagged as a measurement gap (see slide 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83080"/>
            <a:ext cx="6583680" cy="77724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ctr"/>
            <a:r>
              <a:rPr sz="1350">
                <a:solidFill>
                  <a:srgbClr val="F2F5F7"/>
                </a:solidFill>
                <a:latin typeface="Montserrat"/>
              </a:rPr>
              <a:t>35 tasks shipped (5 requests + 30 sub-tasks) — a lighter top-line week, steady sub-task throughput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697480"/>
            <a:ext cx="6583680" cy="77724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ctr"/>
            <a:r>
              <a:rPr sz="1350">
                <a:solidFill>
                  <a:srgbClr val="F2F5F7"/>
                </a:solidFill>
                <a:latin typeface="Montserrat"/>
              </a:rPr>
              <a:t>14 SFDC campaigns created/launched → 7,601 contacts + 193 leads, 7,752 responses, 87 opportunities, $365K pipeline (6 already won)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611880"/>
            <a:ext cx="6583680" cy="77724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0000" rIns="160000"/>
          <a:lstStyle/>
          <a:p>
            <a:pPr algn="ctr"/>
            <a:r>
              <a:rPr sz="1350">
                <a:solidFill>
                  <a:srgbClr val="F2F5F7"/>
                </a:solidFill>
                <a:latin typeface="Montserrat"/>
              </a:rPr>
              <a:t>Campaign-creation SLA clean this week (no SFDC-Campaign-only builds to test); List Upload hit its 3–7 day window (6 bd) — email-type SLA compliance flagged as a measurement gap (see slide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290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9AA7B5"/>
                </a:solidFill>
                <a:latin typeface="Montserrat"/>
              </a:rPr>
              <a:t>A quieter week on top-level completions after last week's 38, but sub-task volume held (30) — driven by the DrupalCon Rotterdam, Drupal Canvas/Agentic Content, and Partner Summer Party London email workstreams. Campaign creation returned to a normal weekly pace (14, vs. the prior week's 123-campaign paid-media batch), which makes the real signal easier to read: 8 of 14 new campaigns already show member activity, and the Missing Success Factor and Henry Stewart DAM/AI sends are already driving pipeline. Two new data-hygiene findings surfaced this run — a blank-name Blocked ticket created minutes before this report ran, and two “Test”-named Zoom Webinar campaigns sitting live in production — flagged on slide 17.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[MOPs] Intake (search_tasks, completed_on 2026-09-17–23) + Salesforce Campaign SOQL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Completed Tasks by 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Harish Pandey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93392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993392"/>
            <a:ext cx="6949440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92024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Felipe Tencio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560320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560320"/>
            <a:ext cx="3270324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487168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5409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Aayushi Sharma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127248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3127248"/>
            <a:ext cx="2452743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30540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21024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Karen Plant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694176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0" y="3694176"/>
            <a:ext cx="817581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621024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Kasey Pires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261104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4261104"/>
            <a:ext cx="408790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4187952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5488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Danielle Templeton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8960" y="4828032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08960" y="4828032"/>
            <a:ext cx="408790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475488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2180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Jennifer Schroback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0" y="5394960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5321808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[MOPs] Intake, search_tasks (completed=true, completed_on 2026-09-17–23), by assignee. Karen Plant/Kasey Pires/Danielle Templeton are non-MOPS collaborators who closed intake sub-tasks this week.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Emails Sent Last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60704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82880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DAM Workshop NYC – Pre-Event Email 02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NYC / DAM Workshop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Partner Summer Party – Thank You Email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London / Partners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[DrupalCon Rotterdam] 2nd Email Send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EMEA / DrupalCon Rotterdam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HS Webinar Sept 24 – Email Invite 1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22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Not tracked (no Region field)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Webinar w/ Hounder &amp; LADWP – Email Invite 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21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LADWP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Drupal Canvas &amp; Agentic Content – Post-Event Attendee Email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18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Webinar attendees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Drupal Canvas &amp; Agentic Content – Post-Event No-Show Email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18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Webinar no-shows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[Scottish Web Folk] Email to Higher 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18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Higher Ed / Scotland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September 2026 Partner Newsletter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18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Partners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[DrupalCon Rotterdam] Partner Summit Email 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17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EMEA / DrupalCon Rotterdam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Partner Summer Party – London Email 4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17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London / Partners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Acquia TV Manifesto – WaterAid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17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Not tracked (no Region field)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95858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Montserrat"/>
              </a:rPr>
              <a:t>12 sends this week (2 more completed earlier today, Sep 24, before this report ran — outside the Sep 17–23 window, not counted here).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Email-type milestone sub-tasks, completed with due date in retro window. “Region/Audience” has no dedicated Asana field (Requesting Team/Requestor are null on 49–50 of tickets, per intake-dispatch finding) — shown where inferable from campaign/parent name, else flagged.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Campaign Performance (Salesforce)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6070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463040"/>
                <a:gridCol w="14630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CAMPAIGN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MEMBERS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RESPONSES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RESP. RATE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LEADS/OPPS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em_promo_Missing Success Factor...2026_q3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5,649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5,649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2 / 70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em_nl_ac_September partner newsletter_2026_q3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1,182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1,182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170 / 8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em_promo_dam_sept_HenryStewart_DAM and AI_2026_q3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491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491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0 / 4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em_nurture_source_beyond portals emails_2026_q3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310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268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86%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0 / 0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em_promo_Scottish Web Folk Conference_2026_q3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134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134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5 / 1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evt_ws_26_q3_all_dam workshop boston 2026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7 / 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em_followup_partner summer party london...2026_q3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8 / 0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evt_corp_all_User Group Barcelona_2026_Q4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100%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 / 0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223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Montserrat"/>
              </a:rPr>
              <a:t>Period roll-up: 193 leads · 7,601 contacts · 7,752 responses · 87 opportunities · $365,385 pipeline · 6 won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Salesforce SOQL, Campaign + CampaignMember (CreatedDate/StartDate = LAST_N_DAYS:7). 6 of 14 campaigns this week have zero members (2 today's new creates, 1 future-dated Planned webinar, 2 “Test” junk campaigns, 1 approaching the 5-bd hygiene threshold — see slide 17) and are omitted from this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SLA &amp; Cycle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Montserrat"/>
              </a:rP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No SFDC-Campaign-only tickets completed this week — the 1-business-day creation SLA has nothing to test against this period (clean, not a gap).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SFDC List Upload – Febraban BR: 6 business days (created Sep 9 → completed Sep 17) — within the 3–7 day SLA window.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5 Email(s)-type top-level tickets closed: avg cycle time 14.6 business days (range 3–34 bd). Per sla-watchdog, Email SLA anchors to the scheduled send date, not ticket creation — this raw creation→completion span is directional only, not a pass/fail verdict. Flagging as a standing measurement gap: this report cannot compute true Email SLA compliance without a scheduled-send-date field.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1 Rush/Out-of-SLA ticket this week: “Customer Email: The Missing Success Factor for Growth in the Agentic Era” — flagged Rush, turned around in 3 business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created_at/completed_at on retro-window top-level completions + sla-watchdog SLA table (.claude/skills/sla-watchdog/SKILL.md).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Lead Weekly Wins — Aayushi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Montserrat"/>
              </a:rPr>
              <a:t>Webinar &amp; Event Follow-through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DAM Workshop NYC – Pre-Event Email Send 02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Drupal Canvas &amp; Agentic Content – Webinar Email Creation + Post-Event Attendee/No-Show Email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Montserrat"/>
              </a:rPr>
              <a:t>Campaign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4728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Churn customer campaign – Email Campaign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Acquia TV Manifesto – WaterAid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Asana, tasks assigned to Aayushi Sharma completed 2026-09-17–23 (6 total).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14B8A6"/>
                </a:solidFill>
                <a:latin typeface="Montserrat"/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Team Performance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17–23,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Harish Pandey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7" y="2697480"/>
            <a:ext cx="978407" cy="29260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ON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17 tasks completed — highest volume this week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Carried the DrupalCon Rotterdam + Partner Summer Party London email sequences end to end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Also closed SFDC Campaign Creation, list uploads, and UTM 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Felipe Tencio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2807" y="2697480"/>
            <a:ext cx="978407" cy="29260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ON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8 tasks completed, concentrated in Drupal Canvas &amp; Agentic Content audience/report work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Closed SFDC List Upload – Febraban BR (6 bd, within SLA)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Owns audience-pull work across 4 of this week's 8 completions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08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Jennifer Schroback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4687" y="2697480"/>
            <a:ext cx="1225295" cy="29260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68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0 completions in the intake board this week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Holds Medium-priority “Zapier integration – LinkedIn” (In Progress) — note: a second, separate ticket with the identical name is Blocked/unassigned (see slide 17)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Manager-owner of the 3 no-pattern intake types per intake-routing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Asana, tasks assigned to each member completed or open 2026-09-17–24.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9067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5F7"/>
                </a:solidFill>
                <a:latin typeface="Montserrat ExtraBold"/>
              </a:rPr>
              <a:t>Planning 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Upcoming Tasks by Team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Unassigned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993392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993392"/>
            <a:ext cx="6949440" cy="25603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920240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Harish Pandey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560320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08960" y="2560320"/>
            <a:ext cx="6414867" cy="25603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2487168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5409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Aayushi Sharma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127248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3127248"/>
            <a:ext cx="4811150" cy="25603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3054096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21024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Felipe Tencio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08960" y="3694176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08960" y="3694176"/>
            <a:ext cx="3742006" cy="256032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621024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F2F5F7"/>
                </a:solidFill>
                <a:latin typeface="Montserrat"/>
              </a:rPr>
              <a:t>Jennifer Schroback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261104"/>
            <a:ext cx="6949440" cy="256032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4187952"/>
            <a:ext cx="731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2F5F7"/>
                </a:solidFill>
                <a:latin typeface="Montserrat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7316"/>
                </a:solidFill>
                <a:latin typeface="Montserrat"/>
              </a:rPr>
              <a:t>Total Capacity Required: 41 Tasks  (+4 already overdue as of today — see slide 16)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[MOPs] Intake, search_tasks (completed=false, due_on 2026-09-24–10-03), by assignee.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Upcoming Email Sends 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1645920"/>
                <a:gridCol w="329184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SEND / CAMPAIGN NAME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SEND DATE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REGION / AUDIENCE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DrupalCamp Italy Wrap Around Event Email 1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24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Italy — ⚠ shares date+owner w/ row below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DrupalCamp Italy Wrap Around Event Email 2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Italy — ⚠ shares date+owner w/ row above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EDUCAUSE Wrap Around with Hounder – Send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28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EDUCAUSE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[DrupalCon Rotterdam] Partner Summit Email 4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Sep 28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EMEA / DrupalCon Rotterdam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Email-type milestone sub-tasks, incomplete, due 2026-09-24–10-03. Both Sep 24 sends share a date AND owner (Harish Pandey) — same parent campaign (DrupalCamp Italy), so likely an intentional same-day sequence rather than an accidental clash; flagged per the skill's audience-clash rule regardless. All 4 upcoming sends this window are owned by Harish — a capacity concentration to watch.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Priority Pipeline — Aayushi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Montserrat"/>
              </a:rPr>
              <a:t>Board-wide Priority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90% of open top-level tickets (47 of 52) have a null Priority field — the documented gap intake-routing was built to close is still live on the board.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Only 5 tickets carry a set Priority: 2 Urgent, 2 Medium, 1 Low.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Urgent (2): “VCCP campaign – Prospect email number 1” (Harish, due Sep 24) · “Meta Lead Forms to Salesforce integration (Conversions API setup)” (Unassigned, due Sep 18 — already overdue).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Medium (2): “Zapier integration – LinkedIn” (Jennifer, In Progress) · “Upload Offline Leads to Salesforce” (Harish, no due date).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[MOPs] Intake, Priority custom field on all 52 open top-level tickets.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Upcoming Strategic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092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Harish Pandey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0927" y="2697480"/>
            <a:ext cx="896112" cy="2926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92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12 tasks due next window — highest look-ahead load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Owns all 4 upcoming email sends (DrupalCamp Italy x2, EDUCAUSE, DrupalCon Rotterdam)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Holds the sole Urgent ticket with a due date: VCCP campaign prospect email (due today, Sep 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420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280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Felipe Tencio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32807" y="2697480"/>
            <a:ext cx="978407" cy="29260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ON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7 tasks due next window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Audience/report work continues on the Drupal Canvas &amp; Agentic Content series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087" y="2011680"/>
            <a:ext cx="3383280" cy="3931920"/>
          </a:xfrm>
          <a:prstGeom prst="roundRect">
            <a:avLst/>
          </a:prstGeom>
          <a:solidFill>
            <a:srgbClr val="15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687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  <a:latin typeface="Montserrat"/>
              </a:rPr>
              <a:t>Jennifer Schroback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4687" y="2697480"/>
            <a:ext cx="731519" cy="292608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D1626"/>
                </a:solidFill>
                <a:latin typeface="Montserrat"/>
              </a:rPr>
              <a:t>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687" y="31546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0 tasks due next window on the intake board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2F5F7"/>
                </a:solidFill>
                <a:latin typeface="Montserrat"/>
              </a:rPr>
              <a:t>• No-pattern intake types (IT/Integration, Automations | Martech, UAT) route to her per intake-routing — 4 open IT/Integration tickets on the board to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Asana, tasks due 2026-09-24–10-03 by assignee + Priority/Project Type fields.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Active Sub-Projects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6070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217920"/>
                <a:gridCol w="164592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SUB-CATEGORY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CORE ACTIVITY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STATUS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Email Requests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15 open (Email(s) only | Nurture Sequences) — largest single category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SFDC &amp; UTM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3 SFDC Campaigns only (multiple) open; 0 SFDC-Campaign-only completions this week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A855F7"/>
                          </a:solidFill>
                          <a:latin typeface="Montserrat"/>
                        </a:rPr>
                        <a:t>READY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Webinar Requests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2 open Webinar Request tickets + the DrupalCamp Italy/EDUCAUSE/Rotterdam sends in flight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List Uploads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 open List Upload ticket; 1 completed this week within SLA (Febraban BR)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C55E"/>
                          </a:solidFill>
                          <a:latin typeface="Montserrat"/>
                        </a:rPr>
                        <a:t>ON TRACK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Audiences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5 open Audiences tickets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82F6"/>
                          </a:solidFill>
                          <a:latin typeface="Montserra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IT/Integration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4 open tickets, incl. the duplicate-named Zapier–LinkedIn pair (slide 17)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Unclassified (null Project Type)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14 open top-level tickets with no Project Type set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[MOPs] Intake, Project Type field grouping across all 52 open top-level tickets.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Incomplete Tickets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06070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4572000"/>
                <a:gridCol w="128016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TICKET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ASSIGNEE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MISSING INFO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B8A6"/>
                          </a:solidFill>
                          <a:latin typeface="Montserrat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[Event Name] Pre Event Marketing Emails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Email copy from Michelle Glass (asked Jul 13, ~73 days open) + live [Event Name] placeholder-name bug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Zapier integration – LinkedIn (gid ...116563)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Blocked, no notes on what's blocking; open since Jan 12 (~255 days)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Optimize Starter upon ACP Renewal – Email Cadence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Karen Plant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Awaiting 2026 priorities decision; product now owned by Melissa per Apr comment — open since Aug 2025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(blank-name ticket, gid ...882954)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Created 2 min before this report ran; every field blank except MOPS-Status=Blocked — likely mid-creation, not a real blocker yet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EF4444"/>
                          </a:solidFill>
                          <a:latin typeface="Montserrat"/>
                        </a:rPr>
                        <a:t>BLOCKED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EMEA - GLAM/BASE campaign - Behaviour score&lt;50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Overdue — was due Sep 23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Gartner IT Symposium Pre Event Marketing Emails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Overdue — was due Sep 23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Webinar Landing Page Updated to On Demand [MOPs]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Overdue — was due Sep 23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0D16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Upload Webinar Recording to DAM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Unassigned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2F5F7"/>
                          </a:solidFill>
                          <a:latin typeface="Montserrat"/>
                        </a:rPr>
                        <a:t>Overdue — was due Sep 23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9E0B"/>
                          </a:solidFill>
                          <a:latin typeface="Montserrat"/>
                        </a:rPr>
                        <a:t>AT RISK</a:t>
                      </a:r>
                    </a:p>
                  </a:txBody>
                  <a:tcPr anchor="ctr">
                    <a:solidFill>
                      <a:srgbClr val="15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Asana MOPS-Status=Blocked/Require Information (get_task_stories for reasons, not guessed) + due_on &lt; today among open tickets.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F97316"/>
                </a:solidFill>
                <a:latin typeface="Montserrat"/>
              </a:rPr>
              <a:t>LOOK 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Data Hygiene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Sep 24 – Oct 3,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  <a:latin typeface="Montserrat"/>
              </a:rPr>
              <a:t>Flags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0332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6 of 14 campaigns created this week (43%) have zero Campaign Members — but only 1 (DAM Workshop San Francisco, created Sep 18, ~4 bd old) is genuinely approaching the 5-business-day flag threshold. The other 5 are either today's brand-new creates, a future-dated Planned Q4 webinar, or 2 literal “Test”/“Zoom test7” campaigns that shouldn't be live in production at all.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0 of 14 campaigns this week are missing Type/Status/StartDate — clean on that check.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0 of 14 campaign names this week follow the documented Region_Channel_Product_Description_YYYY-Qn convention (campaign-naming skill) — all use the established em_/evt_ lowercase prefix pattern instead. Flagged as advisory per the skill, not a hard fail.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New: two separate open Asana tickets are both named “Zapier integration – LinkedIn” — one Blocked/unassigned (created Jan 12), one In Progress/Jennifer Schroback/Medium priority (created Mar 2). Worth confirming whether this is duplicate work before both get worked independently.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New: a Blocked ticket (gid 1218827173882954) was created with a blank name and every field empty 2 minutes before this report ran — likely a mid-creation artifact, not a real blocker.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95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Montserrat"/>
              </a:rPr>
              <a:t>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79976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Retire or relabel the 2 “Test”/“Zoom test7” campaigns — removes 2 of this week's 6 zero-member campaigns from next week's hygiene count.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Close or complete the blank-name ticket (gid ...882954) before it ages into next week's backlog with zero actionable information.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Reassign or close “Optimize Starter upon ACP Renewal” (open 13+ months, ownership already handed to Melissa per Karen Plant's comment) — removes the oldest item from every future blocked-list scan.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Source: Salesforce Campaign SOQL (hygiene checks) + Asana MOPS-Status/task_stories (Asana findings). Naming convention: .claude/skills/campaign-naming/SKILL.md.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2F5F7"/>
                </a:solidFill>
                <a:latin typeface="Montserrat ExtraBold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B8A6"/>
                </a:solidFill>
                <a:latin typeface="Montserrat"/>
              </a:rPr>
              <a:t>Next Review: October 1, 2026  |  Lead: Aayushi Sharma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25000">
                <a:srgbClr val="22C55E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spc="150">
                <a:solidFill>
                  <a:srgbClr val="9AA7B5"/>
                </a:solidFill>
                <a:latin typeface="Montserrat"/>
              </a:rPr>
              <a:t>APPENDIX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67512"/>
            <a:ext cx="548640" cy="38100"/>
          </a:xfrm>
          <a:prstGeom prst="rect">
            <a:avLst/>
          </a:prstGeom>
          <a:solidFill>
            <a:srgbClr val="9AA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2F5F7"/>
                </a:solidFill>
                <a:latin typeface="Montserrat ExtraBold"/>
              </a:rPr>
              <a:t>Data &amp; Image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7B5"/>
                </a:solidFill>
                <a:latin typeface="Montserrat"/>
              </a:rPr>
              <a:t>Connectors queried this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AA7B5"/>
                </a:solidFill>
                <a:latin typeface="Montserrat"/>
              </a:rPr>
              <a:t>Sources &amp;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Asana [MOPs] Intake (gid 1205660951274722) — search_tasks + get_task + get_task_stories, queried 2026-09-24 ~14:10 UTC. Worked on first attempt, no auth gaps.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Salesforce — soqlQuery against Campaign + CampaignMember, queried 2026-09-24 ~14:20 UTC. Query-only connector (no write path) — all campaign data is read, none created/edited here.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Jira (Atlassian MOPS project) — searchJiraIssuesUsingJql, queried 2026-09-24 ~14:25 UTC. 1 new issue this week (MOPS-659161); MOPS-659156 and MOPS-659160 checked directly, both still open/unresolved.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GAP: Region/Audience has no dedicated Asana field on [MOPs] Intake (Requesting Team + Requestor are null on ~49 of 50 recent tickets, per the intake-dispatch finding) — shown as “not tracked” or inferred from campaign name on slides 5 and 12.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GAP: Google Slides upload not attempted this run — see the #mops-team post and the note below.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2F5F7"/>
                </a:solidFill>
                <a:latin typeface="Montserrat"/>
              </a:rPr>
              <a:t>• No external images used — deck built with native pptx shapes only (no embedded bitmaps), consistent with every run since 2026-07-30.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AA7B5"/>
                </a:solidFill>
                <a:latin typeface="Montserrat"/>
              </a:rPr>
              <a:t>MOps Weekly Review — generated by the mops-weekly-review-2.0 routine.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