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80" y="1097280"/>
            <a:ext cx="1737360" cy="17373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0" y="4206240"/>
            <a:ext cx="1280160" cy="12801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0" y="5486400"/>
            <a:ext cx="914400" cy="91440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8778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EDF2F7"/>
                </a:solidFill>
                <a:latin typeface="Montserrat"/>
              </a:rPr>
              <a:t>MOps Weekly Review</a:t>
            </a:r>
          </a:p>
          <a:p>
            <a:r>
              <a:rPr sz="1800" b="0" i="0">
                <a:solidFill>
                  <a:srgbClr val="14B8A6"/>
                </a:solidFill>
                <a:latin typeface="Montserrat"/>
              </a:rPr>
              <a:t>Team Performance, Campaign Results &amp; Strategic Roadmap</a:t>
            </a:r>
          </a:p>
          <a:p>
            <a:pPr>
              <a:spcBef>
                <a:spcPts val="1600"/>
              </a:spcBef>
            </a:pPr>
            <a:r>
              <a:rPr sz="1300" b="0" i="0">
                <a:solidFill>
                  <a:srgbClr val="9FB3C8"/>
                </a:solidFill>
                <a:latin typeface="Montserrat"/>
              </a:rPr>
              <a:t>August 20, 2026  |  Project Review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109728" cy="128016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4B8A6"/>
                </a:solidFill>
                <a:latin typeface="Montserrat"/>
              </a:rPr>
              <a:t>RETROSPECTIVE</a:t>
            </a:r>
          </a:p>
          <a:p>
            <a:r>
              <a:rPr sz="3600" b="1" i="0">
                <a:solidFill>
                  <a:srgbClr val="EDF2F7"/>
                </a:solidFill>
                <a:latin typeface="Montserrat"/>
              </a:rPr>
              <a:t>Reviewing Last Week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9FB3C8"/>
                </a:solidFill>
                <a:latin typeface="Montserrat"/>
              </a:rPr>
              <a:t>August 13 – 19,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03504"/>
            <a:ext cx="50292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EDF2F7"/>
                </a:solidFill>
                <a:latin typeface="Montserrat"/>
              </a:rPr>
              <a:t>Executive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2581579" cy="1417320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21243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B8A6"/>
                </a:solidFill>
                <a:latin typeface="Montserrat"/>
              </a:rPr>
              <a:t>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21243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9FB3C8"/>
                </a:solidFill>
                <a:latin typeface="Montserrat"/>
              </a:rPr>
              <a:t>tasks completed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6251" y="1783080"/>
            <a:ext cx="2581579" cy="1417320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4851" y="1965960"/>
            <a:ext cx="21243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B82F6"/>
                </a:solidFill>
                <a:latin typeface="Montserrat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4851" y="2651760"/>
            <a:ext cx="21243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9FB3C8"/>
                </a:solidFill>
                <a:latin typeface="Montserrat"/>
              </a:rPr>
              <a:t>SFDC campaigns created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2" y="1783080"/>
            <a:ext cx="2581579" cy="1417320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2462" y="1965960"/>
            <a:ext cx="21243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A78BFA"/>
                </a:solidFill>
                <a:latin typeface="Montserrat"/>
              </a:rPr>
              <a:t>1,720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2462" y="2651760"/>
            <a:ext cx="21243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9FB3C8"/>
                </a:solidFill>
                <a:latin typeface="Montserrat"/>
              </a:rPr>
              <a:t>members reached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473" y="1783080"/>
            <a:ext cx="2581579" cy="1417320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073" y="1965960"/>
            <a:ext cx="21243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22C55E"/>
                </a:solidFill>
                <a:latin typeface="Montserrat"/>
              </a:rPr>
              <a:t>$31.7K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073" y="2651760"/>
            <a:ext cx="21243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9FB3C8"/>
                </a:solidFill>
                <a:latin typeface="Montserrat"/>
              </a:rPr>
              <a:t>email-sourced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1" i="0">
                <a:solidFill>
                  <a:srgbClr val="14B8A6"/>
                </a:solidFill>
                <a:latin typeface="Montserrat"/>
              </a:rPr>
              <a:t>Headline result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EDF2F7"/>
                </a:solidFill>
                <a:latin typeface="Montserrat"/>
              </a:rPr>
              <a:t>The "Webinar with Hounder &amp; LADWP" promo email reached 1,544 contacts and drove 9 opportunities / $32,965 in pipeline — the standout return of the week.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4B8A6"/>
                </a:solidFill>
                <a:latin typeface="Montserrat"/>
              </a:rPr>
              <a:t>Throughput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EDF2F7"/>
                </a:solidFill>
                <a:latin typeface="Montserrat"/>
              </a:rPr>
              <a:t>37 tasks completed across the team; Harish led on email/webinar sends (12), Aayushi on SFDC campaign + Boston DAM email builds (7).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4B8A6"/>
                </a:solidFill>
                <a:latin typeface="Montserrat"/>
              </a:rPr>
              <a:t>Watch items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EDF2F7"/>
                </a:solidFill>
                <a:latin typeface="Montserrat"/>
              </a:rPr>
              <a:t>2 tickets BLOCKED / needs-info (Zapier–LinkedIn integration; a literal [Event Name] placeholder email ticket). Jira MOPS-659156 (paid click-ID attribution) sits Need-Info/Blocked. Campaign naming continues to drift from the documented convention (11 of 12 new campaigns).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9FB3C8"/>
                </a:solidFill>
                <a:latin typeface="Montserrat"/>
              </a:rPr>
              <a:t>Source: Asana [MOps] Intake (37 completions Aug 13–19) + Salesforce Campaign SOQL. Queried 2026-08-20.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03504"/>
            <a:ext cx="50292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EDF2F7"/>
                </a:solidFill>
                <a:latin typeface="Montserrat"/>
              </a:rPr>
              <a:t>Completed Tasks by Team 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DF2F7"/>
                </a:solidFill>
                <a:latin typeface="Montserrat"/>
              </a:rPr>
              <a:t>Harish Pandey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011680"/>
            <a:ext cx="7589520" cy="310896"/>
          </a:xfrm>
          <a:prstGeom prst="roundRect">
            <a:avLst>
              <a:gd name="adj" fmla="val 50000"/>
            </a:avLst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2011680"/>
            <a:ext cx="758952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1993392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EDF2F7"/>
                </a:solidFill>
                <a:latin typeface="Montserrat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87168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DF2F7"/>
                </a:solidFill>
                <a:latin typeface="Montserrat"/>
              </a:rPr>
              <a:t>Aayushi Sharma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2578608"/>
            <a:ext cx="7589520" cy="310896"/>
          </a:xfrm>
          <a:prstGeom prst="roundRect">
            <a:avLst>
              <a:gd name="adj" fmla="val 50000"/>
            </a:avLst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26080" y="2578608"/>
            <a:ext cx="442722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4740" y="25603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EDF2F7"/>
                </a:solidFill>
                <a:latin typeface="Montserrat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54096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DF2F7"/>
                </a:solidFill>
                <a:latin typeface="Montserrat"/>
              </a:rPr>
              <a:t>Felipe Tencio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3145536"/>
            <a:ext cx="7589520" cy="310896"/>
          </a:xfrm>
          <a:prstGeom prst="roundRect">
            <a:avLst>
              <a:gd name="adj" fmla="val 50000"/>
            </a:avLst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26080" y="3145536"/>
            <a:ext cx="379476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127248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EDF2F7"/>
                </a:solidFill>
                <a:latin typeface="Montserrat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21024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DF2F7"/>
                </a:solidFill>
                <a:latin typeface="Montserrat"/>
              </a:rPr>
              <a:t>Jennifer Schroback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3712464"/>
            <a:ext cx="7589520" cy="310896"/>
          </a:xfrm>
          <a:prstGeom prst="roundRect">
            <a:avLst>
              <a:gd name="adj" fmla="val 50000"/>
            </a:avLst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26080" y="3712464"/>
            <a:ext cx="189738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4900" y="3694176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EDF2F7"/>
                </a:solidFill>
                <a:latin typeface="Montserrat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3251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4B8A6"/>
                </a:solidFill>
                <a:latin typeface="Montserrat"/>
              </a:rPr>
              <a:t>Team total: 37 tasks completed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69087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9FB3C8"/>
                </a:solidFill>
                <a:latin typeface="Montserrat"/>
              </a:rPr>
              <a:t>Additional contributors: Kim Bonilla 7 (DrupalCon Rotterdam webinar-planning sub-tasks) · 2 unassigned closures. Team total = 37.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9FB3C8"/>
                </a:solidFill>
                <a:latin typeface="Montserrat"/>
              </a:rPr>
              <a:t>Source: Asana [MOps] Intake, tasks completed Aug 13–19 2026. Core MOPS team shown.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03504"/>
            <a:ext cx="50292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EDF2F7"/>
                </a:solidFill>
                <a:latin typeface="Montserrat"/>
              </a:rPr>
              <a:t>Emails Sent Last Week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64240" cy="384048"/>
          </a:xfrm>
          <a:prstGeom prst="rect">
            <a:avLst/>
          </a:prstGeom>
          <a:solidFill>
            <a:srgbClr val="273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28800"/>
            <a:ext cx="47365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SEND / CAMPAIGN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4688" y="1828800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SEND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1828800"/>
            <a:ext cx="14447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1828800"/>
            <a:ext cx="30906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REGION / AUDIENCE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12848"/>
            <a:ext cx="11064240" cy="420624"/>
          </a:xfrm>
          <a:prstGeom prst="rect">
            <a:avLst/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212848"/>
            <a:ext cx="4736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DAM Workshop Boston — Email Send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2212848"/>
            <a:ext cx="13533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Aug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212848"/>
            <a:ext cx="1444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Aayushi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212848"/>
            <a:ext cx="30906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US / DAM ICP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633472"/>
            <a:ext cx="4736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Partner Summer Party London — Email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4688" y="2633472"/>
            <a:ext cx="13533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Aug 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2633472"/>
            <a:ext cx="1444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Harish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2633472"/>
            <a:ext cx="30906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EMEA / Partners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54096"/>
            <a:ext cx="11064240" cy="420624"/>
          </a:xfrm>
          <a:prstGeom prst="rect">
            <a:avLst/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054096"/>
            <a:ext cx="4736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LATAM Webinar AIContent BR — Send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4688" y="3054096"/>
            <a:ext cx="13533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Aug 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054096"/>
            <a:ext cx="1444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Harish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3054096"/>
            <a:ext cx="30906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LATAM / Brasil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474720"/>
            <a:ext cx="4736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Webinar AIContent ES — Send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04688" y="3474720"/>
            <a:ext cx="13533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Aug 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3474720"/>
            <a:ext cx="1444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Harish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3474720"/>
            <a:ext cx="30906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LATAM / Spanish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895344"/>
            <a:ext cx="11064240" cy="420624"/>
          </a:xfrm>
          <a:prstGeom prst="rect">
            <a:avLst/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895344"/>
            <a:ext cx="4736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Webinar w/ Hounder &amp; LADWP — Email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4688" y="3895344"/>
            <a:ext cx="13533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Aug 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3895344"/>
            <a:ext cx="1444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Harish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3895344"/>
            <a:ext cx="30906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US / Public Sector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315968"/>
            <a:ext cx="4736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DAM Workshop Boston — Email Send 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4688" y="4315968"/>
            <a:ext cx="13533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Aug 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4315968"/>
            <a:ext cx="1444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Aayushi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2208" y="4315968"/>
            <a:ext cx="30906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US / DAM ICP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736592"/>
            <a:ext cx="11064240" cy="420624"/>
          </a:xfrm>
          <a:prstGeom prst="rect">
            <a:avLst/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736592"/>
            <a:ext cx="4736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DrupalCon Rotterdam Partner Summit — Email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04688" y="4736592"/>
            <a:ext cx="13533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Aug 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4736592"/>
            <a:ext cx="1444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Harish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22208" y="4736592"/>
            <a:ext cx="30906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EMEA / Partners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9FB3C8"/>
                </a:solidFill>
                <a:latin typeface="Montserrat"/>
              </a:rPr>
              <a:t>Source: Asana Email-type milestone sub-tasks, completed with due dates Aug 13–19 2026. Region/audience inferred from send name (Asana Region field is null on milestones).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03504"/>
            <a:ext cx="50292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EDF2F7"/>
                </a:solidFill>
                <a:latin typeface="Montserrat"/>
              </a:rPr>
              <a:t>Campaign Performance (Salesforce)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64240" cy="384048"/>
          </a:xfrm>
          <a:prstGeom prst="rect">
            <a:avLst/>
          </a:prstGeom>
          <a:solidFill>
            <a:srgbClr val="273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28800"/>
            <a:ext cx="44622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CAMPAIGN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828800"/>
            <a:ext cx="12618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828800"/>
            <a:ext cx="14447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RESPONSES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1828800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RESP.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19488" y="1828800"/>
            <a:ext cx="7132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OPPS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42448" y="1828800"/>
            <a:ext cx="1170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PIPELINE $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212848"/>
            <a:ext cx="11064240" cy="420624"/>
          </a:xfrm>
          <a:prstGeom prst="rect">
            <a:avLst/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212848"/>
            <a:ext cx="44622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em_promo_webinar Hounder &amp; LADWP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212848"/>
            <a:ext cx="12618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1,545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212848"/>
            <a:ext cx="1444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1,545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212848"/>
            <a:ext cx="13533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2212848"/>
            <a:ext cx="7132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42448" y="2212848"/>
            <a:ext cx="11704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22C55E"/>
                </a:solidFill>
                <a:latin typeface="Montserrat"/>
              </a:rPr>
              <a:t>$32,965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633472"/>
            <a:ext cx="44622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em_promo_dam workshop boston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2633472"/>
            <a:ext cx="12618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175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2633472"/>
            <a:ext cx="1444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175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2633472"/>
            <a:ext cx="13533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9488" y="2633472"/>
            <a:ext cx="7132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42448" y="2633472"/>
            <a:ext cx="11704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EF4444"/>
                </a:solidFill>
                <a:latin typeface="Montserrat"/>
              </a:rPr>
              <a:t>-$1,227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054096"/>
            <a:ext cx="11064240" cy="420624"/>
          </a:xfrm>
          <a:prstGeom prst="rect">
            <a:avLst/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054096"/>
            <a:ext cx="44622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ev_workshop_dam_ DAM Workshop NYC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3054096"/>
            <a:ext cx="12618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3054096"/>
            <a:ext cx="1444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054096"/>
            <a:ext cx="13533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3054096"/>
            <a:ext cx="7132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42448" y="3054096"/>
            <a:ext cx="11704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$0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3474720"/>
            <a:ext cx="44622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ev_td_dxp_ Vass CL Tradeshow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0368" y="3474720"/>
            <a:ext cx="12618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1968" y="3474720"/>
            <a:ext cx="1444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6448" y="3474720"/>
            <a:ext cx="13533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19488" y="3474720"/>
            <a:ext cx="7132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42448" y="3474720"/>
            <a:ext cx="11704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$0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895344"/>
            <a:ext cx="11064240" cy="420624"/>
          </a:xfrm>
          <a:prstGeom prst="rect">
            <a:avLst/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3895344"/>
            <a:ext cx="44622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evt_webinar_ DAM Updates Partner Class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0368" y="3895344"/>
            <a:ext cx="12618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1968" y="3895344"/>
            <a:ext cx="1444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56448" y="3895344"/>
            <a:ext cx="13533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19488" y="3895344"/>
            <a:ext cx="7132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42448" y="3895344"/>
            <a:ext cx="11704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$0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4315968"/>
            <a:ext cx="44622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9FB3C8"/>
                </a:solidFill>
                <a:latin typeface="Montserrat"/>
              </a:rPr>
              <a:t>+ 7 more created (0 members — just built)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30368" y="4315968"/>
            <a:ext cx="12618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01968" y="4315968"/>
            <a:ext cx="1444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56448" y="4315968"/>
            <a:ext cx="13533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19488" y="4315968"/>
            <a:ext cx="7132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42448" y="4315968"/>
            <a:ext cx="11704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736592"/>
            <a:ext cx="11064240" cy="420624"/>
          </a:xfrm>
          <a:prstGeom prst="rect">
            <a:avLst/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4736592"/>
            <a:ext cx="44622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14B8A6"/>
                </a:solidFill>
                <a:latin typeface="Montserrat"/>
              </a:rPr>
              <a:t>PERIOD ROLL-UP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30368" y="4736592"/>
            <a:ext cx="12618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14B8A6"/>
                </a:solidFill>
                <a:latin typeface="Montserrat"/>
              </a:rPr>
              <a:t>1,720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01968" y="4736592"/>
            <a:ext cx="1444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14B8A6"/>
                </a:solidFill>
                <a:latin typeface="Montserrat"/>
              </a:rPr>
              <a:t>1,720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56448" y="4736592"/>
            <a:ext cx="13533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14B8A6"/>
                </a:solidFill>
                <a:latin typeface="Montserrat"/>
              </a:rPr>
              <a:t>~100%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19488" y="4736592"/>
            <a:ext cx="7132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14B8A6"/>
                </a:solidFill>
                <a:latin typeface="Montserrat"/>
              </a:rPr>
              <a:t>12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42448" y="4736592"/>
            <a:ext cx="11704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14B8A6"/>
                </a:solidFill>
                <a:latin typeface="Montserrat"/>
              </a:rPr>
              <a:t>$31,738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9FB3C8"/>
                </a:solidFill>
                <a:latin typeface="Montserrat"/>
              </a:rPr>
              <a:t>Source: Salesforce Campaign SOQL, CreatedDate or StartDate = last 7 days. Queried 2026-08-20. Response rate = NumberOfResponses / members. Negative pipeline on Boston campaign is a data anomaly — flagged on Data Hygiene.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03504"/>
            <a:ext cx="50292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EDF2F7"/>
                </a:solidFill>
                <a:latin typeface="Montserrat"/>
              </a:rPr>
              <a:t>SLA &amp; Cycle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515258" cy="1463040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93392"/>
            <a:ext cx="30580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59E0B"/>
                </a:solidFill>
                <a:latin typeface="Montserrat"/>
              </a:rPr>
              <a:t>15 bd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78608"/>
            <a:ext cx="30580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DF2F7"/>
                </a:solidFill>
                <a:latin typeface="Montserrat"/>
              </a:rPr>
              <a:t>Median cycle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30580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9FB3C8"/>
                </a:solidFill>
                <a:latin typeface="Montserrat"/>
              </a:rPr>
              <a:t>intake → completion, all 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8218" y="1828800"/>
            <a:ext cx="3515258" cy="1463040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818" y="1993392"/>
            <a:ext cx="30580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59E0B"/>
                </a:solidFill>
                <a:latin typeface="Montserrat"/>
              </a:rPr>
              <a:t>19%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818" y="2578608"/>
            <a:ext cx="30580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DF2F7"/>
                </a:solidFill>
                <a:latin typeface="Montserrat"/>
              </a:rPr>
              <a:t>Closed within 5 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6818" y="2880360"/>
            <a:ext cx="30580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9FB3C8"/>
                </a:solidFill>
                <a:latin typeface="Montserrat"/>
              </a:rPr>
              <a:t>fresh tickets closed fast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1828800"/>
            <a:ext cx="3515258" cy="1463040"/>
          </a:xfrm>
          <a:prstGeom prst="roundRect">
            <a:avLst>
              <a:gd name="adj" fmla="val 8000"/>
            </a:avLst>
          </a:prstGeom>
          <a:solidFill>
            <a:srgbClr val="152136"/>
          </a:solidFill>
          <a:ln w="12700">
            <a:solidFill>
              <a:srgbClr val="2737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6396" y="1993392"/>
            <a:ext cx="30580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9FB3C8"/>
                </a:solidFill>
                <a:latin typeface="Montserrat"/>
              </a:rPr>
              <a:t>N/A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2578608"/>
            <a:ext cx="30580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EDF2F7"/>
                </a:solidFill>
                <a:latin typeface="Montserrat"/>
              </a:rPr>
              <a:t>% within SLA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396" y="2880360"/>
            <a:ext cx="305805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9FB3C8"/>
                </a:solidFill>
                <a:latin typeface="Montserrat"/>
              </a:rPr>
              <a:t>no per-type SLA field in Asana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1" i="0">
                <a:solidFill>
                  <a:srgbClr val="F59E0B"/>
                </a:solidFill>
                <a:latin typeface="Montserrat"/>
              </a:rPr>
              <a:t>Reading the number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EDF2F7"/>
                </a:solidFill>
                <a:latin typeface="Montserrat"/>
              </a:rPr>
              <a:t>This was a backlog-cleanup week: several long-open tickets were closed, inflating median cycle time. The oldest closure had been open 319 business days (a form-automation ticket open since May 2025). Fresh, in-period tickets closed quickly.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F59E0B"/>
                </a:solidFill>
                <a:latin typeface="Montserrat"/>
              </a:rPr>
              <a:t>Rush / late</a:t>
            </a:r>
          </a:p>
          <a:p>
            <a:pPr>
              <a:spcAft>
                <a:spcPts val="400"/>
              </a:spcAft>
            </a:pPr>
            <a:r>
              <a:rPr sz="1250" b="0" i="0">
                <a:solidFill>
                  <a:srgbClr val="EDF2F7"/>
                </a:solidFill>
                <a:latin typeface="Montserrat"/>
              </a:rPr>
              <a:t>No Rush/Urgent SLA breaches surfaced in the retro window. Asana has no day-based SLA field, so a true "% within SLA" can't be computed here — see sla-watchdog for the per-type clock. Reported cycle time is intake (created) → completion in business days.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9FB3C8"/>
                </a:solidFill>
                <a:latin typeface="Montserrat"/>
              </a:rPr>
              <a:t>Source: Asana created_at → completed_at across 37 retro completions. SLA table lives in sla-watchdog skill, not this deck.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03504"/>
            <a:ext cx="50292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EDF2F7"/>
                </a:solidFill>
                <a:latin typeface="Montserrat"/>
              </a:rPr>
              <a:t>Lead Weekly Wins — Aayushi (Team Lead)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4B8A6"/>
                </a:solidFill>
                <a:latin typeface="Montserrat"/>
              </a:rPr>
              <a:t>Campaign delivery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DF2F7"/>
                </a:solidFill>
                <a:latin typeface="Montserrat"/>
              </a:rPr>
              <a:t>•  Created 3 SFDC campaigns (Fintech MX, Havas CL Tradeshow, DAM Workshop DC) + form scaffolding.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DF2F7"/>
                </a:solidFill>
                <a:latin typeface="Montserrat"/>
              </a:rPr>
              <a:t>•  Built and sent both DAM Workshop Boston pre-event emails (Send 01 Aug 13, Send 02 Aug 18).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14B8A6"/>
                </a:solidFill>
                <a:latin typeface="Montserrat"/>
              </a:rPr>
              <a:t>Process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DF2F7"/>
                </a:solidFill>
                <a:latin typeface="Montserrat"/>
              </a:rPr>
              <a:t>•  Ran the Thursday stakeholder call walking unassigned/urgent tickets and the send calendar.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14B8A6"/>
                </a:solidFill>
                <a:latin typeface="Montserrat"/>
              </a:rPr>
              <a:t>Impact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DF2F7"/>
                </a:solidFill>
                <a:latin typeface="Montserrat"/>
              </a:rPr>
              <a:t>•  DAM Workshop Boston promo already showing 175 engaged members and 3 opportunities in Salesforce.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9FB3C8"/>
                </a:solidFill>
                <a:latin typeface="Montserrat"/>
              </a:rPr>
              <a:t>Source: Asana completions Aug 13–19; Salesforce campaign rollups.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03504"/>
            <a:ext cx="50292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EDF2F7"/>
                </a:solidFill>
                <a:latin typeface="Montserrat"/>
              </a:rPr>
              <a:t>Team Performance Highlights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3515258" cy="3566160"/>
          </a:xfrm>
          <a:prstGeom prst="roundRect">
            <a:avLst>
              <a:gd name="adj" fmla="val 5000"/>
            </a:avLst>
          </a:prstGeom>
          <a:solidFill>
            <a:srgbClr val="152136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3515258" cy="91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29666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DF2F7"/>
                </a:solidFill>
                <a:latin typeface="Montserrat"/>
              </a:rPr>
              <a:t>Harish Pandey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29666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4B8A6"/>
                </a:solidFill>
                <a:latin typeface="Montserrat"/>
              </a:rPr>
              <a:t>Email &amp; Webinar Sends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54680"/>
            <a:ext cx="296661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EDF2F7"/>
                </a:solidFill>
                <a:latin typeface="Montserrat"/>
              </a:rPr>
              <a:t>•  12 completions — the week's throughput leader.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EDF2F7"/>
                </a:solidFill>
                <a:latin typeface="Montserrat"/>
              </a:rPr>
              <a:t>•  5 webinar/nurture email sends across LATAM, EMEA &amp; US.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EDF2F7"/>
                </a:solidFill>
                <a:latin typeface="Montserrat"/>
              </a:rPr>
              <a:t>•  2 SF list uploads (LA Gov Summit, CX Summit CO).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218" y="2011680"/>
            <a:ext cx="3515258" cy="3566160"/>
          </a:xfrm>
          <a:prstGeom prst="roundRect">
            <a:avLst>
              <a:gd name="adj" fmla="val 5000"/>
            </a:avLst>
          </a:prstGeom>
          <a:solidFill>
            <a:srgbClr val="15213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8218" y="2011680"/>
            <a:ext cx="3515258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2538" y="2286000"/>
            <a:ext cx="29666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DF2F7"/>
                </a:solidFill>
                <a:latin typeface="Montserrat"/>
              </a:rPr>
              <a:t>Felipe Tencio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2538" y="2697480"/>
            <a:ext cx="29666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B82F6"/>
                </a:solidFill>
                <a:latin typeface="Montserrat"/>
              </a:rPr>
              <a:t>Audiences &amp; Lists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2538" y="3154680"/>
            <a:ext cx="296661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EDF2F7"/>
                </a:solidFill>
                <a:latin typeface="Montserrat"/>
              </a:rPr>
              <a:t>•  6 audience/list deliverables completed.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EDF2F7"/>
                </a:solidFill>
                <a:latin typeface="Montserrat"/>
              </a:rPr>
              <a:t>•  Built DAM ICP prospect+customer contact lists.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EDF2F7"/>
                </a:solidFill>
                <a:latin typeface="Montserrat"/>
              </a:rPr>
              <a:t>•  DrupalCamp Italy + Open Source AI Meet Up audiences.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7796" y="2011680"/>
            <a:ext cx="3515258" cy="3566160"/>
          </a:xfrm>
          <a:prstGeom prst="roundRect">
            <a:avLst>
              <a:gd name="adj" fmla="val 5000"/>
            </a:avLst>
          </a:prstGeom>
          <a:solidFill>
            <a:srgbClr val="152136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7796" y="2011680"/>
            <a:ext cx="3515258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2116" y="2286000"/>
            <a:ext cx="29666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DF2F7"/>
                </a:solidFill>
                <a:latin typeface="Montserrat"/>
              </a:rPr>
              <a:t>Jennifer Schroback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2116" y="2697480"/>
            <a:ext cx="29666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F97316"/>
                </a:solidFill>
                <a:latin typeface="Montserrat"/>
              </a:rPr>
              <a:t>Manager / No-Pattern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2116" y="3154680"/>
            <a:ext cx="296661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EDF2F7"/>
                </a:solidFill>
                <a:latin typeface="Montserrat"/>
              </a:rPr>
              <a:t>•  Closed 3 long-open form &amp; automation tickets.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EDF2F7"/>
                </a:solidFill>
                <a:latin typeface="Montserrat"/>
              </a:rPr>
              <a:t>•  Owns the no-repeatable-shape intake types.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EDF2F7"/>
                </a:solidFill>
                <a:latin typeface="Montserrat"/>
              </a:rPr>
              <a:t>•  Cleared the 319-day form-automation backlog item.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9FB3C8"/>
                </a:solidFill>
                <a:latin typeface="Montserrat"/>
              </a:rPr>
              <a:t>Source: Asana completions Aug 13–19 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109728" cy="12801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97316"/>
                </a:solidFill>
                <a:latin typeface="Montserrat"/>
              </a:rPr>
              <a:t>LOOK AHEAD</a:t>
            </a:r>
          </a:p>
          <a:p>
            <a:r>
              <a:rPr sz="3600" b="1" i="0">
                <a:solidFill>
                  <a:srgbClr val="EDF2F7"/>
                </a:solidFill>
                <a:latin typeface="Montserrat"/>
              </a:rPr>
              <a:t>Planning Next Week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9FB3C8"/>
                </a:solidFill>
                <a:latin typeface="Montserrat"/>
              </a:rPr>
              <a:t>August 20 – 30,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03504"/>
            <a:ext cx="50292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EDF2F7"/>
                </a:solidFill>
                <a:latin typeface="Montserrat"/>
              </a:rPr>
              <a:t>Upcoming Tasks by Team 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DF2F7"/>
                </a:solidFill>
                <a:latin typeface="Montserrat"/>
              </a:rPr>
              <a:t>Aayushi Sharma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011680"/>
            <a:ext cx="7589520" cy="310896"/>
          </a:xfrm>
          <a:prstGeom prst="roundRect">
            <a:avLst>
              <a:gd name="adj" fmla="val 50000"/>
            </a:avLst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2011680"/>
            <a:ext cx="758952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1993392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EDF2F7"/>
                </a:solidFill>
                <a:latin typeface="Montserrat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87168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DF2F7"/>
                </a:solidFill>
                <a:latin typeface="Montserrat"/>
              </a:rPr>
              <a:t>Harish Pandey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2578608"/>
            <a:ext cx="7589520" cy="310896"/>
          </a:xfrm>
          <a:prstGeom prst="roundRect">
            <a:avLst>
              <a:gd name="adj" fmla="val 50000"/>
            </a:avLst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26080" y="2578608"/>
            <a:ext cx="6899563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17083" y="25603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EDF2F7"/>
                </a:solidFill>
                <a:latin typeface="Montserrat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54096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DF2F7"/>
                </a:solidFill>
                <a:latin typeface="Montserrat"/>
              </a:rPr>
              <a:t>Felipe Tencio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3145536"/>
            <a:ext cx="7589520" cy="310896"/>
          </a:xfrm>
          <a:prstGeom prst="roundRect">
            <a:avLst>
              <a:gd name="adj" fmla="val 50000"/>
            </a:avLst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26080" y="3145536"/>
            <a:ext cx="551965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7170" y="3127248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EDF2F7"/>
                </a:solidFill>
                <a:latin typeface="Montserrat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21024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DF2F7"/>
                </a:solidFill>
                <a:latin typeface="Montserrat"/>
              </a:rPr>
              <a:t>Nick Stalford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3712464"/>
            <a:ext cx="7589520" cy="310896"/>
          </a:xfrm>
          <a:prstGeom prst="roundRect">
            <a:avLst>
              <a:gd name="adj" fmla="val 50000"/>
            </a:avLst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26080" y="3712464"/>
            <a:ext cx="689956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7476" y="3694176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EDF2F7"/>
                </a:solidFill>
                <a:latin typeface="Montserrat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187952"/>
            <a:ext cx="22860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EDF2F7"/>
                </a:solidFill>
                <a:latin typeface="Montserrat"/>
              </a:rPr>
              <a:t>Unassigned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4279392"/>
            <a:ext cx="7589520" cy="310896"/>
          </a:xfrm>
          <a:prstGeom prst="roundRect">
            <a:avLst>
              <a:gd name="adj" fmla="val 50000"/>
            </a:avLst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926080" y="4279392"/>
            <a:ext cx="5519650" cy="31089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7170" y="4261104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EDF2F7"/>
                </a:solidFill>
                <a:latin typeface="Montserrat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92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97316"/>
                </a:solidFill>
                <a:latin typeface="Montserrat"/>
              </a:rPr>
              <a:t>Total Capacity Required: 38 Tasks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257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9FB3C8"/>
                </a:solidFill>
                <a:latin typeface="Montserrat"/>
              </a:rPr>
              <a:t>8 of 38 upcoming tasks are unassigned — assign before the load-balancing gap widens.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9FB3C8"/>
                </a:solidFill>
                <a:latin typeface="Montserrat"/>
              </a:rPr>
              <a:t>Source: Asana [MOps] Intake, open tasks due Aug 20–30 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03504"/>
            <a:ext cx="50292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EDF2F7"/>
                </a:solidFill>
                <a:latin typeface="Montserrat"/>
              </a:rPr>
              <a:t>Upcoming Email Sends Next Week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64240" cy="384048"/>
          </a:xfrm>
          <a:prstGeom prst="rect">
            <a:avLst/>
          </a:prstGeom>
          <a:solidFill>
            <a:srgbClr val="273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28800"/>
            <a:ext cx="47365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SEND / CAMPAIGN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4688" y="1828800"/>
            <a:ext cx="135331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SEND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1828800"/>
            <a:ext cx="14447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1828800"/>
            <a:ext cx="30906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REGION / AUDIENCE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12848"/>
            <a:ext cx="11064240" cy="420624"/>
          </a:xfrm>
          <a:prstGeom prst="rect">
            <a:avLst/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212848"/>
            <a:ext cx="4736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August 2026 Partner Newsletter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2212848"/>
            <a:ext cx="13533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Aug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212848"/>
            <a:ext cx="1444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Harish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212848"/>
            <a:ext cx="30906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Global / Partners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633472"/>
            <a:ext cx="4736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Open Source AI Meet Up — Email send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4688" y="2633472"/>
            <a:ext cx="13533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Aug 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2633472"/>
            <a:ext cx="1444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Harish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2633472"/>
            <a:ext cx="30906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Global / Prospects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54096"/>
            <a:ext cx="11064240" cy="420624"/>
          </a:xfrm>
          <a:prstGeom prst="rect">
            <a:avLst/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054096"/>
            <a:ext cx="4736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F59E0B"/>
                </a:solidFill>
                <a:latin typeface="Montserrat"/>
              </a:rPr>
              <a:t>[NAME] Registration Email 1  ← placeholder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4688" y="3054096"/>
            <a:ext cx="13533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Aug 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3054096"/>
            <a:ext cx="1444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Aayushi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3054096"/>
            <a:ext cx="30906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TBD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474720"/>
            <a:ext cx="47365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DrupalCon Rotterdam — First email send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04688" y="3474720"/>
            <a:ext cx="13533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Aug 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3474720"/>
            <a:ext cx="1444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Harish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3474720"/>
            <a:ext cx="30906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EMEA / Attendees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005072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F59E0B"/>
                </a:solidFill>
                <a:latin typeface="Montserrat"/>
              </a:rPr>
              <a:t>Three sends land Aug 20 — audiences differ (partner list / meetup / registration), so no audience clash, but Harish owns 2 of the 3. One send name is still a literal [NAME] placeholder — resolve before send.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9FB3C8"/>
                </a:solidFill>
                <a:latin typeface="Montserrat"/>
              </a:rPr>
              <a:t>Source: Asana Email-type milestone sub-tasks, incomplete, due Aug 20–30 2026.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03504"/>
            <a:ext cx="50292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EDF2F7"/>
                </a:solidFill>
                <a:latin typeface="Montserrat"/>
              </a:rPr>
              <a:t>Priority Pipeline — Aayushi (Team Lead)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11064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97316"/>
                </a:solidFill>
                <a:latin typeface="Montserrat"/>
              </a:rPr>
              <a:t>Now (this week)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DF2F7"/>
                </a:solidFill>
                <a:latin typeface="Montserrat"/>
              </a:rPr>
              <a:t>•  5 SFDC campaigns due Aug 26–27 (Content Marketing World, MAICON, Gartner IT Symposium, Henry Stewart DAM NY, + Content Chaos Quiz live).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DF2F7"/>
                </a:solidFill>
                <a:latin typeface="Montserrat"/>
              </a:rPr>
              <a:t>•  Registration email series ([NAME] Emails 1 &amp; 2) — resolve placeholder naming first.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Scheduled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DF2F7"/>
                </a:solidFill>
                <a:latin typeface="Montserrat"/>
              </a:rPr>
              <a:t>•  Churn customer campaign — dynamic Pardot sequence (Aug 26).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DF2F7"/>
                </a:solidFill>
                <a:latin typeface="Montserrat"/>
              </a:rPr>
              <a:t>•  Drupal GovCon &amp; Atlanta Tech Week post-event marketing emails.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F97316"/>
                </a:solidFill>
                <a:latin typeface="Montserrat"/>
              </a:rPr>
              <a:t>Risk</a:t>
            </a:r>
          </a:p>
          <a:p>
            <a:pPr>
              <a:spcAft>
                <a:spcPts val="300"/>
              </a:spcAft>
            </a:pPr>
            <a:r>
              <a:rPr sz="1250" b="0" i="0">
                <a:solidFill>
                  <a:srgbClr val="EDF2F7"/>
                </a:solidFill>
                <a:latin typeface="Montserrat"/>
              </a:rPr>
              <a:t>•  Aayushi carries the highest look-ahead load (11 tasks) — watch for concentration.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9FB3C8"/>
                </a:solidFill>
                <a:latin typeface="Montserrat"/>
              </a:rPr>
              <a:t>Source: Asana open tasks due Aug 20–30 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03504"/>
            <a:ext cx="50292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EDF2F7"/>
                </a:solidFill>
                <a:latin typeface="Montserrat"/>
              </a:rPr>
              <a:t>Upcoming Strategic Priorities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3515258" cy="3566160"/>
          </a:xfrm>
          <a:prstGeom prst="roundRect">
            <a:avLst>
              <a:gd name="adj" fmla="val 5000"/>
            </a:avLst>
          </a:prstGeom>
          <a:solidFill>
            <a:srgbClr val="152136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3515258" cy="91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29666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DF2F7"/>
                </a:solidFill>
                <a:latin typeface="Montserrat"/>
              </a:rPr>
              <a:t>Harish Pandey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29666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4B8A6"/>
                </a:solidFill>
                <a:latin typeface="Montserrat"/>
              </a:rPr>
              <a:t>Sends &amp; Campaigns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54680"/>
            <a:ext cx="296661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EDF2F7"/>
                </a:solidFill>
                <a:latin typeface="Montserrat"/>
              </a:rPr>
              <a:t>•  Partner Newsletter + Open Source AI Meet Up sends (Aug 20).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EDF2F7"/>
                </a:solidFill>
                <a:latin typeface="Montserrat"/>
              </a:rPr>
              <a:t>•  DrupalCon Rotterdam email 1 (Aug 25).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EDF2F7"/>
                </a:solidFill>
                <a:latin typeface="Montserrat"/>
              </a:rPr>
              <a:t>•  DrupalCamp Italy &amp; Spain SFDC campaigns (Aug 26).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218" y="2011680"/>
            <a:ext cx="3515258" cy="3566160"/>
          </a:xfrm>
          <a:prstGeom prst="roundRect">
            <a:avLst>
              <a:gd name="adj" fmla="val 5000"/>
            </a:avLst>
          </a:prstGeom>
          <a:solidFill>
            <a:srgbClr val="152136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8218" y="2011680"/>
            <a:ext cx="3515258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2538" y="2286000"/>
            <a:ext cx="29666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DF2F7"/>
                </a:solidFill>
                <a:latin typeface="Montserrat"/>
              </a:rPr>
              <a:t>Felipe Tencio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2538" y="2697480"/>
            <a:ext cx="29666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3B82F6"/>
                </a:solidFill>
                <a:latin typeface="Montserrat"/>
              </a:rPr>
              <a:t>Audiences &amp;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2538" y="3154680"/>
            <a:ext cx="296661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EDF2F7"/>
                </a:solidFill>
                <a:latin typeface="Montserrat"/>
              </a:rPr>
              <a:t>•  DrupalCon Rotterdam customer+prospect audience (Aug 20).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EDF2F7"/>
                </a:solidFill>
                <a:latin typeface="Montserrat"/>
              </a:rPr>
              <a:t>•  Q3 Campaign ICP account &amp; contact lists.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EDF2F7"/>
                </a:solidFill>
                <a:latin typeface="Montserrat"/>
              </a:rPr>
              <a:t>•  4 event pre/post-event audience reports.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7796" y="2011680"/>
            <a:ext cx="3515258" cy="3566160"/>
          </a:xfrm>
          <a:prstGeom prst="roundRect">
            <a:avLst>
              <a:gd name="adj" fmla="val 5000"/>
            </a:avLst>
          </a:prstGeom>
          <a:solidFill>
            <a:srgbClr val="152136"/>
          </a:solidFill>
          <a:ln w="1905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7796" y="2011680"/>
            <a:ext cx="3515258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2116" y="2286000"/>
            <a:ext cx="29666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DF2F7"/>
                </a:solidFill>
                <a:latin typeface="Montserrat"/>
              </a:rPr>
              <a:t>Unassigned 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2116" y="2697480"/>
            <a:ext cx="29666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F97316"/>
                </a:solidFill>
                <a:latin typeface="Montserrat"/>
              </a:rPr>
              <a:t>Needs an Owner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2116" y="3154680"/>
            <a:ext cx="296661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EDF2F7"/>
                </a:solidFill>
                <a:latin typeface="Montserrat"/>
              </a:rPr>
              <a:t>•  8 upcoming tasks unassigned.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EDF2F7"/>
                </a:solidFill>
                <a:latin typeface="Montserrat"/>
              </a:rPr>
              <a:t>•  SFDC CID requests (Be the Source, Agentic Marketing).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EDF2F7"/>
                </a:solidFill>
                <a:latin typeface="Montserrat"/>
              </a:rPr>
              <a:t>•  Best Platform for Drupal H2 ICP contact report.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9FB3C8"/>
                </a:solidFill>
                <a:latin typeface="Montserrat"/>
              </a:rPr>
              <a:t>Source: Asana open tasks due Aug 20–30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03504"/>
            <a:ext cx="50292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EDF2F7"/>
                </a:solidFill>
                <a:latin typeface="Montserrat"/>
              </a:rPr>
              <a:t>Active Sub-Projects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64240" cy="384048"/>
          </a:xfrm>
          <a:prstGeom prst="rect">
            <a:avLst/>
          </a:prstGeom>
          <a:solidFill>
            <a:srgbClr val="273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28800"/>
            <a:ext cx="34564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SUB-CATEGORY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828800"/>
            <a:ext cx="464515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CORE ACTIVITY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1828800"/>
            <a:ext cx="8046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93808" y="1828800"/>
            <a:ext cx="17190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12848"/>
            <a:ext cx="11064240" cy="420624"/>
          </a:xfrm>
          <a:prstGeom prst="rect">
            <a:avLst/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212848"/>
            <a:ext cx="34564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Email(s) / Nurture Sequences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2212848"/>
            <a:ext cx="46451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Event promo + registration + post-event sends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2212848"/>
            <a:ext cx="8046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3808" y="2212848"/>
            <a:ext cx="17190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3B82F6"/>
                </a:solidFill>
                <a:latin typeface="Montserrat"/>
              </a:rPr>
              <a:t>IN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633472"/>
            <a:ext cx="34564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Audiences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2633472"/>
            <a:ext cx="46451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ICP + event audience pulls &amp; contact lists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2633472"/>
            <a:ext cx="8046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3808" y="2633472"/>
            <a:ext cx="17190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3B82F6"/>
                </a:solidFill>
                <a:latin typeface="Montserrat"/>
              </a:rPr>
              <a:t>IN PROGRESS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54096"/>
            <a:ext cx="11064240" cy="420624"/>
          </a:xfrm>
          <a:prstGeom prst="rect">
            <a:avLst/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054096"/>
            <a:ext cx="34564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SFDC Campaigns (single + multiple)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24528" y="3054096"/>
            <a:ext cx="46451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Campaign records + forms for 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3054096"/>
            <a:ext cx="8046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3054096"/>
            <a:ext cx="17190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22C55E"/>
                </a:solidFill>
                <a:latin typeface="Montserrat"/>
              </a:rPr>
              <a:t>ON 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474720"/>
            <a:ext cx="34564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IT /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4528" y="3474720"/>
            <a:ext cx="46451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Zapier–LinkedIn, click-ID attribution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9408" y="3474720"/>
            <a:ext cx="8046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3808" y="3474720"/>
            <a:ext cx="17190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EF4444"/>
                </a:solidFill>
                <a:latin typeface="Montserrat"/>
              </a:rPr>
              <a:t>BLOCKED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895344"/>
            <a:ext cx="11064240" cy="420624"/>
          </a:xfrm>
          <a:prstGeom prst="rect">
            <a:avLst/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895344"/>
            <a:ext cx="34564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Form Requests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4528" y="3895344"/>
            <a:ext cx="46451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Webinar test forms + push-live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9408" y="3895344"/>
            <a:ext cx="8046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3808" y="3895344"/>
            <a:ext cx="17190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3B82F6"/>
                </a:solidFill>
                <a:latin typeface="Montserrat"/>
              </a:rPr>
              <a:t>IN PROGRESS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315968"/>
            <a:ext cx="34564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List Upload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4315968"/>
            <a:ext cx="46451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Event list uploads into SF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9408" y="4315968"/>
            <a:ext cx="8046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93808" y="4315968"/>
            <a:ext cx="17190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22C55E"/>
                </a:solidFill>
                <a:latin typeface="Montserrat"/>
              </a:rPr>
              <a:t>ON TRACK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9FB3C8"/>
                </a:solidFill>
                <a:latin typeface="Montserrat"/>
              </a:rPr>
              <a:t>Source: Asana open top-level tickets by Project Type, 2026-08-20 (53 open total).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03504"/>
            <a:ext cx="50292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EDF2F7"/>
                </a:solidFill>
                <a:latin typeface="Montserrat"/>
              </a:rPr>
              <a:t>Incomplete / Blocked Tickets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64240" cy="384048"/>
          </a:xfrm>
          <a:prstGeom prst="rect">
            <a:avLst/>
          </a:prstGeom>
          <a:solidFill>
            <a:srgbClr val="273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28800"/>
            <a:ext cx="3913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TICKET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828800"/>
            <a:ext cx="1627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ASSIGNEE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28800"/>
            <a:ext cx="38221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MISSING INFO / REASON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51008" y="1828800"/>
            <a:ext cx="126187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1" i="0">
                <a:solidFill>
                  <a:srgbClr val="EDF2F7"/>
                </a:solidFill>
                <a:latin typeface="Montserrat"/>
              </a:rPr>
              <a:t>PRIORITY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12848"/>
            <a:ext cx="11064240" cy="420624"/>
          </a:xfrm>
          <a:prstGeom prst="rect">
            <a:avLst/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212848"/>
            <a:ext cx="39136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Zapier integration – LinkedIn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212848"/>
            <a:ext cx="16276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Unassigned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212848"/>
            <a:ext cx="38221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Blocked — needs integration scoping &amp; 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51008" y="2212848"/>
            <a:ext cx="12618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EF4444"/>
                </a:solidFill>
                <a:latin typeface="Montserrat"/>
              </a:rPr>
              <a:t>BLOCKED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633472"/>
            <a:ext cx="39136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[Event Name] Pre Event Marketing Emails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2633472"/>
            <a:ext cx="16276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Unassigned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633472"/>
            <a:ext cx="38221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Require info — literal [Event Name] placeholder, no event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51008" y="2633472"/>
            <a:ext cx="12618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EF4444"/>
                </a:solidFill>
                <a:latin typeface="Montserrat"/>
              </a:rPr>
              <a:t>BLOCKED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54096"/>
            <a:ext cx="11064240" cy="420624"/>
          </a:xfrm>
          <a:prstGeom prst="rect">
            <a:avLst/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054096"/>
            <a:ext cx="39136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Optimize Starter upon ACP Renewal — Cadence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054096"/>
            <a:ext cx="16276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Karen Plant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3054096"/>
            <a:ext cx="38221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Require info / description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51008" y="3054096"/>
            <a:ext cx="12618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F59E0B"/>
                </a:solidFill>
                <a:latin typeface="Montserrat"/>
              </a:rPr>
              <a:t>AT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474720"/>
            <a:ext cx="39136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SFDC Campaign Request – Pantheon Compete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3474720"/>
            <a:ext cx="16276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Aayushi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474720"/>
            <a:ext cx="38221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Overdue since Aug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51008" y="3474720"/>
            <a:ext cx="12618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F59E0B"/>
                </a:solidFill>
                <a:latin typeface="Montserrat"/>
              </a:rPr>
              <a:t>AT RISK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895344"/>
            <a:ext cx="11064240" cy="420624"/>
          </a:xfrm>
          <a:prstGeom prst="rect">
            <a:avLst/>
          </a:prstGeom>
          <a:solidFill>
            <a:srgbClr val="152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895344"/>
            <a:ext cx="39136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Source Subscription Notification (Felipe)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1728" y="3895344"/>
            <a:ext cx="16276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Felipe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3895344"/>
            <a:ext cx="38221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Overdue since Aug 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51008" y="3895344"/>
            <a:ext cx="12618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F59E0B"/>
                </a:solidFill>
                <a:latin typeface="Montserrat"/>
              </a:rPr>
              <a:t>AT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315968"/>
            <a:ext cx="39136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SHSMD Speakers – Build List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1728" y="4315968"/>
            <a:ext cx="162763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Felipe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4315968"/>
            <a:ext cx="382219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 i="0">
                <a:solidFill>
                  <a:srgbClr val="EDF2F7"/>
                </a:solidFill>
                <a:latin typeface="Montserrat"/>
              </a:rPr>
              <a:t>Overdue since Aug 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51008" y="4315968"/>
            <a:ext cx="126187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 i="0">
                <a:solidFill>
                  <a:srgbClr val="F59E0B"/>
                </a:solidFill>
                <a:latin typeface="Montserrat"/>
              </a:rPr>
              <a:t>AT RISK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9FB3C8"/>
                </a:solidFill>
                <a:latin typeface="Montserrat"/>
              </a:rPr>
              <a:t>Source: Asana open tickets flagged Blocked / Require-Information, or past due, as of 2026-08-20. 25 of 53 open top-level tickets are unassigned.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03504"/>
            <a:ext cx="50292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EDF2F7"/>
                </a:solidFill>
                <a:latin typeface="Montserrat"/>
              </a:rPr>
              <a:t>Data Hygiene &amp; 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152136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F4444"/>
                </a:solidFill>
                <a:latin typeface="Montserrat"/>
              </a:rPr>
              <a:t>Flagged This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603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 b="0" i="0">
                <a:solidFill>
                  <a:srgbClr val="EDF2F7"/>
                </a:solidFill>
                <a:latin typeface="Montserrat"/>
              </a:rPr>
              <a:t>•  Naming drift: 11 of 12 new campaigns use the lowercase channel-prefix style (em_promo_, ev_workshop_, evt_webinar_), not the documented Region_Channel_Product_Description_YYYY-Qn. Only Content_Chaos_Quiz_2026-Q3 partly conforms.</a:t>
            </a:r>
          </a:p>
          <a:p>
            <a:pPr>
              <a:spcAft>
                <a:spcPts val="700"/>
              </a:spcAft>
            </a:pPr>
            <a:r>
              <a:rPr sz="1050" b="0" i="0">
                <a:solidFill>
                  <a:srgbClr val="EDF2F7"/>
                </a:solidFill>
                <a:latin typeface="Montserrat"/>
              </a:rPr>
              <a:t>•  Negative pipeline: DAM Workshop Boston campaign shows AmountAllOpportunities = -$1,227 — impossible value, likely a currency/rollup anomaly.</a:t>
            </a:r>
          </a:p>
          <a:p>
            <a:pPr>
              <a:spcAft>
                <a:spcPts val="700"/>
              </a:spcAft>
            </a:pPr>
            <a:r>
              <a:rPr sz="1050" b="0" i="0">
                <a:solidFill>
                  <a:srgbClr val="EDF2F7"/>
                </a:solidFill>
                <a:latin typeface="Montserrat"/>
              </a:rPr>
              <a:t>•  Literal [Event Name] placeholders persist in Asana ticket + sub-task names (event-template substitution bug) — pollutes reporting and blocks audience pulls.</a:t>
            </a:r>
          </a:p>
          <a:p>
            <a:pPr>
              <a:spcAft>
                <a:spcPts val="700"/>
              </a:spcAft>
            </a:pPr>
            <a:r>
              <a:rPr sz="1050" b="0" i="0">
                <a:solidFill>
                  <a:srgbClr val="EDF2F7"/>
                </a:solidFill>
                <a:latin typeface="Montserrat"/>
              </a:rPr>
              <a:t>•  10 of 12 new campaigns have 0 members (expected for just-built event/webinar shells; re-check after 5 business days).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8308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152136"/>
          </a:solidFill>
          <a:ln w="158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4B8A6"/>
                </a:solidFill>
                <a:latin typeface="Montserrat"/>
              </a:rPr>
              <a:t>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 b="0" i="0">
                <a:solidFill>
                  <a:srgbClr val="EDF2F7"/>
                </a:solidFill>
                <a:latin typeface="Montserrat"/>
              </a:rPr>
              <a:t>1.  Run the campaign-hygiene-audit pass on the 12 new campaigns — a single convention would restore clean reporting across all 12 rather than 1.</a:t>
            </a:r>
          </a:p>
          <a:p>
            <a:pPr>
              <a:spcAft>
                <a:spcPts val="700"/>
              </a:spcAft>
            </a:pPr>
            <a:r>
              <a:rPr sz="1050" b="0" i="0">
                <a:solidFill>
                  <a:srgbClr val="EDF2F7"/>
                </a:solidFill>
                <a:latin typeface="Montserrat"/>
              </a:rPr>
              <a:t>2.  Fix the [Event Name] template substitution at source: it is currently blocking 1 unassigned email ticket and appears in live sub-task names — one template fix clears the whole event family.</a:t>
            </a:r>
          </a:p>
          <a:p>
            <a:pPr>
              <a:spcAft>
                <a:spcPts val="700"/>
              </a:spcAft>
            </a:pPr>
            <a:r>
              <a:rPr sz="1050" b="0" i="0">
                <a:solidFill>
                  <a:srgbClr val="EDF2F7"/>
                </a:solidFill>
                <a:latin typeface="Montserrat"/>
              </a:rPr>
              <a:t>3.  Assign the 8 unassigned upcoming tasks (incl. Zapier–LinkedIn) before the Thursday call, so nothing due Aug 20–30 sits ownerless.</a:t>
            </a:r>
          </a:p>
          <a:p>
            <a:pPr>
              <a:spcAft>
                <a:spcPts val="700"/>
              </a:spcAft>
            </a:pPr>
            <a:r>
              <a:rPr sz="1050" b="0" i="0">
                <a:solidFill>
                  <a:srgbClr val="EDF2F7"/>
                </a:solidFill>
                <a:latin typeface="Montserrat"/>
              </a:rPr>
              <a:t>4.  Verify the Boston campaign's -$1,227 opportunity rollup with RevOps — a negative pipeline figure will distort the Q3 email-influence number.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9FB3C8"/>
                </a:solidFill>
                <a:latin typeface="Montserrat"/>
              </a:rPr>
              <a:t>Source: Salesforce Campaign SOQL + Asana open tickets, 2026-08-20. Convention: campaign-naming skill.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80" y="914400"/>
            <a:ext cx="1554480" cy="15544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4023360"/>
            <a:ext cx="1188720" cy="11887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0" y="5394960"/>
            <a:ext cx="822960" cy="82296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8686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EDF2F7"/>
                </a:solidFill>
                <a:latin typeface="Montserrat"/>
              </a:rPr>
              <a:t>Questions &amp; Discussion</a:t>
            </a:r>
          </a:p>
          <a:p>
            <a:pPr>
              <a:spcBef>
                <a:spcPts val="1400"/>
              </a:spcBef>
            </a:pPr>
            <a:r>
              <a:rPr sz="1600" b="0" i="0">
                <a:solidFill>
                  <a:srgbClr val="14B8A6"/>
                </a:solidFill>
                <a:latin typeface="Montserrat"/>
              </a:rPr>
              <a:t>Thank you — MOPS Team</a:t>
            </a:r>
          </a:p>
          <a:p>
            <a:pPr>
              <a:spcBef>
                <a:spcPts val="2000"/>
              </a:spcBef>
            </a:pPr>
            <a:r>
              <a:rPr sz="1300" b="0" i="0">
                <a:solidFill>
                  <a:srgbClr val="9FB3C8"/>
                </a:solidFill>
                <a:latin typeface="Montserrat"/>
              </a:rPr>
              <a:t>Next Review: August 27, 2026  |  Lead: Aayushi Sharma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82296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9FB3C8"/>
                </a:solidFill>
                <a:latin typeface="Montserrat"/>
              </a:rPr>
              <a:t>APPENDIX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03504"/>
            <a:ext cx="502920" cy="38100"/>
          </a:xfrm>
          <a:prstGeom prst="rect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EDF2F7"/>
                </a:solidFill>
                <a:latin typeface="Montserrat"/>
              </a:rPr>
              <a:t>Data &amp; Image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 i="0">
                <a:solidFill>
                  <a:srgbClr val="14B8A6"/>
                </a:solidFill>
                <a:latin typeface="Montserrat"/>
              </a:rPr>
              <a:t>Connectors queried (2026-08-20)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EDF2F7"/>
                </a:solidFill>
                <a:latin typeface="Montserrat"/>
              </a:rPr>
              <a:t>•  Asana — [MOps] Intake project (gid 1205660951274722): 37 completions Aug 13–19; 38 open tasks due Aug 20–30; 53 open top-level tickets; Email milestone sub-tasks both completion states.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EDF2F7"/>
                </a:solidFill>
                <a:latin typeface="Montserrat"/>
              </a:rPr>
              <a:t>•  Salesforce (CRM) — Campaign SOQL, CreatedDate/StartDate = LAST_N_DAYS:7. 12 campaigns returned. Members/responses/opps/AmountAllOpportunities read directly.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EDF2F7"/>
                </a:solidFill>
                <a:latin typeface="Montserrat"/>
              </a:rPr>
              <a:t>•  Atlassian Jira — project MOPS, updated &gt;= 2026-08-13: 3 issues touched (MOPS-659156 click-ID attribution Need-Info/Blocked; MOPS-659158 MQL currency High; MOPS-659157 Tier-2 misroute Low). None campaign-blocking.</a:t>
            </a:r>
          </a:p>
          <a:p>
            <a:pPr>
              <a:spcBef>
                <a:spcPts val="900"/>
              </a:spcBef>
            </a:pPr>
            <a:r>
              <a:rPr sz="1300" b="1" i="0">
                <a:solidFill>
                  <a:srgbClr val="14B8A6"/>
                </a:solidFill>
                <a:latin typeface="Montserrat"/>
              </a:rPr>
              <a:t>Data gaps &amp; caveats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EDF2F7"/>
                </a:solidFill>
                <a:latin typeface="Montserrat"/>
              </a:rPr>
              <a:t>•  Asana has no day-based SLA field → true "% within SLA" not computable; cycle time shown instead (intake→completion, business days).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EDF2F7"/>
                </a:solidFill>
                <a:latin typeface="Montserrat"/>
              </a:rPr>
              <a:t>•  Region/Audience null on Email milestones → inferred from send name for slides 5 &amp; 12.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EDF2F7"/>
                </a:solidFill>
                <a:latin typeface="Montserrat"/>
              </a:rPr>
              <a:t>•  Boston DAM campaign AmountAllOpportunities = -$1,227 (anomaly, flagged, not corrected).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EDF2F7"/>
                </a:solidFill>
                <a:latin typeface="Montserrat"/>
              </a:rPr>
              <a:t>•  Drive folder ID in skill (0ACqafLRVUxJzUk9PVA) did not resolve on 2026-08-13; real target corroborated as 1V3yfifgATNpZ0CJn5G5ONzJzgpgT6oj5. Google Slides upload gap persists — see notes.</a:t>
            </a:r>
          </a:p>
          <a:p>
            <a:pPr>
              <a:spcAft>
                <a:spcPts val="300"/>
              </a:spcAft>
            </a:pPr>
            <a:r>
              <a:rPr sz="1100" b="0" i="0">
                <a:solidFill>
                  <a:srgbClr val="EDF2F7"/>
                </a:solidFill>
                <a:latin typeface="Montserrat"/>
              </a:rPr>
              <a:t>•  No external images used — all charts/shapes are native PowerPoint vector objects. Acquia brand palette.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