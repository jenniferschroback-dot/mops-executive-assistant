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1F5F9"/>
                </a:solidFill>
                <a:latin typeface="Montserrat ExtraBold"/>
              </a:rPr>
              <a:t>MOps Weekly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4B8A6"/>
                </a:solidFill>
                <a:latin typeface="Montserrat"/>
              </a:rPr>
              <a:t>Team Performance, Campaign Results &amp; Strategic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4A3B8"/>
                </a:solidFill>
                <a:latin typeface="Montserrat"/>
              </a:rPr>
              <a:t>October 15, 2026 | Project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 ExtraBold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9067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1F5F9"/>
                </a:solidFill>
                <a:latin typeface="Montserrat ExtraBold"/>
              </a:rPr>
              <a:t>Reviewing Last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94A3B8"/>
                </a:solidFill>
                <a:latin typeface="Montserrat"/>
              </a:rPr>
              <a:t>October 8 – 14,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 ExtraBold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1F5F9"/>
                </a:solidFill>
                <a:latin typeface="Montserrat ExtraBold"/>
              </a:rPr>
              <a:t>24 tasks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B8A6"/>
                </a:solidFill>
                <a:latin typeface="Montserra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1F5F9"/>
                </a:solidFill>
                <a:latin typeface="Montserrat"/>
              </a:rPr>
              <a:t>6 top-level requests + 18 sub-tasks shipped across the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15768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B8A6"/>
                </a:solidFill>
                <a:latin typeface="Montserra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15768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1F5F9"/>
                </a:solidFill>
                <a:latin typeface="Montserrat"/>
              </a:rPr>
              <a:t>25 SFDC campaigns created/launched → 2,100 contacts + 48 leads reached, 1 opportunity so far ($0 pipeline — attribution lags the send)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82696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B8A6"/>
                </a:solidFill>
                <a:latin typeface="Montserrat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8269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1F5F9"/>
                </a:solidFill>
                <a:latin typeface="Montserrat"/>
              </a:rPr>
              <a:t>Only 1 of 5 scored completions landed inside its SLA target (20%) — a sharp miss vs. last week's 100%; avg cycle time 5.0 business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10789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4A3B8"/>
                </a:solidFill>
                <a:latin typeface="Montserrat"/>
              </a:rPr>
              <a:t>A quieter week on new-campaign volume (25 vs. 11 last week were created/launched, but most are brand-new events/ads with no members yet — normal this early). The real story is SLA: four of this week's five scored completions were SFDC Campaign-creation requests that each took 4–7 business days against a 1-day target. That's consistent with the ~47% on-time rate the team has been tracking against all year — last week's 100% reading was a small-sample (4 tickets) outlier, not a trend reversal. Also surfaced today: an Urgent, SLA-flagged integration ticket sitting unescalated 27 days past due (see Blocked/At Risk).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Source: Asana [MOPs] Intake, live query 2026-10-15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 ExtraBold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Completed Tasks by Team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9202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Aayushi Sharma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018995"/>
            <a:ext cx="8046720" cy="442569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1760" y="2018995"/>
            <a:ext cx="8046720" cy="44256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71632" y="173736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19202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Harish Pandey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024835"/>
            <a:ext cx="8046720" cy="442569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51760" y="3024835"/>
            <a:ext cx="6437376" cy="44256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274320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40"/>
            <a:ext cx="19202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Felipe Tencio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030675"/>
            <a:ext cx="8046720" cy="442569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51760" y="4030675"/>
            <a:ext cx="4828032" cy="44256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374904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4A3B8"/>
                </a:solidFill>
                <a:latin typeface="Montserrat"/>
              </a:rPr>
              <a:t>Includes sub-tasks (18) alongside the 6 top-level requests closed this week.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Source: Asana [MOPs] Intake — completed_at 2026-10-08 to 2026-10-14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 ExtraBold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Emails Sent Last Week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54480"/>
          <a:ext cx="110642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7941"/>
                <a:gridCol w="1746985"/>
                <a:gridCol w="2329313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SEND / CAMPAIGN NAME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SEND DATE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OWNER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DrupalCamp Italy Wrap Around Event Email 2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Oct 8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Harish Pandey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Atlanta Marketing Leadership Dinner Email Promo 1 Send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Oct 9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[SHARP Webinar] Registration Email 1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Oct 12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[SHARP Webinar] Registration Email Build 2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Oct 12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Acquia Festive Party (The Cube, London) – Confirmation Email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Oct 12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Harish Pandey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Acquia Festive Party (The Cube, London) Email 1 Send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Oct 14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Harish Pandey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[DAM New Features Partner Webinar] Registration Email Send 3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Oct 14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Source: Asana email-milestone sub-tasks, Project Type = Email, due 2026-10-08–14,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 ExtraBold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Campaign Performance (Salesforce)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17320"/>
          <a:ext cx="110642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5975"/>
                <a:gridCol w="1526102"/>
                <a:gridCol w="1526102"/>
                <a:gridCol w="1335339"/>
                <a:gridCol w="1430720"/>
              </a:tblGrid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CAMPAIGN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MEMBERS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RESPONSES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RESP. RATE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LEADS / OPPS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em_promo_q4_sharp_26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1,275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1,275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0 / 1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em_acquia festive party london_emea_dc_2026-Q4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766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766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em_promo_q4_Atlanta_Marketing_Leadership_Dinner_26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88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88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EMEA_Event_DC_Acquia Festive Party London_2026-Q4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12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12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EMEA_Event_DC_Acquia Festive Party Paris_2026-Q4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All_DemandGen_CC_Meta Ads for DAM_2026-Q4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1F5F9"/>
                </a:solidFill>
                <a:latin typeface="Montserrat"/>
              </a:rPr>
              <a:t>Period roll-up: 25 campaigns created/launched • 2,100 contacts + 48 leads (2,148 members) • 2,148 responses • 1 opportunity • $0 pipeline logged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4A3B8"/>
                </a:solidFill>
                <a:latin typeface="Montserrat"/>
              </a:rPr>
              <a:t>19 of the 25 campaigns created/launched this period show 0 members so far — expected for brand-new event/ad campaigns in their first days. Pipeline is $0 because none of this week's campaigns have aged into the opportunity-attribution window yet (pipeline lags the send — see pipeline-influenced-email caveats).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Source: Salesforce SOQL, Campaign WHERE CreatedDate = LAST_N_DAYS:7 OR StartDate = LAST_N_DAYS:7, queried 2026-10-15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 ExtraBold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SLA &amp; Cycle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EF4444"/>
                </a:solidFill>
                <a:latin typeface="Montserrat ExtraBold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Montserrat"/>
              </a:rPr>
              <a:t>within SLA this week (1 of 5 scored)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3716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1F5F9"/>
                </a:solidFill>
                <a:latin typeface="Montserrat ExtraBold"/>
              </a:rPr>
              <a:t>5.0 bd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1488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Montserrat"/>
              </a:rPr>
              <a:t>average cycle time, scored completions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2788920"/>
          <a:ext cx="1106423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6376"/>
                <a:gridCol w="2688506"/>
                <a:gridCol w="1137445"/>
                <a:gridCol w="1447657"/>
                <a:gridCol w="1344253"/>
              </a:tblGrid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TICKET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TYPE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ACTUAL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SLA TARGET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RESULT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Wingify Events SF campaigns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IT/Integration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4 bd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7–15 days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On track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campaign code for Intentsify/OpenAI – Q4 Digital ads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SFDC Campaigns (multiple, ≤5)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4 bd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 day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Breached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SFDC Creation – Andicom Lunch Julius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SFDC Campaign (single)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5 bd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 day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Breached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SFDC Campaign Creation – Dinner Vass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SFDC Campaign (single)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5 bd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 day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Breached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Reachdesk – Partner – SFDC Campaign Request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SFDC Campaign (single)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7 bd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1 day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Breached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4A3B8"/>
                </a:solidFill>
                <a:latin typeface="Montserrat"/>
              </a:rPr>
              <a:t>Not scored: "Source Subscription Notification – All Active customers" (Project Type = Other, no SLA table entry) took 50 business days — flagged as an outlier regardless of scoring. All 4 SFDC-campaign-type breaches this week ran 4–7 business days against the SOP's aggressive 1-day target — the pattern, not a one-off.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SLA table: .claude/skills/sla-watchdog/SKILL.md — anchored on Asana created_at → completed_at, business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 ExtraBold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Lead Weekly Wins — Aayushi Sharma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300" b="1">
                <a:solidFill>
                  <a:srgbClr val="3B82F6"/>
                </a:solidFill>
                <a:latin typeface="Montserrat ExtraBold"/>
              </a:rPr>
              <a:t>Webinar &amp; Dinner Sends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SHARP Webinar registration emails 1 &amp; 2 built and sent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DAM New Features Partner Webinar registration email send 3 completed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10 completions this week — team 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5448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300" b="1">
                <a:solidFill>
                  <a:srgbClr val="3B82F6"/>
                </a:solidFill>
                <a:latin typeface="Montserrat ExtraBold"/>
              </a:rPr>
              <a:t>Gartner IT Symposium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Parent + Booth Scans + Popcorn Scans SFDC campaigns stood up ahead of the live event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55448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300" b="1">
                <a:solidFill>
                  <a:srgbClr val="3B82F6"/>
                </a:solidFill>
                <a:latin typeface="Montserrat ExtraBold"/>
              </a:rPr>
              <a:t>Jira Clean-up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MOPS-659158 (Recent MQL triggered) and MOPS-659160 (DAM Workshop registrations/reporting, Urgent) both moved to Done this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Source: Asana completions + Jira MOPS updated 2026-10-13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 ExtraBold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Team Performance Highlights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300" b="1">
                <a:solidFill>
                  <a:srgbClr val="3B82F6"/>
                </a:solidFill>
                <a:latin typeface="Montserrat ExtraBold"/>
              </a:rPr>
              <a:t>Harish Pandey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8 completions — Wingify Events SF campaigns, 2 SFDC campaign creations (Andicom, Vass), Intentsify/OpenAI ad campaign codes, 4 email sends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5448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300" b="1">
                <a:solidFill>
                  <a:srgbClr val="3B82F6"/>
                </a:solidFill>
                <a:latin typeface="Montserrat ExtraBold"/>
              </a:rPr>
              <a:t>Felipe Tencio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6 completions — Reachdesk partner SFDC request, 2 festive-party email/audience builds, Dries campaign audience + SFDC request, a 2.5-month-old subscription-notification ticket finally cleared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55448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300" b="1">
                <a:solidFill>
                  <a:srgbClr val="3B82F6"/>
                </a:solidFill>
                <a:latin typeface="Montserrat ExtraBold"/>
              </a:rPr>
              <a:t>Jennifer Schroback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No completions this week — carrying 2 open items: the Urgent Meta Lead Forms integration (27 days overdue, see Blocked/At Risk) and one copy of the Zapier–LinkedIn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Source: Asana [MOPs] Intake, completed_at 2026-10-08 to 2026-10-14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Montserrat ExtraBold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9067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1F5F9"/>
                </a:solidFill>
                <a:latin typeface="Montserrat ExtraBold"/>
              </a:rPr>
              <a:t>Planning Next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94A3B8"/>
                </a:solidFill>
                <a:latin typeface="Montserrat"/>
              </a:rPr>
              <a:t>October 15 – 25,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Montserrat ExtraBold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Upcoming Tasks by Team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Harish Pandey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916582"/>
            <a:ext cx="8046720" cy="281635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1760" y="1916582"/>
            <a:ext cx="8046720" cy="281635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71632" y="1737360"/>
            <a:ext cx="822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774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Aayushi Sharma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556662"/>
            <a:ext cx="8046720" cy="281635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51760" y="2556662"/>
            <a:ext cx="8046720" cy="281635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71632" y="2377440"/>
            <a:ext cx="822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1752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Felipe Tencio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3196742"/>
            <a:ext cx="8046720" cy="281635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51760" y="3196742"/>
            <a:ext cx="5632704" cy="281635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3017520"/>
            <a:ext cx="822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5760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Unassigned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3836822"/>
            <a:ext cx="8046720" cy="281635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51760" y="3836822"/>
            <a:ext cx="3218688" cy="281635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3657600"/>
            <a:ext cx="822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Shannon Bystock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4476902"/>
            <a:ext cx="8046720" cy="281635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51760" y="4476902"/>
            <a:ext cx="804672" cy="281635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9584" y="4297680"/>
            <a:ext cx="822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1F5F9"/>
                </a:solidFill>
                <a:latin typeface="Montserrat"/>
              </a:rPr>
              <a:t>Total Capacity Required: 32 Tasks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Source: Asana [MOPs] Intake, open tasks due 2026-10-15 to 2026-10-25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Montserrat ExtraBold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Upcoming Email Sends Next Week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71600"/>
          <a:ext cx="1124711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3793"/>
                <a:gridCol w="1094852"/>
                <a:gridCol w="1990640"/>
                <a:gridCol w="2587832"/>
              </a:tblGrid>
              <a:tr h="3169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SEND / CAMPAIGN NAME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DATE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OWNER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FLAG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Beyond Portals Email 2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15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Harish Pandey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DrupalCamp Italy Wrap Around Event Email 3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15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Harish Pandey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⚠ 2 sends land Oct 15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[SHARP Webinar] Registration Email 2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15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⚠ 2 sends land Oct 15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Carahsoft Summit on FedRAMP Post Event Marketing Emails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15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Partner Event Nashville Sounds AAA Game Post Event Marketing Emails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17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Acquia TV Axelerant IRONMAN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20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DrupalCamp Italy Wrap Around – Reminder to Registrant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20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Harish Pandey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[SHARP Webinar] Registration Email 3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19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[NAME] Registration Email 4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21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Atlanta Marketing Leadership Dinner Email Promo 2 Send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22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⚠ 4 on Harish same day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October 2026 Partner Newsletter + Send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22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Harish Pandey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⚠ 4 on Harish same day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[DrupalCamp Italy] MOPs HTML Email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22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Harish Pandey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⚠ 4 on Harish same day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Acquia Festive Party, Paris Email Invite 1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22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Harish Pandey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⚠ 4 on Harish same day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[NAME] Post-Webinar No Show / Attendee Emails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Oct 23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Source: Asana email-milestone sub-tasks, incomplete, due 2026-10-15–25. Capacity clash: Harish owns 4 of 5 sends due Oct 22 (vs. 1 for Aayushi)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Montserrat ExtraBold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Priority Pipeline — Open Board (Stakeholder Call 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Assigned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786737"/>
            <a:ext cx="4114800" cy="221284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1760" y="1786737"/>
            <a:ext cx="4114800" cy="221284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64592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4884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In Progress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289657"/>
            <a:ext cx="4114800" cy="221284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51760" y="2289657"/>
            <a:ext cx="987552" cy="221284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4" y="214884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5176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Deprioritized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2792577"/>
            <a:ext cx="4114800" cy="221284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51760" y="2792577"/>
            <a:ext cx="658368" cy="221284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65176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15468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Waiting for Feedback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3295497"/>
            <a:ext cx="4114800" cy="221284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51760" y="3295497"/>
            <a:ext cx="329184" cy="221284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315468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5760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Require Info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3798417"/>
            <a:ext cx="4114800" cy="221284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51760" y="3798417"/>
            <a:ext cx="329184" cy="221284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54096" y="365760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6052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Blocked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1760" y="4301337"/>
            <a:ext cx="4114800" cy="221284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651760" y="4301337"/>
            <a:ext cx="329184" cy="221284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416052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1F5F9"/>
                </a:solidFill>
                <a:latin typeface="Montserrat"/>
              </a:rP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1645920"/>
            <a:ext cx="3931920" cy="30175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300" b="1">
                <a:solidFill>
                  <a:srgbClr val="3B82F6"/>
                </a:solidFill>
                <a:latin typeface="Montserrat ExtraBold"/>
              </a:rPr>
              <a:t>Reading this chart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25 of 57 open top-level tickets (44%) are "Assigned" but not yet started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16 more carry no MOPS-Status at all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Priority field itself is null on 54/57 (95%) — this status funnel is the only real triage signal on the board today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Source: Asana [MOPs] Intake, MOPS-Status on open top-level tickets, this is a proxy for Aayushi's Thursday stakeholder-call walkthrough, not a Priority-field read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Montserrat ExtraBold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Upcoming Strategic Priorities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300" b="1">
                <a:solidFill>
                  <a:srgbClr val="3B82F6"/>
                </a:solidFill>
                <a:latin typeface="Montserrat ExtraBold"/>
              </a:rPr>
              <a:t>Harish Pandey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5 of next week's 5 Oct-22 email sends (Atlanta Promo 2, Partner Newsletter x2, DrupalCamp HTML, Paris Invite 1) — flagged capacity clash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10 total tasks due by Oct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5448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300" b="1">
                <a:solidFill>
                  <a:srgbClr val="3B82F6"/>
                </a:solidFill>
                <a:latin typeface="Montserrat ExtraBold"/>
              </a:rPr>
              <a:t>Felipe Tencio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7 tasks due by Oct 25 — Audiences backlog remains his primary queue (7 of the board's 7 open Audiences tickets)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55448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300" b="1">
                <a:solidFill>
                  <a:srgbClr val="3B82F6"/>
                </a:solidFill>
                <a:latin typeface="Montserrat ExtraBold"/>
              </a:rPr>
              <a:t>Jennifer Schroback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  <a:latin typeface="Montserrat"/>
              </a:rPr>
              <a:t>Resolve the Urgent Meta Lead Forms – Salesforce integration (27 days overdue) and decide the Zapier–LinkedIn duplicate/escalation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Source: Asana [MOPs] Intake, open tasks due 2026-10-15 to 2026-10-25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Montserrat ExtraBold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Active Sub-Projects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5943600"/>
                <a:gridCol w="164592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SUB-CATEGORY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CORE ACTIVITY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STATUS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Email(s) only | Nurture Sequences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16 open tickets — 7 sends due this look-ahead window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Audiences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7 open tickets, all owned by Felipe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Other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4 open tickets, incl. the Urgent Meta Lead Forms integration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IT/Integration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4 open tickets, incl. both Zapier–LinkedIn copies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Webinar Request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2 open tickets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SFDC Campaigns only (multiple)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2 open tickets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Form Request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2 open tickets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Reporting / List Upload / Issues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1 each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No Project Type set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17 open tickets — largest single bucket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1F5F9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Source: Asana [MOPs] Intake, Project Type on 57 open top-level tickets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Montserrat ExtraBold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Incomplete Tickets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325880"/>
          <a:ext cx="1142999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846"/>
                <a:gridCol w="1660769"/>
                <a:gridCol w="5568461"/>
                <a:gridCol w="976923"/>
              </a:tblGrid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TICKET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ASSIGNEE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MISSING INFO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PRIORITY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Meta Lead Forms to Salesforce integration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Jennifer Schroback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Urgent, Out-of-SLA=Yes, due Sep 18 — 27 days overdue, still just "Assigned" — never escalated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Urgent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Zapier integration – LinkedIn (copy 1)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No stated block reason — Blocked 276 days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Medium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Zapier integration – LinkedIn (copy 2, duplicate)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Jennifer Schroback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Duplicate of copy 1, In Progress, same integration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Medium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(blank — no name)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Name, notes, every custom field null — 21 days old, zero activity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EMEA – GLAM/BASE campaign – Behaviour score&lt;50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Felipe Tencio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Requestor (Priyanka Shiva) awaiting test-email/preview approval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[Event Name] Pre Event Marketing Emails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Promo copy never supplied — Aayushi's ask unanswered ~94 days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Optimize Starter upon ACP Renewal – Email Cadence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Karen Plant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Awaiting a 2026-priorities decision — open ~14 months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Create contact list (Drupal/Smarter Content ICP)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Requester never answered which data source/fields are needed — ~8.5 months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F1F5F9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Source: Asana get_task_stories (notes), MOPS-Status in (Blocked, Waiting for Feedback, Require Information/Description) + the one Urgent out-of-SLA 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Montserrat ExtraBold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Data Hygiene &amp; Recommendations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71600"/>
          <a:ext cx="630935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348"/>
                <a:gridCol w="2704011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ZERO-MEMBER CAMPAIGN (5+ BD OLD)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Montserrat ExtraBold"/>
                        </a:rPr>
                        <a:t>DETAIL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All_DemandGen_CC_LinkedIn Ads for DAM_2026-Q4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0 members, 7 business days old</a:t>
                      </a:r>
                    </a:p>
                  </a:txBody>
                  <a:tcPr marT="50800" marB="50800" marL="101600" anchor="ctr">
                    <a:solidFill>
                      <a:srgbClr val="1620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evt_acquia holiday party boston_na_dc_2026-q4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  <a:latin typeface="Montserrat"/>
                        </a:rPr>
                        <a:t>0 members — event ran Oct 14 with nothing logged</a:t>
                      </a:r>
                    </a:p>
                  </a:txBody>
                  <a:tcPr marT="50800" marB="50800" marL="101600" anchor="ctr"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49440" y="1371600"/>
            <a:ext cx="4663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4A3B8"/>
                </a:solidFill>
                <a:latin typeface="Montserrat"/>
              </a:rPr>
              <a:t>Naming convention: 6 of 25 new campaigns (24%) match Region_Channel_Product_Description_YYYY-Qn exactly. 7 more use a close variant (NA_Evt_..._26_Q4 — abbreviated channel, no hyphen before Q4). Advisory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Montserrat ExtraBold"/>
              </a:rPr>
              <a:t>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274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97316"/>
                </a:solidFill>
                <a:latin typeface="Montserra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1F5F9"/>
                </a:solidFill>
                <a:latin typeface="Montserrat"/>
              </a:rPr>
              <a:t>Escalate the Meta Lead Forms integration now — it's Urgent, flagged Out-of-SLA, 27 days overdue, and still sitting at "Assigned." Per the SOP this should already be with a VP/Director, not in queue.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274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97316"/>
                </a:solidFill>
                <a:latin typeface="Montserrat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1F5F9"/>
                </a:solidFill>
                <a:latin typeface="Montserrat"/>
              </a:rPr>
              <a:t>Revisit the 1-business-day SFDC-campaign-creation SLA: 4 of 4 single/multiple-campaign completions this week took 4–7 business days. Either the target needs resourcing to be realistic, or the intake-to-build handoff has a specific, fixable delay — worth a root-cause pass before next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66360"/>
            <a:ext cx="274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97316"/>
                </a:solidFill>
                <a:latin typeface="Montserrat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1F5F9"/>
                </a:solidFill>
                <a:latin typeface="Montserrat"/>
              </a:rPr>
              <a:t>Close the 2 zero-member campaigns (LinkedIn Ads for DAM, Acquia Holiday Party Boston) — fixing them unlocks response reporting for a live-this-week event and an active ad campaign.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Montserrat"/>
              </a:rPr>
              <a:t>Source: Salesforce Campaign SOQL + .claude/skills/campaign-naming/SKILL.md convention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1F5F9"/>
                </a:solidFill>
                <a:latin typeface="Montserrat ExtraBold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94A3B8"/>
                </a:solidFill>
                <a:latin typeface="Montserrat"/>
              </a:rPr>
              <a:t>Next Review: October 22, 2026  |  Lead: Aayushi Sharma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9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9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9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9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9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4A3B8"/>
                </a:solidFill>
                <a:latin typeface="Montserrat ExtraBold"/>
              </a:rPr>
              <a:t>APPENDIX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Montserrat ExtraBold"/>
              </a:rPr>
              <a:t>Data &amp; Image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Asana — [MOPs] Intake (project 1205660951274722): get_project, get_tasks (completed_since 2026-10-08, paginated, 167 records), get_task_stories (2 tickets) — queried 2026-10-15. No gaps.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Salesforce — soqlQuery against Campaign (CreatedDate/StartDate LAST_N_DAYS:7, 25 records) — queried 2026-10-15. No gaps; CampaignMember status breakdown not pulled this run (not needed — no status-scaffolding question raised).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Jira (Atlassian MCP) — searchJiraIssuesUsingJql, project = MOPS AND updated &gt;= -7d (4 records) — queried 2026-10-15. No gaps.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690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Google Drive upload — NOT attempted. Deck is 68,275 bytes (91,036 base64 chars → ~350K output tokens at the measured ~3.85 tokens/base64-char rate) — the same hard output-token ceiling confirmed every week since 2026-07-23 (12th consecutive week). Deck built locally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3776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377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Known board gaps (not fabricated around): Priority is null on 54 of 57 open top-level tickets (95%); no Region/Requesting-Team field is populated anywhere on the board; pipeline/won-opportunity fields lag new campaigns by design.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Montserrat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064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F5F9"/>
                </a:solidFill>
                <a:latin typeface="Montserrat"/>
              </a:rPr>
              <a:t>No external images used — all visuals are native PowerPoint shapes (bars, cards, tables) per the brand style guide.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Montserrat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