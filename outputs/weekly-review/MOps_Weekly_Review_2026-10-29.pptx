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7"/>
                </a:solidFill>
                <a:latin typeface="Arial"/>
              </a:rPr>
              <a:t>MOps Weekly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4B8A6"/>
                </a:solidFill>
                <a:latin typeface="Arial"/>
              </a:rPr>
              <a:t>Team Performance, Campaign Results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7B8"/>
                </a:solidFill>
                <a:latin typeface="Arial"/>
              </a:rPr>
              <a:t>October 29, 2026  | 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1635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4F7"/>
                </a:solidFill>
                <a:latin typeface="Arial"/>
              </a:rPr>
              <a:t>Reviewing Last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AA7B8"/>
                </a:solidFill>
                <a:latin typeface="Arial"/>
              </a:rPr>
              <a:t>October 22 – 28,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14B8A6"/>
                </a:solidFill>
                <a:latin typeface="Arial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7B8"/>
                </a:solidFill>
                <a:latin typeface="Arial"/>
              </a:rPr>
              <a:t>tasks completed (8 top-level requests + 53 sub-tasks)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80160"/>
            <a:ext cx="5852160" cy="150876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46304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Result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87452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61 tasks shipped — 8 top-level requests + 53 sub-tasks, the largest completion count logged this quarter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880360"/>
            <a:ext cx="5852160" cy="150876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30632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Result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7472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25 Salesforce campaigns created/launched in-window, reaching 7,657 contacts+leads and logging $69.4K pipeline across 13 opportunities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480560"/>
            <a:ext cx="5852160" cy="150876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0" y="466344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61772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Result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Two of the board's oldest open tickets — the "[Event Name]" placeholder Pre/Post-Event Marketing Email requests, open since July 1 — finally closed this week after ~85 business days 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2F4F7"/>
                </a:solidFill>
                <a:latin typeface="Arial"/>
              </a:rPr>
              <a:t>A strong completion week driven largely by clearing backlog: the team closed both long-stalled "[Event Name]" placeholder tickets and two SFDC campaigns tied to months-old initiatives (DigiCol26, Drupal 12 Holiday Party). Offsetting that, the Meta Lead Forms integration remains 41 days past due with no escalation — see slide 16.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[MOps] Intake (project 1205660951274722), get_tasks completed_since=2026-10-22, 3 pages; Salesforce Campaign SOQL — queried 2026-10-29.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Completed Tasks by Team 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Aayushi Sharma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78106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678106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1463040"/>
            <a:ext cx="7315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31136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Harish Pandey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446202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446202"/>
            <a:ext cx="7795260" cy="33796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2231136"/>
            <a:ext cx="7315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Felipe Tencio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214298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77440" y="3214298"/>
            <a:ext cx="4606290" cy="33796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2999232"/>
            <a:ext cx="7315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Jennifer 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982394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77440" y="3982394"/>
            <a:ext cx="354330" cy="33796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3767328"/>
            <a:ext cx="7315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35424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Unassigned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750490"/>
            <a:ext cx="8503920" cy="337962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7440" y="4750490"/>
            <a:ext cx="354330" cy="337962"/>
          </a:xfrm>
          <a:prstGeom prst="roundRect">
            <a:avLst>
              <a:gd name="adj" fmla="val 50000"/>
            </a:avLst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4535424"/>
            <a:ext cx="7315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[MOps] Intake, completed_at 2026-10-22–10-28 (61 tasks: 8 top-level + 53 sub-tasks). Queried 2026-10-29.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Emails Sent Last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24"/>
                <a:gridCol w="5532120"/>
                <a:gridCol w="2212848"/>
                <a:gridCol w="2212848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Arial"/>
                        </a:rPr>
                        <a:t>Send Date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Arial"/>
                        </a:rPr>
                        <a:t>Send / Campaign Name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Arial"/>
                        </a:rPr>
                        <a:t>Region/Audience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Acquia Festive Party, Paris — Email Invite 1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Dries Prospects + Customer Campaign — Prospect Email Copy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Felipe Tencio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Atlanta Marketing Leadership Dinner — Email Promo 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23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Email to all partners about PHP security issues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23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DAM New Features Partner Webinar — Post-Webinar No-Show 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23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DAM New Features Partner Webinar — Post-Webinar Attendee 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23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DAM Workshop DC — Email Invite 02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October 2026 Partner Newsletter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27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[OnDAM Paris] Pre-Event 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27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DAM Workshop San Francisco 2026 — Email Promo 01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27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DAM Workshop DC — Email Invite 03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28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Acquia Festive Party (The Cube, London) — Email 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28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LinkedIn Live Series with Capgemini — Promo Send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28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Dries Prospects + Customer Campaign — Customer Email Copy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Felipe Tencio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Oct 28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The Gathering, Banff — Post-Event 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2F4F7"/>
                          </a:solidFill>
                        </a:rPr>
                        <a:t>Not populated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15 email-milestone sub-tasks completed, due 2026-10-22–10-28. Gap: Region/Audience custom field is unpopulated on every email milestone — a known gap carried from prior weeks, not inferred. Source: Asana search_tasks, resource_subtype=milestone.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2F4F7"/>
                </a:solidFill>
                <a:latin typeface="Arial"/>
              </a:rPr>
              <a:t>Campaign Performance (Salesforce)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1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6270"/>
                <a:gridCol w="1317230"/>
                <a:gridCol w="1114579"/>
                <a:gridCol w="1114579"/>
                <a:gridCol w="1114579"/>
                <a:gridCol w="1519881"/>
              </a:tblGrid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Members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Responses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Resp. Rate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B8A6"/>
                          </a:solidFill>
                          <a:latin typeface="Arial"/>
                        </a:rPr>
                        <a:t>Opps/Pipeline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em_promo_connect_2026_Q4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em_promo_MAICON_2026_Q4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em_promo_Gartner_IT_Symposium_2026_Q4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em_promo_dc_q4_26_customers_driesemailpromo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em_promo_the_gathering_banff_2026_q4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70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70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evt_ts_giw_federal_apj_dc_2026-q4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36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36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em_Nurture_BPFD-MultiSite_Consolidation_2026_Q4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NA_EVT_...Banff_Acquia_Session_Scans_2026_Q4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NA_EVT_...Banff_Aura_Booth_Scans_2026_Q4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484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482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99.6%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NA_EVT_...Banff_2026_Q4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em_promo_DAM Workshop San Francisco_2026_q4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146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146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1/$17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em_promo_dxp_DigiCol26_post_event_2026_Q4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NA_td_dxp_DigiCol26_Registered_2026_Q4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236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236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1/$3,941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em_promo_linkedin-agentic-era-capgemini_cc_2026_q4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4,350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4350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2/$57,186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evt_td_dc_partner_connect_q4_2026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56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56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evt_webinar_linkedin-atomic-marketing-org-q4_2026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evt_webinar_linkedin-shortlisted-machine-q4_2026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evt_webinar_linkedin-ai-hype-ai-proof-q4_2026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evt_webinar_linkedin-agentic-era-capgemini-q4_2026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em_promo_partners_php_security_issues_dc_2026_q4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1,119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1119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3/$1,624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evt_webinar_drupalcloud_26_q4...webinar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Zoom Webinar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em_nl_october_partner_newsletter_ac_2026_q4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937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937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3/$6,667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em_promo_ondam_paris_emea_cc_2026_q4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87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87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179363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evt_webinar_Q4_SHARPE_26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Zoom Webinar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89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84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94.4%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1/0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179365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evt_conference_dc_DrupalCamp Italy_2026_q4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Event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F2F4F7"/>
                          </a:solidFill>
                        </a:rPr>
                        <a:t>0/0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Roll-up: 25 campaigns · 7,657 members (1,156 leads + 6,501 contacts) · 7,650 responses · 2 converted leads · 13 opportunities · $69,434 pipeline. Source: SOQL on Campaign WHERE CreatedDate=LAST_N_DAYS:7 OR StartDate=LAST_N_DAYS:7, queried 2026-10-29.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SLA &amp; Cycle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59E0B"/>
                </a:solidFill>
                <a:latin typeface="Arial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7B8"/>
                </a:solidFill>
                <a:latin typeface="Arial"/>
              </a:rPr>
              <a:t>within SLA (2 of 4 scored)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B82F6"/>
                </a:solidFill>
                <a:latin typeface="Arial"/>
              </a:rPr>
              <a:t>40.5 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7B8"/>
                </a:solidFill>
                <a:latin typeface="Arial"/>
              </a:rPr>
              <a:t>avg cycle time among scored (n=4)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37160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B8A6"/>
                </a:solidFill>
                <a:latin typeface="Arial"/>
              </a:rPr>
              <a:t>4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1488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7B8"/>
                </a:solidFill>
                <a:latin typeface="Arial"/>
              </a:rPr>
              <a:t>top-level completions with a clean SLA-table match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1106423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099"/>
                <a:gridCol w="3457574"/>
                <a:gridCol w="1498282"/>
                <a:gridCol w="149828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Arial"/>
                        </a:rPr>
                        <a:t>Ticket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Arial"/>
                        </a:rPr>
                        <a:t>SLA Type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Arial"/>
                        </a:rPr>
                        <a:t>Cycle Time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B8A6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SFDC List Upload — BBDD BR 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List Upload (3–7 bd)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3 bd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SFDC List Upload — BBDD SOLA 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List Upload (3–7 bd)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3 bd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DigiCol26 SFDC Campaign(s)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SFDC Campaign, single (1 bd)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93 bd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AT RISK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Drupal 12 Holiday Party SFDC Campaign(s)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SFDC Campaign, single (1 bd)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63 bd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2F4F7"/>
                          </a:solidFill>
                        </a:rPr>
                        <a:t>AT RISK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AA7B8"/>
                </a:solidFill>
                <a:latin typeface="Arial"/>
              </a:rPr>
              <a:t>Caveat: the two SFDC-campaign breaches are measured from sub-task creation to completion; both sub-tasks sat under months-old parent initiatives (created June/July), so the cycle time likely reflects the parent project's kickoff date rather than when the campaign-creation ask itself became actionable — flagged, not corrected for.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F4444"/>
                </a:solidFill>
                <a:latin typeface="Arial"/>
              </a:rPr>
              <a:t>Rush/Late: Meta Lead Forms to Salesforce integration (Jennifer Schroback) — Priority Urgent, due 2026-09-18, now 41 days overdue, MOPS-Status still "Assigned" — never routed through the Rush/Urgent → VP/Director escalation path per SOP.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6 of 10 top-level completions (Email/Nurture x2, null Project Type x3, Webinar Request x1) have no clean SLA-table match or need a different anchor (live-date) — excluded from scoring, not silently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Lead Weekly Wins — Aayushi Sharma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Win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Closed both long-stalled "[Event Name]" placeholder tickets (Pre- and Post-Event Marketing Emails), open since July 1 — clearing two of the board's oldest items after ~85 business days 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10896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Win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Landed 2 Salesforce campaigns tied to months-old initiatives: DigiCol26 (Digital Collegium) and Drupal 12 US Holiday Party.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66344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Win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Carried 24 of the team's 61 completions this week — the largest individual share — while also owning 30 of 56 look-ahead tasks for next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[MOps] Intake, assignee=Aayushi Sharma, completed_at 2026-10-22–10-28.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Arial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Team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Harish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22 completions this week.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Shipped October 2026 Partner Newsletter and closed DAM New Features Partner Webinar.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Cleared a stale duplicate ticket ("[Duplicate] Acquia Festive Party 2026 - Paris HTMLs").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64592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Felipe Tencio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13 completions this week.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Kept audience-report and prospect/customer email-copy work moving for the Dries and DigiCol26 post-event streams.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1645920"/>
            <a:ext cx="201168" cy="20116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Jennifer Schroback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1 completion (Content Marketing World List Upload).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Still owns the Meta Lead Forms integration — 41 days overdue, Rush/Urgent, unescalated.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Also owns "Add Source &amp; Medium to paid social leads" — 27 days overdue.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[MOps] Intake, assignee-filtered completions and open-ticket status as of 2026-10-29.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1635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4F7"/>
                </a:solidFill>
                <a:latin typeface="Arial"/>
              </a:rPr>
              <a:t>Planning 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AA7B8"/>
                </a:solidFill>
                <a:latin typeface="Arial"/>
              </a:rPr>
              <a:t>October 29 – November 8,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Upcoming Tasks by Team 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Aayushi Sharma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55508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55508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137160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692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Harish Pandey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21040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210409"/>
            <a:ext cx="3118104" cy="2883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202692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224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Unassigned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86572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77440" y="2865729"/>
            <a:ext cx="1984248" cy="288340"/>
          </a:xfrm>
          <a:prstGeom prst="roundRect">
            <a:avLst>
              <a:gd name="adj" fmla="val 50000"/>
            </a:avLst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268224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Felipe Tencio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52104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77440" y="3521049"/>
            <a:ext cx="1700784" cy="2883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333756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9288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Kathy Kelleher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17636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7440" y="4176369"/>
            <a:ext cx="283464" cy="28834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399288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48200"/>
            <a:ext cx="173736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F4F7"/>
                </a:solidFill>
                <a:latin typeface="Arial"/>
              </a:rPr>
              <a:t>Jennifer 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4831689"/>
            <a:ext cx="8503920" cy="288340"/>
          </a:xfrm>
          <a:prstGeom prst="roundRect">
            <a:avLst>
              <a:gd name="adj" fmla="val 50000"/>
            </a:avLst>
          </a:prstGeom>
          <a:solidFill>
            <a:srgbClr val="1B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4831689"/>
            <a:ext cx="283464" cy="28834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4648200"/>
            <a:ext cx="731520" cy="655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F4F7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4F7"/>
                </a:solidFill>
                <a:latin typeface="Arial"/>
              </a:rPr>
              <a:t>Total Capacity Required: 56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"Kathy Kelleher" is not on the canonical 5-person MOPS roster (context/team.md) — flagged, not corrected. Source: Asana search_tasks, due 2026-10-29–11-08, completed=false.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Upcoming Email Sends Next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5623560"/>
                <a:gridCol w="2249424"/>
                <a:gridCol w="2249424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Send Date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Send / Campaign Name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Clash Flag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Oct 29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[NAME] Post-Webinar Attendee 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CLASH — 3 sends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Oct 29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Connect 2026 — Post-Event Marketing 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CLASH — 3 sends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Oct 29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[NAME] Post-Webinar No-Show Email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CLASH — 3 sends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Oct 29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GAIN Interact Event 2026 — HTMLs Email 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Same-day, diff. owner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Oct 30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Email A1: Awareness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—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2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Atlanta Marketing Leadership Dinner — Email Promo 3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 as Pare &amp; Co.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Webinar with Pare &amp; Co. — Email 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 as Atlanta Dinner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3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Q4'26 Acquia x Drupal Association Webinar — Email 1 Promo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Same-day, diff. owner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3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[Barcelona CUG] Follow-up (plain text)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Same-day, diff. owner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5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[Engage 2027] Save the Date Email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Same-day, diff. subject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Nov 5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Acquia Festive Party, Paris — Email Invite 2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Same-day, diff. subject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11 upcoming email milestones due 2026-10-29–11-05. Flag: Oct 29 has 4 sends same day — 3 owned by Aayushi Sharma (capacity clash, audience not populated to confirm overlap). Region/Audience field remains unpopulated — same known gap as slide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Priority Pipeline — Aayushi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Arial"/>
              </a:rPr>
              <a:t>98% (55 of 56) of look-ahead tickets have no Priority value set — the field remains unusable as a prioritization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19456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By Project Type (look-ahead)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Email(s)/Nurture: 24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Null Project Type: 20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List Upload: 3 · Audiences: 3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SFDC Campaign (single): 2 · Form: 2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Webinar: 1 · Other: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5394960" cy="34747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219456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Known capacity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Aayushi owns 30 of 56 (54%) of next period's load.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4 email sends land on Oct 29 alone, 3 of them hers.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No Rush/Urgent tickets detected in this window.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search_tasks custom_fields.Priority, due 2026-10-29–11-08. Consistent with the ~95%+ null-Priority gap reported in prior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Upcoming Strategic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Harish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11 tasks due, mostly email-milestone sends (Pare &amp; Co., Barcelona CUG, Engage 2027, Acquia Festive Party Paris).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64592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Felipe Tencio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6 tasks due — continued audience/list-pull work across open Audiences tickets.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520440" cy="4389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1645920"/>
            <a:ext cx="201168" cy="20116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82F6"/>
                </a:solidFill>
                <a:latin typeface="Arial"/>
              </a:rPr>
              <a:t>Jennifer Schroback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57400"/>
            <a:ext cx="30632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1 task due next period, on top of 2 already-overdue top-level tickets carried from this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search_tasks, due 2026-10-29–11-08, by assignee.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7"/>
                </a:solidFill>
                <a:latin typeface="Arial"/>
              </a:rPr>
              <a:t>Active Sub-Projects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7040880"/>
                <a:gridCol w="1609344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  <a:latin typeface="Arial"/>
                        </a:rPr>
                        <a:t>Sub-Category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  <a:latin typeface="Arial"/>
                        </a:rPr>
                        <a:t>Core Activity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Email Requests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26 completed this week · 24 due next period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List Uploads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15 completed this week · 3 due next period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SFDC Campaigns (single)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6 completed this week · 2 due next period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Audiences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4 completed this week · 3 due next period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Webinar Requests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1 completed this week · 1 due next period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ON TRACK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IT/Integration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0 completed this week · 4 open (Meta Lead Forms overdue, Zapier-LinkedIn duplicated/blocked)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2F4F7"/>
                          </a:solidFill>
                        </a:rPr>
                        <a:t>AT RISK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Source: Asana [MOps] Intake, Project Type field, this week's completions + look-ahead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2F4F7"/>
                </a:solidFill>
                <a:latin typeface="Arial"/>
              </a:rPr>
              <a:t>Incomplete Tickets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1840437"/>
                <a:gridCol w="5316820"/>
                <a:gridCol w="1022465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Ticket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Assignee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Missing Info / Blocker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B8A6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50800" marR="50800" marT="25400" marB="25400" anchor="ctr">
                    <a:solidFill>
                      <a:srgbClr val="0D162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Meta Lead Forms to SF Integration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Jennifer Schroback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Overdue 41 days (due 9/18); no notes on blocker; never escalated per Rush/Urgent SOP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URGENT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Zapier integration - LinkedIn (dup. #1)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Status Blocked; no notes documenting what's missing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Zapier integration - LinkedIn (dup. #2)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Jennifer Schroback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Duplicate of #1, In Progress — same work tracked under 2 owners/statuses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EMEA - GLAM/BASE campaign, Behaviour score&lt;50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Felipe Tencio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Waiting for Feedback — test-email/preview approval, overdue since 10/21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Add Source &amp; Medium to paid social leads (SF)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Jennifer Schroback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Overdue 27 days (due 10/2); no notes on blocker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All_Email_All_AI Web Building Assistant Demo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Overdue 99 days (due 7/22); unassigned and stale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MEDIUM</a:t>
                      </a:r>
                    </a:p>
                  </a:txBody>
                  <a:tcPr marL="50800" marR="50800" marT="25400" marB="25400" anchor="ctr">
                    <a:solidFill>
                      <a:srgbClr val="111B2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Sharp Webinar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Shannon Bystock*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Overdue 7 days (due 10/22); no notes on blocker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2F4F7"/>
                          </a:solidFill>
                        </a:rPr>
                        <a:t>LOW</a:t>
                      </a:r>
                    </a:p>
                  </a:txBody>
                  <a:tcPr marL="50800" marR="50800" marT="25400" marB="25400" anchor="ctr">
                    <a:solidFill>
                      <a:srgbClr val="14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*Shannon Bystock is not on the canonical 5-person MOPS roster — flagged, not corrected. "Priority" column reflects this report's own urgency read (age × stated Rush/Urgent flag), not the mostly-null Asana Priority field. Missing-info text is taken from ticket Notes/MOPS-Status only — never invented.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Arial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2F4F7"/>
                </a:solidFill>
                <a:latin typeface="Arial"/>
              </a:rPr>
              <a:t>Data Hygiene &amp;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237744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Arial"/>
              </a:rPr>
              <a:t>Flagged this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Naming convention: 0 of 25 campaigns this window match Region_Channel_Product_Description_YYYY-Qn exactly; 3 use a close "NA_EVT_..." variant (Region+Channel present, no clear Product segment); the remaining 22 use a third, undocumented "em_/evt_..." lowercase-prefix scheme.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Zero-member campaigns: 9 of 25 show 0 members, but only 1 ("evt_conference_dc_DrupalCamp Italy_2026_q4", created 2026-08-24) is 5+ business days old — the rest were created in the last 1–7 days and are expected to still be at zero.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Type/Status/StartDate completeness: all 25 campaigns have Type, Status and StartDate populated — no blanks this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11480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C55E"/>
                </a:solidFill>
                <a:latin typeface="Arial"/>
              </a:rPr>
              <a:t>Recommendations for next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Escalate the Meta Lead Forms integration (41 days overdue, Priority Urgent, still unassigned-to-escalation) through the Rush/Urgent → VP/Director path — unblocks accurate paid-social-to-SF attribution.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Merge the 2 duplicate Zapier-LinkedIn integration tickets onto one owner/status — stops the same work being tracked (and reported) twice.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Align the 22 of 25 campaigns on the alternate "em_/evt_" naming scheme to the documented convention — fixes reporting/attribution consistency for this quarter's full 25-campaign cohort.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7B8"/>
                </a:solidFill>
                <a:latin typeface="Arial"/>
              </a:rPr>
              <a:t>Naming convention per .claude/skills/campaign-naming/SKILL.md (Region_Channel_Product_Description_YYYY-Qn). Flagged gently — naming guidance is advisory, not a hard fail.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7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B8A6"/>
                </a:solidFill>
                <a:latin typeface="Arial"/>
              </a:rPr>
              <a:t>Next Review: November 5,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A7B8"/>
                </a:solidFill>
                <a:latin typeface="Arial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822960" cy="38100"/>
          </a:xfrm>
          <a:prstGeom prst="rect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2F4F7"/>
                </a:solidFill>
                <a:latin typeface="Arial"/>
              </a:rPr>
              <a:t>Data &amp; 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65176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Arial"/>
              </a:rPr>
              <a:t>Connectors queried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10789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Asana — project [MOPs] Intake (gid 1205660951274722). get_project (counts); get_tasks completed_since=2026-10-22T00:00:00Z, 3 pages, 167 total records, 61 completed-in-window; search_tasks for open top-level (parent=null, completed=false, 57 records), look-ahead due 2026-10-29–11-08 (59 raw → 56 after date-cutoff filter), and resource_subtype=milestone for sent (15) and upcoming (11) email sends. Queried 2026-10-29 ~14:42–14:55 UTC.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Salesforce — Campaign SOQL: SELECT ... WHERE CreatedDate = LAST_N_DAYS:7 OR StartDate = LAST_N_DAYS:7 (25 records, all fields populated). Queried 2026-10-29.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Jira (Atlassian cloud "acquia") — JQL project = MOPS AND updated &gt;= -7d: 0 issues returned this window — no MOPS-linked Jira activity to report. Queried 2026-10-29.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Pardot — no MCP connector; not queried directly (Salesforce Campaign/CampaignMember rollups used as the sync target, per standing project convention).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2103120"/>
          </a:xfrm>
          <a:prstGeom prst="roundRect">
            <a:avLst>
              <a:gd name="adj" fmla="val 4000"/>
            </a:avLst>
          </a:prstGeom>
          <a:solidFill>
            <a:srgbClr val="142033"/>
          </a:solidFill>
          <a:ln w="9525">
            <a:solidFill>
              <a:srgbClr val="26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444"/>
                </a:solidFill>
                <a:latin typeface="Arial"/>
              </a:rPr>
              <a:t>Gaps &amp; caveats (stated, not guessed)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No Region/Audience data on any email milestone (slides 5, 12) — custom field unpopulated, same gap as every prior week.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95%+ of open/look-ahead tickets carry a null Priority value — field remains unusable as a prioritization signal (slide 13).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The blank-name "Blocked" ticket flagged in prior weeks (gid 1218827173882954) returned "no access" this run (likely deleted) — cannot confirm its resolution, not guessed.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"Kathy Kelleher" and "Shannon Bystock" appear as assignees but are not on the 5-person canonical MOPS roster in context/team.md — flagged, not corrected or omitted.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Google Slides upload not attempted this run — see delivery note (14th consecutive week the base64 payload exceeds the tool's single-call output budget).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2F4F7"/>
                </a:solidFill>
                <a:latin typeface="Arial"/>
              </a:rPr>
              <a:t>No images used in this deck — all visuals are native PowerPoint shapes built with python-pptx.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