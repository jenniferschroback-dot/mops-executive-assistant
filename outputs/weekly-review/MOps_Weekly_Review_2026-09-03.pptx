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1F5F9"/>
                </a:solidFill>
                <a:latin typeface="Calibri"/>
              </a:rPr>
              <a:t>MOps Weekly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4B8A6"/>
                </a:solidFill>
                <a:latin typeface="Calibri"/>
              </a:rPr>
              <a:t>Team Performance, Campaign Results &amp; Strategic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September 3, 2026  | 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Reviewing Last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Retro period: Aug 27 – Sep 2,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4B8A6"/>
                </a:solidFill>
                <a:latin typeface="Calibr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Tasks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173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75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Campaigns w/ live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4173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97316"/>
                </a:solidFill>
                <a:latin typeface="Calibri"/>
              </a:rPr>
              <a:t>260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75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Contacts/leads reached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173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2C55E"/>
                </a:solidFill>
                <a:latin typeface="Calibri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75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SFDC builds within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88920"/>
            <a:ext cx="11064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41 tasks completed in Asana [MOps] Intake this week — 30 from the core MOPS team (Aayushi 17, Harish 9, Felipe 4, Jennifer 0), plus 3 unassigned and 8 from cross-team assignees (Kim Bonilla, Nicole Ngoon) picking up auto-expanded webinar sub-tasks. Aayushi advanced 10 SFDC Campaign-only work items and closed 7 email-build/audience subtasks; Harish shipped 2 event SFDC campaigns (DrupalCamp Spain, DrupalCamp Italy) plus 2 list uploads; Felipe delivered 4 audience/reporting pulls — 2 of them against tickets still carrying the literal "[Event Name]" placeholder (see slide 17).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3 of the 65 Salesforce campaigns created or started this period show live member/response data, reaching 260 contacts+leads combined (256 responses). The other 62 show zero members — 43 of those are now 5–6 business days old, past the zero-after-5-days hygiene threshold (see slide 17). No opportunities or pipeline $ are attributed to this period's campaigns yet, which may reflect normal lag rather than a problem.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5 of 10 SFDC Campaign-only builds landed inside the 1–2 business day SLA target (50%), average cycle time 4.3 business days. No Rush/Urgent-flagged completions this week. 1 ticket remains BLOCKED (Zapier–LinkedIn integration, ~7.7 months, no stated reason) and 3 of Aayushi's look-ahead tickets are AT RISK — due this week with substantially blank intake forms (Connect 2026, DigiCol26, MAICON).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 (search_tasks, completed_on 2026-08-27 to 2026-09-02); Salesforce Campaign/CampaignMember SOQL. Queried 2026-09-03.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Completed Tasks by Team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57350"/>
            <a:ext cx="173736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Aayushi Sharma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53362"/>
            <a:ext cx="7772400" cy="288036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1753362"/>
            <a:ext cx="7772400" cy="28803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5872" y="1657350"/>
            <a:ext cx="50292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43150"/>
            <a:ext cx="173736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Harish Pandey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439162"/>
            <a:ext cx="7772400" cy="288036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0" y="2439162"/>
            <a:ext cx="4114800" cy="28803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05872" y="2343150"/>
            <a:ext cx="50292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28950"/>
            <a:ext cx="173736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Felipe Tencio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124962"/>
            <a:ext cx="7772400" cy="288036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124962"/>
            <a:ext cx="1828800" cy="28803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872" y="3028950"/>
            <a:ext cx="50292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14750"/>
            <a:ext cx="173736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Jennifer 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810762"/>
            <a:ext cx="7772400" cy="288036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05872" y="3714750"/>
            <a:ext cx="502920" cy="4800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Team total: 30 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tasks completed 2026-08-27 to 2026-09-02 (includes sub-tasks and email-send milestones). +3 unassigned, +8 from cross-team assignees on auto-expanded webinar sub-tasks (Kim Bonilla 7, Nicole Ngoon 1), not shown above — grand total incl. all assignees: 41. Jennifer had no Asana completions this week; she owns the 3 no-pattern intake types.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Emails Sent Last Week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54480"/>
          <a:ext cx="1106424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1463040"/>
                <a:gridCol w="3108960"/>
                <a:gridCol w="1371600"/>
              </a:tblGrid>
              <a:tr h="396240"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SEND / CAMPAIGN NAME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SEND DATE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REGION / AUDIENCE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Drupal GovCon 2026 Post Event Marketing Emails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Tue, Sep 1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Not set on the milestone (see gap note)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[DAM New Features Partner Webinar] Registration Email 1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Tue, Sep 1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Not set on the milestone (see gap note)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completed Email-type milestone sub-tasks due 2026-08-27 to 2026-09-02. GAP: the Region/Audience field is not populated on either milestone this period — a known data gap flagged in prior weekly reviews since 2026-07-13, still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Campaign Performance (Salesforce)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These are the only 3 of 65 campaigns (created/started 2026-08-27 to 2026-09-02) with actual member/response data — 62 show zero members, and 43 of those are now 5–6 business days old, past the zero-after-5-days hygiene threshold (see slide 17).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0642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554480"/>
                <a:gridCol w="1280160"/>
                <a:gridCol w="1280160"/>
                <a:gridCol w="128016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CAMPAIGN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CONTACTS/LEADS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RESPONSES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RESP. RATE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OPPS / WON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PIPELINE $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em_promo_dc_26_q3_all_acquiaxdrupalassociationwebinar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4 / 0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0 / 0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em_promo_dxo_26_q3_partner_DAM Updates Partner Master Class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253 / 0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253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0 / 0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evt_webinar_dc_26_q3_all_acquiaxdrupalassociationwebinar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 / 2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0 / 0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PERIOD TOTAL (3 campaigns with any engagement)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258 / 2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256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0 / 0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Salesforce SOQL on Campaign (CreatedDate = LAST_N_DAYS:7 OR StartDate in retro window) and CampaignMember (GROUP BY CampaignId, Status), queried 2026-09-03. No opportunities or pipeline $ attributed to any campaign from this period yet — may reflect normal lag, not absence.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SLA &amp; Cycle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No clean "submission date" field exists in Asana separate from task-creation date, so cycle time (created → completed, business days) is reported as the SLA proxy, per the sla-watchdog SOP.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SFDC Campaign-only builds (target: 1–2 business days)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5 of 10 completed within SLA (50%) — avg cycle time 4.3 business days.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Fastest: "DAM Workshop NYC Email Campaign" and "[DAM New Features Partner Webinar] Email Campaign Build" (Aayushi), same-day (0 bd).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Slowest: "Henry Stewart DAM NY 2026 SFDC Campaign(s) &amp; Form" (10 bd, Aayushi); "[DrupalCamp Spain]" / "[DrupalCamp Italy]" SFDC Campaign and "SFDC Creation – BBDD BR Prospection" (8 bd each, Harish).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Rush / 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No tickets flagged "Out of SLA/Rush = Yes" among this week's completions.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 created_at/completed_at for the 10 completed Project Type = "SFDC Campaign only (single)" tasks/sub-tasks, computed 2026-09-03. SLA target per sla-watchdog SKILL.md. Business-day math excludes weekends only (no holiday calendar).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Lead Weekly Wins — Aayushi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Calibri"/>
              </a:rPr>
              <a:t>SFDC Campaigns &amp; CID Work Delivered (10)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DAM Workshop NYC Email Campaign, Drupal Canvas and Agentic Content Email Campaign Build, [DAM New Features Partner Webinar] Email Campaign Build — 3 webinar/event campaign builds this week.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SFDC CID Requests × 3 (Source AI Cites, The Agentic Marketing Team, Vertical Velocity 2.0) — UTM/CID cleanup across paid-media flights.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BPFD Intentsify SFDC Campaign Only, Henry Stewart DAM NY 2026 SFDC Campaign(s) &amp; Form, "Campaign creation" — same-day to 10-day builds.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Calibri"/>
              </a:rPr>
              <a:t>Email Sends &amp; Builds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2 milestone sends delivered: Drupal GovCon 2026 Post-Event Marketing Emails; [DAM New Features Partner Webinar] Registration Email 1.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5 more email-build subtasks advanced: Content Marketing World Pre-Event, DrupalCamp Colorado Post-Event, [DAM New Features Partner Webinar] Registration Email Build 2, Drupal GovCon Post-Event Email Build, Drupal Canvas Email Build 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 completions 2026-08-27 to 2026-09-02, assignee Aayushi Sharma.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Team Performance Highlights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2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Harish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2 event SFDC campaigns: [DrupalCamp Spain], [DrupalCamp Italy] SFDC Campaign for main event (8 bd cycle each).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SFDC Creation – BBDD BR Prospection + SFDC List Upload – BBDD SOLA cleared (8 bd each).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[DrupalCon Rotterdam] SFDC Campaign; Atlanta Tech Week 2026 List Upload; MOPs Add CID to 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2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19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214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Felipe Tencio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871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4 audience/reporting deliverables: DAM Workshop NYC Pre-Event Audience Report; [Webinar Name] Webinar Audience Selection; 2× [Event Name] Post-Event Audience Report.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2 of the 4 landed against tickets still carrying the literal "[Event Name]"/"[Webinar Name]" placeholder — see Data Hygiene, slide 17.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2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19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214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Jennifer Schroback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871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0 Asana completions this week — she owns the 3 no-pattern types (IT/Integration, Automations|Martech, UAT); none closed this period.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No task-count proxy captures triage/investigation work. Slack was not queried this generation run (see slide 19) — narrative context here is Asana-only.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 completions + assignments, 2026-08-27 to 2026-09-02.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Planning Next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Look-ahead period: Sep 3 – Sep 13,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Upcoming Tasks by Team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43634"/>
            <a:ext cx="17373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Aayushi Sharma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26844"/>
            <a:ext cx="7772400" cy="249631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1726844"/>
            <a:ext cx="7772400" cy="249631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5872" y="1643634"/>
            <a:ext cx="5029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37994"/>
            <a:ext cx="17373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Harish Pandey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321204"/>
            <a:ext cx="7772400" cy="249631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0" y="2321204"/>
            <a:ext cx="5652654" cy="249631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05872" y="2237994"/>
            <a:ext cx="5029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2354"/>
            <a:ext cx="17373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Felipe Tencio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2915564"/>
            <a:ext cx="7772400" cy="249631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2915564"/>
            <a:ext cx="4946072" cy="249631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872" y="2832354"/>
            <a:ext cx="5029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26714"/>
            <a:ext cx="17373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Jennifer 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509924"/>
            <a:ext cx="7772400" cy="249631"/>
          </a:xfrm>
          <a:prstGeom prst="roundRect">
            <a:avLst>
              <a:gd name="adj" fmla="val 50000"/>
            </a:avLst>
          </a:prstGeom>
          <a:solidFill>
            <a:srgbClr val="1E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05872" y="3426714"/>
            <a:ext cx="5029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Total Capacity Required: 37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open tasks due 2026-09-03 to 2026-09-13, queried 2026-09-03. 26 across the core team + 1 from Michelle Glass (non-MOPS assignee) + 10 unassigned, not shown above. Aayushi carries 11 of 26 core-team upcoming tasks (42%) — still the heaviest load, down from 55% last week.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Upcoming Email Sends Next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⚠ Same-day capacity flag: Harish has 2 sends both due Sep 3 — DrupalCamp Italy Email 1 and Partner Summer Party London Email 3 — different events, worth confirming audiences don't overlap.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920240"/>
          <a:ext cx="110642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46320"/>
                <a:gridCol w="1371600"/>
                <a:gridCol w="320040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SEND / CAMPAIGN NAME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SEND DATE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REGION / AUDIENCE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[DAM New Features Partner Webinar] Registration Email Send 2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Thu, Sep 3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DrupalCamp Italy Wrap Around Event Email 1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Thu, Sep 3  ⚠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Harish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Partner Summer Party – London Email 3 send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Thu, Sep 3  ⚠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Harish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Drupal Canvas and Agentic Content: Email 2 Promo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Tue, Sep 8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[DAM New Features Partner Webinar] Registration Email Send 3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Wed, Sep 9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Webinar with Hounder and LADWP Email invite 2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Thu, Sep 10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Harish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Partner Summer Party – London Email 4 send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Fri, Sep 11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Not set on the milestone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Harish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incomplete Email-type milestone sub-tasks due 2026-09-03 to 2026-09-13. GAP: Region/Audience not populated on any milestone (same gap as slide 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Priority Pipeline — Aayushi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11 of 26 core-team upcoming tasks (42%) — still the heaviest load on the team, though down from 55% last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Due Sep 3 (today)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Connect 2026 SFDC Campaign — AT RISK: Campaign Name blank, rest of form complete, due today.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[DAM New Features Partner Webinar] Registration Email Build 3, Registration Email Send 2, [DAM Workshop Boston] Email Send – 03 — also due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Due Sep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DigiCol26 SFDC Campaign(s) — AT RISK: entire form blank except a partial notes string, due tomorrow.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MAICON SFDC Campaign(s) &amp; Form (If Required) — AT RISK: entire form blank, due tomorrow.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Content Marketing World SFDC Campaign(s) &amp; Form (If Required).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Due Sep 8–12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Drupal Canvas and Agentic Content: Email 2 Promo (Sep 8); [DAM New Features Partner Webinar] Registration Email Send 3 (Sep 9).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50">
                <a:solidFill>
                  <a:srgbClr val="F1F5F9"/>
                </a:solidFill>
              </a:rPr>
              <a:t>–  Churn customer campaign – Dynamic Pardot sequence (Sep 10); Henry Stewart DAM NY 2026 Pre-Event Marketing Emails (Sep 12).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open tasks assigned to Aayushi Sharma due 2026-09-03 to 2026-09-13.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Upcoming Strategic Priorities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2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Harish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4 email sends queued incl. the Sep 3 same-day pair (DrupalCamp Italy + Partner Summer Party London).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2 new-event SFDC campaigns queued: [FOST Paris] SFDC Campaigns, [OnDAM Paris] SFDC Campaign — both due Sep 8.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DAM New Features Partner Webinar (Sep 10); Upload list into SF (Sep 7).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2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19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214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Felipe Tencio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871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7 audience/report pulls due Sep 3–12: DrupalCamp Italy Wrap Around Event Audience (Sep 3).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5 of the remaining 6 are literal "[Event Name]" Post/Pre-Event Audience Report placeholder tickets (Sep 8 ×3, Sep 11 ×2, Sep 12 ×1) — blocked until the underlying template bug is traced (see slide 17).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2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19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214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Unassigned (10 tasks)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871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2 SFDC list uploads (BBDD BR26, BBDD SOLA26, Sep 8); MOPs Add CID to Form (Sep 12).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4 webinar-mechanics subtasks due Sep 9–12 (Zoom edit, stakeholder copy review, social copy/scheduling, landing page + form).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•  EvolveDigital Pre-summit Meetup, [Webinar Name] Webinar Banner Request — both due Sep 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open tasks due 2026-09-03 to 2026-09-13, queried 2026-09-03.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Active Sub-Projects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54480"/>
          <a:ext cx="1106423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7498079"/>
                <a:gridCol w="1463040"/>
              </a:tblGrid>
              <a:tr h="731520"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SUB-CATEGORY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CORE ACTIVITY THIS PERIOD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SFDC &amp; UTM Campaigns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13 work items completed (10 single + 3 multiple-campaign); 6 more queued (Connect 2026, DigiCol26, MAICON, Content Marketing World, FOST Paris, OnDAM Paris) — 3 of the queued items AT RISK on blank/near-blank forms.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</a:rPr>
                        <a:t>AT RISK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Email Requests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8 email-build subtasks + 2 milestone sends completed (260 contacts/leads reached); 11 more queued incl. 7 milestone sends, with a Sep 3 same-day pair.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B82F6"/>
                          </a:solidFill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Webinar Requests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No pure Webinar Request-type tickets closed this period; 2 queued for look-ahead — webinar work continues to run under Email/SFDC types instead.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A855F7"/>
                          </a:solidFill>
                        </a:rPr>
                        <a:t>READY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List Uploads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4 completed (BBDD SOLA, Atlanta Tech Week, Upload list into SF, +1); 1 queued (unassigned) plus 2 more list uploads due Sep 8.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C55E"/>
                          </a:solidFill>
                        </a:rPr>
                        <a:t>ON TRACK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Audiences / Reporting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1F5F9"/>
                          </a:solidFill>
                        </a:rPr>
                        <a:t>5 completed (Felipe); 7 queued — 5 of the 7 are literal "[Event Name]" placeholder tickets (see slide 17).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B82F6"/>
                          </a:solidFill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 Project Type field, retro + look-ahead windows, queried 2026-09-03.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Incomplete Tickets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188720"/>
                <a:gridCol w="5394960"/>
                <a:gridCol w="1371600"/>
              </a:tblGrid>
              <a:tr h="560070"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TICKET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ASSIGNEE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MISSING INFO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spc="80">
                          <a:solidFill>
                            <a:srgbClr val="3B82F6"/>
                          </a:solidFill>
                        </a:rPr>
                        <a:t>PRIORITY</a:t>
                      </a:r>
                    </a:p>
                  </a:txBody>
                  <a:tcPr marL="73152" marR="73152" marT="27432" marB="27432" anchor="ctr">
                    <a:solidFill>
                      <a:srgbClr val="1A274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Zapier integration – LinkedIn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Unassigned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BLOCKED ~7.7 months (created Jan 12) — no stated blocker in Notes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F4444"/>
                          </a:solidFill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Connect 2026 SFDC Campaign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Campaign Name blank; rest of form complete; due today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</a:rPr>
                        <a:t>AT RISK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DigiCol26 SFDC Campaign(s)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Entire form blank except a partial notes string; due tomorrow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</a:rPr>
                        <a:t>AT RISK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MAICON SFDC Campaign(s) &amp; Form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Aayushi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Entire form blank; due tomorrow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</a:rPr>
                        <a:t>AT RISK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[Event Name] Pre Event Marketing Emails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Unassigned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Require Info/Description, ~2.1 months open (created Jul 1), no stated blocker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</a:rPr>
                        <a:t>NEEDS INFO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Create contact list – #1 Platform for Drupal ICP 2026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Unassigned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Waiting for Feedback, ~7.1 months open (created Feb 2)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</a:rPr>
                        <a:t>NEEDS INFO</a:t>
                      </a:r>
                    </a:p>
                  </a:txBody>
                  <a:tcPr marL="73152" marR="73152" marT="27432" marB="27432" anchor="ctr">
                    <a:solidFill>
                      <a:srgbClr val="141F33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Optimize Starter upon ACP Renewal – Email Cadence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Karen Plant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</a:rPr>
                        <a:t>Require Info, ~12.9 months open (created Aug 2025) — awaiting ACP-renewal report from Nate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</a:rPr>
                        <a:t>NEEDS INFO</a:t>
                      </a:r>
                    </a:p>
                  </a:txBody>
                  <a:tcPr marL="73152" marR="73152" marT="27432" marB="27432" anchor="ctr">
                    <a:solidFill>
                      <a:srgbClr val="111A2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Asana [MOps] Intake, MOPS-Status = Blocked (1) or Require Information/Description (2) or Waiting for Feedback (1) among open top-level tickets, + 3 AT RISK items surfaced from the Priority Pipeline (slide 13), queried 2026-09-03. "Missing Info" quoted from each task's own Notes/form fields.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Data Hygiene &amp;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Flagged this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Naming drift: none of the 65 campaigns created/started this period follow the Region_Channel_Product_Description_YYYY-Qn convention — legacy patterns in active use (em_promo_..., evt_webinar_..., demgen_..., Social_WW_src_..., Partner_cloud-platform-trial_..., Content_Chaos_Quiz_...). Advisory, not a hard fail.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Zero-member aging: 43 of the 65 new campaigns are now 5–6 business days old with zero Contacts/Leads — past the zero-after-5-days threshold. Mostly paid-media flights (EDU/NGO/FinServ/Source AI Cites/Agentic Marketing/Content Chaos Quiz, 41 campaigns) plus 2 named builds (Henry Stewart DAM NY 2026, BPFD Intentsify Display).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"[Event Name]"/"[Webinar Name]" placeholder bug persists: 2 completed + 5 queued audience-report tickets carry a literal placeholder instead of a real name — same live substitution bug the intake-dispatch routine has flagged.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Jira MOPS-659156 (Click-ID fields not flowing Campaign Member → Lead/Contact) remains Need Info/Blocked, assigned to Jennifer, unchanged since Aug 25 — recurring across multiple weekly reviews.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Email-send milestones (2 sent + 7 upcoming = 9 checked) still carry no Region/Audience value — gap open since 2026-07-13.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1. Check in on the 43 zero-member campaigns now past the 5-day threshold — confirm which are paused paid-media flights (by design) vs. stalled builds; protects response-rate reporting for the whole Q3 cohort.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2. Fix the 3 AT RISK SFDC campaign forms before their Sep 3–4 due dates — Connect 2026 needs only a Campaign Name; DigiCol26 and MAICON need the requester to resubmit a complete form.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30">
                <a:solidFill>
                  <a:srgbClr val="F1F5F9"/>
                </a:solidFill>
              </a:rPr>
              <a:t>–  3. Trace the "[Event Name]" placeholder bug in the audience-report template — it has now hit 7 tickets across 2 consecutive weekly reviews (2 completed this period, 5 queued next), each one blocking Felipe from starting real work until manually renamed.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Source: Salesforce Campaign naming/member audit (this period's 65 campaigns); Asana MOPS-Status field; Jira MOPS-659156; Asana email-milestone custom fields. Queried 2026-09-03.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4B8A6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Next Review: September 10,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93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9339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933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9339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9339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A855F7"/>
                </a:solidFill>
                <a:latin typeface="Calibr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"/>
            <a:ext cx="457200" cy="3175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Data &amp; Image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Connectors queried (2026-09-03, this run)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Asana MCP — [MOps] Intake project (gid 1205660951274722): search_tasks for retro completions (top-level + sub-tasks + milestones), look-ahead due tasks, open flagged tickets (MOPS-Status), Email-type milestones sent + upcoming.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Salesforce MCP — soqlQuery on Campaign (CreatedDate = LAST_N_DAYS:7 OR StartDate in retro window) and CampaignMember (GROUP BY CampaignId, Status) for the 3 campaigns with live data.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Atlassian (Jira) MCP — searchJiraIssuesUsingJql, project = MOPS, updated since 2026-08-27; plus a direct lookup of MOPS-659156 for continuity with prior reviews.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Slack — NOT queried this generation run (explicitly out of scope for this pass; the Slack post and any additional narrative context happens separately, driven by the parent session).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Known gaps — stated plainly, not guessed around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No clean "submission date" field distinct from Asana task-creation date — cycle time (created→completed) used as the SLA proxy throughout, per sla-watchdog SOP.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Region/Audience not populated on any Email-type milestone sub-task checked this period (9 of 9: 2 sent + 7 upcoming).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Google Slides upload not attempted this run — known base64 output-token wall, confirmed 6 consecutive weeks (2026-07-23, 07-30, 08-13, 08-20, 08-27, 09-03).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>
                <a:solidFill>
                  <a:srgbClr val="F1F5F9"/>
                </a:solidFill>
              </a:rPr>
              <a:t>–  No external images used — all charts/tables are native PowerPoint shapes built from the queried data above; no attribution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Deck built locally: outputs/weekly-review/MOps_Weekly_Review_2026-09-03.pptx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