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3F5F7"/>
                </a:solidFill>
                <a:latin typeface="Montserrat ExtraBold"/>
              </a:rPr>
              <a:t>MOps Weekly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4B8A6"/>
                </a:solidFill>
                <a:latin typeface="Montserrat"/>
              </a:rPr>
              <a:t>Team Performance, Campaign Results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7B4"/>
                </a:solidFill>
                <a:latin typeface="Montserrat"/>
              </a:rPr>
              <a:t>October 8, 2026 |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F5F7"/>
                </a:solidFill>
                <a:latin typeface="Montserrat ExtraBold"/>
              </a:rPr>
              <a:t>Reviewing Last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7B4"/>
                </a:solidFill>
                <a:latin typeface="Montserrat"/>
              </a:rPr>
              <a:t>Oct 1-7,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4B8A6"/>
                </a:solidFill>
                <a:latin typeface="Montserrat ExtraBold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7B4"/>
                </a:solidFill>
                <a:latin typeface="Montserrat"/>
              </a:rPr>
              <a:t>Tasks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7955279" cy="86868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0" i="0">
                <a:solidFill>
                  <a:srgbClr val="F3F5F7"/>
                </a:solidFill>
                <a:latin typeface="Montserrat"/>
              </a:rPr>
              <a:t>22 tasks shipped (5 requests + 17 sub-tasks)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377440"/>
            <a:ext cx="7955279" cy="86868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0" i="0">
                <a:solidFill>
                  <a:srgbClr val="F3F5F7"/>
                </a:solidFill>
                <a:latin typeface="Montserrat"/>
              </a:rPr>
              <a:t>11 SFDC campaigns launched → 4,974 contacts + 13 leads, 4,985 responses, 51 opportunities (3 won), $110,718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383280"/>
            <a:ext cx="7955279" cy="86868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0" i="0">
                <a:solidFill>
                  <a:srgbClr val="F3F5F7"/>
                </a:solidFill>
                <a:latin typeface="Montserrat"/>
              </a:rPr>
              <a:t>100% within SLA this week (4 of 4 scored completions), avg 4.5 business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3F5F7"/>
                </a:solidFill>
                <a:latin typeface="Montserrat"/>
              </a:rPr>
              <a:t>A quiet but clean week: every scored request beat its SLA, and the Acquia AI GA send — flagged Rush internally — still cleared the 5-day Email target despite a late copy-approval chain that ran right up to the morning of send. The Partner Summit at DrupalCon Rotterdam fully closed out (SFDC campaign, list upload, and post-event emails all wrapped this week). One new data-hygiene finding: a second duplicate-named ticket pair surfaced (DrupalCon Rotterdam Dinner — 28 Sept 2026, two unassigned copies created 2 minutes apart) — see slide 17.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 [MOps] Intake project, live query (search_tasks, completed_on 2026-10-01..2026-10-07).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Completed Tasks by Team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Harish Pandey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2763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627632"/>
            <a:ext cx="731520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554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Felipe Tencio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3055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2130552"/>
            <a:ext cx="243840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0574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Aayushi Sharma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63347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2633472"/>
            <a:ext cx="121920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60" y="2560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Abhinav Dhiman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13639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3136392"/>
            <a:ext cx="121920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3063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Nick Stalford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63931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3639312"/>
            <a:ext cx="60960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35661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Nicole Ngoon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14223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43200" y="4142232"/>
            <a:ext cx="60960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40690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4B8A6"/>
                </a:solidFill>
                <a:latin typeface="Montserrat"/>
              </a:rPr>
              <a:t>Team Total: 22 Tasks 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 [MOps] Intake, live search_tasks (completed=true, completed_on 2026-10-01–2026-10-07).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Emails Sent Last Week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828800"/>
                <a:gridCol w="283464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OWNER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GAIN Interact Event 2026 – HTMLs Email 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[DAM New Features Partner Webinar] Registration Email 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 milestone sub-tasks (resource_subtype=milestone), completed + due in retro window. No Region/Audience field exists on the board (known gap) — Owner shown instead.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Campaign Performance (Salesforce)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280160"/>
                <a:gridCol w="1463040"/>
                <a:gridCol w="155448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CAMPAIGN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LEADS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CONTACTS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RESPONSES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OPPS / WON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NA_Event_Source_Networking Dinner with Modea_2026-Q3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19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EMEA_Email_DXP_GAIN Interact_2026-Q4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179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179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vccp_global-influencer-drupal-migration-new-acq-101_q4_26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em_promo_ai_26_q4_Acquia AI Global Announcement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4785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4785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50 / 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em_followup_partner summit DrupalCon Rotterdam_2026_q3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EMEA_Email_DXP_UCISA Membership send_2026-Q4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vccp-global-influencer-source-acq-100_q4_26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test_confirmation_ email_setup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evt_conference_dc_FOST Marketing Reset Paris_2026_q4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evt_conference_dc_FOST Drupal AI Summit Paris_2026_q4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evt_conference_dc_FOST Paris_2026_q4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Period roll-up: 11 campaigns · 13 leads · 4,974 contacts · 4,985 responses · 51 opportunities (3 won) · $110,718 pipeline. Source: Salesforce SOQL, Campaign WHERE CreatedDate/StartDate in 2026-10-01..2026-10-07 (3 additional campaigns created 2026-10-08 excluded — outside this retro window).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SLA &amp; Cycle 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47472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REQUEST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TYPE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BUSINESS DAYS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RESULT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List Load – Dinner with Modea Sep 28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List Upload (SLA 7bd)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C55E"/>
                          </a:solidFill>
                          <a:latin typeface="Montserrat"/>
                        </a:rPr>
                        <a:t>WITHIN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List Upload HS webinar – DAM Sept 24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List Upload (SLA 7bd)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C55E"/>
                          </a:solidFill>
                          <a:latin typeface="Montserrat"/>
                        </a:rPr>
                        <a:t>WITHIN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Acquia AI GA – Sept 30 a.m. ET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Email (SLA 5bd) — flagged Rush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C55E"/>
                          </a:solidFill>
                          <a:latin typeface="Montserrat"/>
                        </a:rPr>
                        <a:t>WITHIN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List Import – LADWP Webinar w/ Hounder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List Upload (SLA 7bd)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C55E"/>
                          </a:solidFill>
                          <a:latin typeface="Montserrat"/>
                        </a:rPr>
                        <a:t>WITHIN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100% within SLA (4 of 4 scored) · avg cycle time 4.5 business days · 0 rush/late breaches. “Partner Summit at DrupalCon Rotterdam” (Event type) excluded — Event/Webinar SLAs anchor to the live event date, not ticket completion, per the SOP. Team's own Out-of-SLA/Rush field on these 5 completions: 3 No, 1 Yes (Acquia AI GA — still made SLA), 1 unmarked.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Lead Weekly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4B8A6"/>
                </a:solidFill>
                <a:latin typeface="Montserrat"/>
              </a:rPr>
              <a:t>Aayushi Sharma — Team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Montserrat"/>
              </a:rPr>
              <a:t>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DAM New Features Partner Webinar — Registration Email 1 sent Oct 1; Emails 2 &amp; 3 queued for next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82F6"/>
                </a:solidFill>
                <a:latin typeface="Montserrat"/>
              </a:rPr>
              <a:t>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SHARP Webinar — social copy/scheduling request completed Oct 5; registration page + confirmation email build continuing</a:t>
            </a:r>
          </a:p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Churn customer campaign — dynamic Pardot sequence build underway, due Oct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Asana, tasks assigned to Aayushi Sharma, live query.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Team Performance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1828800"/>
            <a:ext cx="3520440" cy="393192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3B82F6"/>
                </a:solidFill>
                <a:latin typeface="Montserrat"/>
              </a:rPr>
              <a:t>Harish Pandey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12 tasks completed — most of any team member this week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Fully closed Partner Summit at DrupalCon Rotterdam: SFDC campaign, list upload, and post-event emails all wrapped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Closed out 3 separate List Upload requests (Modea, HS webinar/DAM, LADWP/Hounder)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5627" y="1828800"/>
            <a:ext cx="3520440" cy="393192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3B82F6"/>
                </a:solidFill>
                <a:latin typeface="Montserrat"/>
              </a:rPr>
              <a:t>Felipe Tencio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4 tasks completed, including the Acquia AI Global Announcement audience pull under a same-day Rush flag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Built the GAIN Interact event audience and the Minnesota Digital Government Summit list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4667" y="1828800"/>
            <a:ext cx="3520440" cy="393192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3B82F6"/>
                </a:solidFill>
                <a:latin typeface="Montserrat"/>
              </a:rPr>
              <a:t>Abhinav Dhiman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Closed 2 long-stale sub-tasks on the LinkedIn Conversions API (CAPI) project — both over 10 months overdue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Chips away at the IT/Integration backlog (5 open top-level tickets remain in that 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Asana, live completions by assignee, 2026-10-01 to 2026-10-07.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F5F7"/>
                </a:solidFill>
                <a:latin typeface="Montserrat ExtraBold"/>
              </a:rPr>
              <a:t>Planning Next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7B4"/>
                </a:solidFill>
                <a:latin typeface="Montserrat"/>
              </a:rPr>
              <a:t>Oct 8-17,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Upcoming Tasks by Team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Aayushi Sharma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2763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627632"/>
            <a:ext cx="731520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554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Unassigned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3055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2130552"/>
            <a:ext cx="6189784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0574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Harish Pandey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63347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2633472"/>
            <a:ext cx="3938953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60" y="2560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Felipe Tencio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13639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3136392"/>
            <a:ext cx="225083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3063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Karen Plant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639312"/>
            <a:ext cx="7315200" cy="29260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3639312"/>
            <a:ext cx="562707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35661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3F5F7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4B8A6"/>
                </a:solidFill>
                <a:latin typeface="Montserrat"/>
              </a:rPr>
              <a:t>Total Capacity Required: 36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 [MOps] Intake, live search_tasks (completed=false, due_on 2026-10-08–2026-10-17). 11 of 36 upcoming tasks (31%) carry no assignee — an ownership gap, not an automatic Unassigned bucket.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Upcoming Email Sends Next Week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182880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OWNER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[DAM New Features Partner Webinar] Registration Email Send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Aayushi Sharma ⚠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Atlanta Marketing Leadership Dinner Email Promo 1 Send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Aayushi Sharma ⚠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[SHARP Webinar] Registration Email 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Aayushi Sharma ⚠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DrupalCamp Italy Wrap Around Event Email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[DAM New Features Partner Webinar] Registration Email Send 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14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Acquia Festive Party (The Cube, London) Email 1 Send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14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Harish Pandey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Beyond Portals email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15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Harish Pandey ⚠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DrupalCamp Italy Wrap Around Event Email 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Oct 15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Harish Pandey ⚠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59E0B"/>
                </a:solidFill>
                <a:latin typeface="Montserrat"/>
              </a:rPr>
              <a:t>⚠ = same owner has 2+ sends due the same day — see footer.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⚠ Capacity clash: Aayushi owns 3 sends due Oct 8 (same day); Harish owns 2 sends due Oct 15 (same day). No Region/Audience field exists on the board (known gap), so clash is flagged by owner+date, not audience overlap. Source: Asana milestone sub-tasks, due 2026-10-08–2026-10-17.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Priority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4B8A6"/>
                </a:solidFill>
                <a:latin typeface="Montserrat"/>
              </a:rPr>
              <a:t>Aayushi Sharma — Team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E0B"/>
                </a:solidFill>
                <a:latin typeface="Montserrat"/>
              </a:rPr>
              <a:t>AT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3 sends due Oct 8 (DAM New Features Reg. Send 2, Atlanta Dinner Promo 1, SHARP Webinar Reg. 1) — same-day capacity clash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B82F6"/>
                </a:solidFill>
                <a:latin typeface="Montserrat"/>
              </a:rPr>
              <a:t>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SHARP Webinar — Push Page Live + Registration Emails 1 &amp; 2 (Oct 8, Oct 13)</a:t>
            </a:r>
          </a:p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Churn customer campaign — Pardot Email Build + Dynamic Sequence (Oct 9)</a:t>
            </a:r>
          </a:p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BPFD - VCCP Email Nurture — SFDC Campaign Request (Oct 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B5CF6"/>
                </a:solidFill>
                <a:latin typeface="Montserrat"/>
              </a:rPr>
              <a:t>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Reachdesk - Partner - SFDC Campaign Request (Oct 8)</a:t>
            </a:r>
          </a:p>
          <a:p>
            <a:r>
              <a:rPr sz="1200" b="0" i="0">
                <a:solidFill>
                  <a:srgbClr val="F3F5F7"/>
                </a:solidFill>
                <a:latin typeface="Montserrat"/>
              </a:rPr>
              <a:t>• DAM New Features Partner Webinar — Registration Email Build 3 (Oct 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Asana, tasks assigned to Aayushi Sharma due 2026-10-08–2026-10-17, live query.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Upcoming Strategic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1828800"/>
            <a:ext cx="3520440" cy="393192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3B82F6"/>
                </a:solidFill>
                <a:latin typeface="Montserrat"/>
              </a:rPr>
              <a:t>Harish Pandey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2 Festive Party HTML builds in parallel (Paris + The Cube, London) plus a 3rd city ticket (Paris 12 Days of Drupal) all due Oct 8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DrupalCamp Italy Wrap Around Event — Emails 2 &amp; 3 (Oct 8, Oct 15)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Beyond Portals email nurture — Email 2 milestone due Oct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5627" y="1828800"/>
            <a:ext cx="3520440" cy="393192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3B82F6"/>
                </a:solidFill>
                <a:latin typeface="Montserrat"/>
              </a:rPr>
              <a:t>Felipe Tencio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4 pre/post-event audience reports due (Content Marketing World, MAICON, Carahsoft FedRAMP x2)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Carahsoft Summit on FedRAMP post-event emails due Oct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4667" y="1828800"/>
            <a:ext cx="3520440" cy="3931920"/>
          </a:xfrm>
          <a:prstGeom prst="roundRect">
            <a:avLst/>
          </a:prstGeom>
          <a:solidFill>
            <a:srgbClr val="162033"/>
          </a:solidFill>
          <a:ln w="9525">
            <a:solidFill>
              <a:srgbClr val="2A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3B82F6"/>
                </a:solidFill>
                <a:latin typeface="Montserrat"/>
              </a:rPr>
              <a:t>Unassigned Work (flag)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11 of 36 look-ahead tasks (31%) have no assignee, incl. both halves of the Dries Prospects + Customer Email Campaign and the duplicate DrupalCon Rotterdam Dinner tickets (slide 17)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Needs triage before due dates land — not a capacity card, a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Asana, live query, 2026-10-08 to 2026-10-17.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Active Sub-Projects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8580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SUB-CATEGORY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CORE ACTIVITY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STATUS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Webinar Requests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SHARP Webinar + DAM New Features Partner Webinar — registration email sequences in flight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Email Requests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Churn customer Pardot sequence, Beyond Portals nurture, Dries Prospects + Customer campaign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SFDC &amp; UTM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Reachdesk Partner request + BPFD-VCCP SFDC Campaign Request queued for Oct 8–9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8B5CF6"/>
                          </a:solidFill>
                          <a:latin typeface="Montserrat"/>
                        </a:rPr>
                        <a:t>READY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Event Builds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3 Festive Party city builds (Paris x2, London) + DrupalCamp Italy wrap-around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List Upload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None pending — all 3 in-flight list uploads closed out this week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C55E"/>
                          </a:solidFill>
                          <a:latin typeface="Montserrat"/>
                        </a:rPr>
                        <a:t>ON TRACK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Source: Asana, live query across open sub-tasks grouped by Project Type / naming pattern.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Incomplete Tickets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484632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TICKET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ASSIGNEE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MISSING INFO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PRIORITY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(blank — no name set)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Entire ticket is empty (name, notes, Project Type all blank) — created 2026-09-24, still blank 14 days later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[Event Name] Pre Event Marketing Emails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Promotional email copy never provided; Aayushi's 2026-07-13 ask to the requester is unanswered (~87 days)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REQUIRE INFO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Zapier integration – LinkedIn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Deprioritized pending the Pardot↔LinkedIn direct integration; manual Zapier workaround covers leads meanwhile. Open since 2026-01-12 (~269 days)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Create contact list – #1 Platform for Drupal ICP / Smarter Content ICP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Requester never answered which data source/fields are needed (asked 2026-02-10). Open since 2026-02-02 (~8 months)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WAITING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Optimize Starter upon ACP Renewal – Email Cadence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Karen Plant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On hold awaiting a 2026-priorities decision (per Karen's comment). Open since 2025-08-07 (~14 months)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ontserrat"/>
                        </a:rPr>
                        <a:t>REQUIRE INFO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13 top-level tickets are overdue as of today (due before 2026-10-08). Source: Asana, live custom-field query (MOPS-Status) across all 58 open top-level tickets.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Data Hygiene &amp; Recommendations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FINDING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DETAIL</a:t>
                      </a:r>
                    </a:p>
                  </a:txBody>
                  <a:tcPr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Zero-member campaigns, 5+ business days old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3 of 11 retro-window campaigns (FOST Marketing Reset Paris, FOST Drupal AI Summit Paris, FOST Paris — all started 2026-10-01) still show 0 leads/contacts after 5 business days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Naming convention drift (advisory)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8 of 11 campaigns launched this week (73%) don't match Region_Channel_Product_Description_YYYY-Qn — only UCISA, GAIN Interact, and Networking Dinner Modea do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New duplicate ticket pair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“DrupalCon Rotterdam Dinner – 28 Sept 2026” exists as 2 separate unassigned tickets, created 2 minutes apart on 2026-10-06 with different due dates (Oct 9 vs Oct 13)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Standing duplicate (unresolved since 2026-09-24)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“Zapier integration – LinkedIn” still exists as 2 open tickets under different owners (unassigned/Blocked, and Jennifer Schroback)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Priority field still mostly null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F3F5F7"/>
                          </a:solidFill>
                          <a:latin typeface="Montserrat"/>
                        </a:rPr>
                        <a:t>54 of 58 open top-level tickets (93%) have no Priority set — up from 90.6% last week as the board grew from 53 to 58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9CA7B4"/>
                </a:solidFill>
                <a:latin typeface="Montserrat"/>
              </a:rPr>
              <a:t>Recommendations: (1) Merge the 2 DrupalCon Rotterdam Dinner tickets before Oct 9 to avoid duplicate list-upload/campaign work for the same event. (2) Check the 3 zero-member FOST Paris campaigns before the conferences run — unlocks real attendee/response tracking for all 3 Paris events this quarter. (3) Force a close-or-continue decision on the two tickets that have sat in “awaiting human input” for 8+ and 14+ months (Create contact list – ICP; Optimize Starter – ACP Renewal) — both have shown up in this review every week since at least August.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3F5F7"/>
                </a:solidFill>
                <a:latin typeface="Montserrat ExtraBold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4B8A6"/>
                </a:solidFill>
                <a:latin typeface="Montserrat"/>
              </a:rPr>
              <a:t>Next Review: October 15, 2026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8B5CF6"/>
                </a:solidFill>
                <a:latin typeface="Montserrat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1792"/>
            <a:ext cx="457200" cy="317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3F5F7"/>
                </a:solidFill>
                <a:latin typeface="Montserrat ExtraBold"/>
              </a:rPr>
              <a:t>Data &amp; Image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QUERIED THIS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Asana — [MOps] Intake project (gid 1205660951274722), live via MCP: completed tasks 2026-10-01–2026-10-07, open tasks due 2026-10-08–2026-10-17, all 58 open top-level tickets with custom fields, overdue tickets, task notes/comments for blocked items. Queried 2026-10-08.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Salesforce — Campaign SOQL (Id, Name, Type, Status, StartDate, CreatedDate, member/response/opportunity fields), WHERE CreatedDate/StartDate in the retro window. Queried live 2026-10-08, first attempt succeeded, no connector gaps.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Jira (Atlassian MCP) — project MOPS, issues created/updated in the last 7 days, plus direct lookup of the 3 previously-flagged blocking issues (MOPS-659156/-659160/-659161). Queried live 2026-10-08, no connector gaps.</a:t>
            </a:r>
          </a:p>
          <a:p>
            <a:r>
              <a:rPr sz="1150" b="0" i="0">
                <a:solidFill>
                  <a:srgbClr val="F3F5F7"/>
                </a:solidFill>
                <a:latin typeface="Montserrat"/>
              </a:rPr>
              <a:t>• No external images used — all slides built with native python-pptx shapes (no embedded bitmaps).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E0B"/>
                </a:solidFill>
                <a:latin typeface="Montserrat"/>
              </a:rPr>
              <a:t>GAPS /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F3F5F7"/>
                </a:solidFill>
                <a:latin typeface="Montserrat"/>
              </a:rPr>
              <a:t>• No Region/Audience field exists anywhere on the Asana board — the email-calendar tables (slides 5 and 12) show Owner in its place, not region, per the standing gap first logged 2026-07-13.</a:t>
            </a:r>
          </a:p>
          <a:p>
            <a:r>
              <a:rPr sz="1100" b="0" i="0">
                <a:solidFill>
                  <a:srgbClr val="F3F5F7"/>
                </a:solidFill>
                <a:latin typeface="Montserrat"/>
              </a:rPr>
              <a:t>• Priority is null on 93% of the open top-level board (54 of 58) — up from 90.6% last week.</a:t>
            </a:r>
          </a:p>
          <a:p>
            <a:r>
              <a:rPr sz="1100" b="0" i="0">
                <a:solidFill>
                  <a:srgbClr val="F3F5F7"/>
                </a:solidFill>
                <a:latin typeface="Montserrat"/>
              </a:rPr>
              <a:t>• Google Slides upload not attempted this run. The Google Drive create_file MCP tool only accepts inline base64Content; this deck's base64 payload needs an estimated ~300K+ output tokens to emit in a single tool call, past any single turn's budget. This is the 11th consecutive week confirming the same wall (first logged 2026-07-23, re-confirmed with token-density measurement 2026-07-30, reconfirmed every week since). Deck built locally only — flagged on the #mops-team Slack post.</a:t>
            </a:r>
          </a:p>
          <a:p>
            <a:r>
              <a:rPr sz="1100" b="0" i="0">
                <a:solidFill>
                  <a:srgbClr val="F3F5F7"/>
                </a:solidFill>
                <a:latin typeface="Montserrat"/>
              </a:rPr>
              <a:t>• MOPS-659156 changed status this week to “Need Info/Blocked” (previously open/unresolved, unchanged status name) — updated 2026-10-06. MOPS-659160 and MOPS-659161 saw no activity in the retro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