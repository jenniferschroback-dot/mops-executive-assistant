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2F4F7"/>
                </a:solidFill>
                <a:latin typeface="Calibri"/>
              </a:rPr>
              <a:t>MOps Weekly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Team Performance, Campaign Results &amp;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5B5"/>
                </a:solidFill>
                <a:latin typeface="Calibri"/>
              </a:rPr>
              <a:t>October 1, 2026  | 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9923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4F7"/>
                </a:solidFill>
                <a:latin typeface="Calibri"/>
              </a:rPr>
              <a:t>Reviewing Last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5B5"/>
                </a:solidFill>
                <a:latin typeface="Calibri"/>
              </a:rPr>
              <a:t>September 24 – September 30,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2F4F7"/>
                </a:solidFill>
                <a:latin typeface="Calibri"/>
              </a:rPr>
              <a:t>45 tasks completed (8 tickets + 37 sub-tasks) · 17 Salesforce campaigns active, 11,363 responses · $5,814 pipeline from 1 won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AA5B5"/>
                </a:solidFill>
                <a:latin typeface="Calibri"/>
              </a:rPr>
              <a:t>A steady week dominated by DrupalCon Rotterdam (Sept 28–Oct 1) wrap-up activity and two live DAM/webinar nurtures. Harish carried 20 of 45 completions (44%), mostly Rotterdam partner-summit sends and the HS/Beyond Portals nurture builds. Campaign volume returned to a normal 17/week after last cycle's 123-campaign paid-media batch. SLA signal is thin this week — of 8 top-level completions, 7 are Email/Nurture types whose SLA clock anchors on scheduled send date rather than ticket completion, so a clean % can't be computed from completion data alone; the team's own Out-of-SLA/Rush field shows 3 within target, 1 rush (VCCP prospect email), 4 unmarked.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 (search_tasks, completed_on 2026-09-24..2026-09-30) · Salesforce Campaign SOQL · queried 2026-10-01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Completed Tasks by Team 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81120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1781120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Harish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5872" y="1645920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382011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382011"/>
            <a:ext cx="3662172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6811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Felipe Tencio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9884" y="2246811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982902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982902"/>
            <a:ext cx="3255264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47702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Aayushi Sharma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2847702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583793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3583793"/>
            <a:ext cx="2034540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48593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Unassigned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2252" y="3448593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184684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94560" y="4184684"/>
            <a:ext cx="406908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49484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Nick Stalford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4620" y="4049484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4785575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94560" y="4785575"/>
            <a:ext cx="406908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50375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Karen Plant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4620" y="4650375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5386466"/>
            <a:ext cx="8138160" cy="330490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194560" y="5386466"/>
            <a:ext cx="406908" cy="33049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51266"/>
            <a:ext cx="160020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Jennifer 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4620" y="5251266"/>
            <a:ext cx="731520" cy="60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Intake, search_tasks completed_on 2026-09-24..2026-09-30 (top-level + sub-tasks) · 45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Emails Sent Last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188720"/>
                <a:gridCol w="530352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SEND / CAMPAIGN NAME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SEND DATE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REGION / AUDIENCE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Beyond Portals email #1 (DAM + Source attach) – Send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23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Beyond Portals nurture — no Region/Audience field in Asana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HS Webinar Sept 24 – Email invite 2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23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HS Webinar — no Region/Audience field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DrupalCamp Italy Wrap Around Event Email 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24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DrupalCamp Italy — no Region/Audience field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EDUCAUSE Wrap Around with Hounder – Send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28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EDUCAUSE — no Region/Audience field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DrupalCon Rotterdam Partner Summit Email 4 Send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28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DrupalCon Rotterdam — no Region/Audience field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DAM Workshop DC Pre Event Marketing Email Send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29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DAM Workshop DC — no Region/Audience field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[Event Name] Post Event Marketing Emails Test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29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Placeholder-name ticket — live substitution bug, flagged below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Acquia TV University of East London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Sep 30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4F7"/>
                          </a:solidFill>
                        </a:rPr>
                        <a:t>University of East London — no Region/Audience field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Email-type milestone sub-tasks due 2026-09-24..2026-09-30, completed · no Region/Audience custom field exists on the board (gap, same as prior weeks)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Campaign Performance (Salesforce)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3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960"/>
                <a:gridCol w="1250740"/>
                <a:gridCol w="1346950"/>
                <a:gridCol w="1250740"/>
                <a:gridCol w="2212847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CAMPAIGN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MEMBERS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RESPONSES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RESP. RATE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LEADS / CONTACTS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em_promo_vccp_campaign_prospect email 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8,126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8,126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6,169 / 1,957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em_promo_src_26_q4_atv_university_of_east_london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2,766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2,766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149 / 2,617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em_promo_EDUCAUSE Wrap Around with Hounder_invite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288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288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 / 287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em_promo_dam_26_q4_DAM Workshop DC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149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149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 / 149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NA_Webinar_DC_LADWP Webinar with Hounder Sep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24 / 9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NA_Evt_Src_AtlantaMarketingLeadershipDinner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 / 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em_followup_partner summit DrupalCon Rotterdam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 / 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vccp_na/uk-paidsocial-source-meta (2 campaigns)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 / 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evt_* DrupalCon Rotterdam + FOST Paris (8 campaigns)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0 / 0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B8A6"/>
                </a:solidFill>
                <a:latin typeface="Calibri"/>
              </a:rPr>
              <a:t>Period roll-up: 17 campaigns · 6,343 leads + 5,020 contacts (11,363 total members) · 11,363 responses · 12 opportunities, 1 won · $5,814.08 attributed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Salesforce SOQL, Campaign WHERE CreatedDate=LAST_N_DAYS:7 OR StartDate=LAST_N_DAYS:7 · queried 2026-10-01 · Response Rate = Responses/Members, only shown where Members&gt;0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SLA &amp; Cycle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F4F7"/>
                </a:solidFill>
                <a:latin typeface="Calibri"/>
              </a:rPr>
              <a:t>8 top-level tickets completed this week. Team's own Out-of-SLA/Rush field: 3 within SLA · 1 rush (out-of-SLA) · 4 unmarked.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14600"/>
          <a:ext cx="1106423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517"/>
                <a:gridCol w="2232258"/>
                <a:gridCol w="2232258"/>
                <a:gridCol w="2135204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TICKET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PROJECT TYPE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CREATION→COMPLETION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OUT-OF-SLA/RUSH FLAG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Acquia TV University of East London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Email/Nurture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7 bd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No (within SLA)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Beyond Portals email nurture (DAM + Source attach)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Email/Nurture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5 bd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Unmarked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EDUCAUSE Wrap Around with Hounder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Email/Nurture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5 bd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No (within SLA)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HS Webinar Sept 24 Email(s) Only + SFDC Campaign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Email/Nurture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10 bd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Unmarked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VCCP campaign - Prospect email number 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Email/Nurture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2 bd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Yes (rush)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Email(s) Only + SFDC Campaign (5 Days)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8 bd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Unmarked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[TEST RUN] SFDC Campaigns (multiple) - DrupalCon Rotterdam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SFDC Campaigns (multiple)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40 bd (stale backlog item)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Unmarked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Terminus Access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118 bd (stale backlog item)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No (within SLA)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AA5B5"/>
                </a:solidFill>
                <a:latin typeface="Calibri"/>
              </a:rPr>
              <a:t>Avg cycle time: 6.2 bd excluding 2 stale backlog items (24.4 bd including them). No SFDC-Campaign-only new creation to test the 1-bd target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Gap: Email-type SLA anchors on scheduled send date per sla-watchdog, not ticket-completion date — creation→completion is a proxy, not a direct SLA measure. Source: Asana custom fields, read 2026-10-01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Lead Weekly Wins — Aayushi Sharma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Campaign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2F4F7"/>
                </a:solidFill>
                <a:latin typeface="Calibri"/>
              </a:rPr>
              <a:t>Acquia TV University of East London fully built and live — 2,617 contacts reached, 8 opportunities, 1 won ($3,683 pipeline).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Event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2F4F7"/>
                </a:solidFill>
                <a:latin typeface="Calibri"/>
              </a:rPr>
              <a:t>DAM Workshop DC pre-event email build + send; Atlanta Marketing Leadership Dinner campaign &amp; form creation shipped.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2F4F7"/>
                </a:solidFill>
                <a:latin typeface="Calibri"/>
              </a:rPr>
              <a:t>SCSM Innovation Session Marketing Nurture performance report delivered.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Intake, Aayushi Sharma completions 2026-09-24..2026-09-30 · Salesforce campaign cross-reference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Team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Harish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7"/>
                </a:solidFill>
                <a:latin typeface="Calibri"/>
              </a:rPr>
              <a:t>Carried 20 of 45 completions (44%) — DrupalCon Rotterdam partner-summit sends, EDUCAUSE wrap-around, HS Webinar + Beyond Portals nurture builds.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Felipe Tencio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42316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7"/>
                </a:solidFill>
                <a:latin typeface="Calibri"/>
              </a:rPr>
              <a:t>9 completions — audience/list pulls across DrupalGovCon, EDUCAUSE, VCCP, and the DAM Workshop DC pre-event audience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8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Nick Stalford / Karen Plant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8" y="242316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2F4F7"/>
                </a:solidFill>
                <a:latin typeface="Calibri"/>
              </a:rPr>
              <a:t>Supporting creative + copy: SHARP Webinar banner request (Nick); Beyond Portals email copy (Karen).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 completions by assignee, 2026-09-24..2026-09-30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9923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4F7"/>
                </a:solidFill>
                <a:latin typeface="Calibri"/>
              </a:rPr>
              <a:t>Planning 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5B5"/>
                </a:solidFill>
                <a:latin typeface="Calibri"/>
              </a:rPr>
              <a:t>October 1 – October 10,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Upcoming Tasks by Team 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5650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175650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Harish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5872" y="164592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24799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247995"/>
            <a:ext cx="7512147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3741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Aayushi Sharma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859" y="213741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73948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739485"/>
            <a:ext cx="3130061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2890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Unassigned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7773" y="262890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23097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3230975"/>
            <a:ext cx="1878036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2039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Felipe Tencio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5748" y="312039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372246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94560" y="3722465"/>
            <a:ext cx="626012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1188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Nicole Ngoon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3724" y="361188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421395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94560" y="4213955"/>
            <a:ext cx="626012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0337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Nick Stalford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3724" y="410337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470544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194560" y="4705445"/>
            <a:ext cx="626012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9486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Karen Plant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93724" y="459486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196935"/>
            <a:ext cx="8138160" cy="270319"/>
          </a:xfrm>
          <a:prstGeom prst="roundRect">
            <a:avLst>
              <a:gd name="adj" fmla="val 50000"/>
            </a:avLst>
          </a:prstGeom>
          <a:solidFill>
            <a:srgbClr val="1F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194560" y="5196935"/>
            <a:ext cx="626012" cy="270319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86350"/>
            <a:ext cx="16002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2F4F7"/>
                </a:solidFill>
                <a:latin typeface="Calibri"/>
              </a:rPr>
              <a:t>Jennifer 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3724" y="5086350"/>
            <a:ext cx="7315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4F7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Total Capacity Required: 37 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Intake, open tasks due 2026-10-01..2026-10-10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Upcoming Email Sends Next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1887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SEND / CAMPAIGN NAME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SEND DATE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OWNER / AUDIENCE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GAIN Interact Event 2026 - HTMLs Email 1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Oct 6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Harish Pandey — ⚠ same date as UCISA send below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[UCISA email Q3] - Membership email send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Oct 6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Harish Pandey — ⚠ same date, same owner as GAIN send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DrupalCamp Italy Wrap Around Event Email 2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Oct 8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Harish Pandey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[DAM New Features Partner Webinar] Registration Email Send 2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Oct 8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2F4F7"/>
                          </a:solidFill>
                        </a:rPr>
                        <a:t>Aayushi Sharma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519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3A2810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⚠ OWNER-CAPACITY CLASH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7"/>
                </a:solidFill>
                <a:latin typeface="Calibri"/>
              </a:rPr>
              <a:t>GAIN Interact Event and UCISA Membership email both land on Harish on Oct 6. No Region/Audience field exists to confirm an audience overlap — flagged as an owner-capacity clash, not a confirmed audience collision.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Email-type milestone sub-tasks, incomplete, due 2026-10-01..2026-10-10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Priority Pipeline — Aayushi Sharma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Gartner IT Symposium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4F7"/>
                </a:solidFill>
                <a:latin typeface="Calibri"/>
              </a:rPr>
              <a:t>SFDC Campaign(s) build due Oct 5 — enterprise IT event, high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SHARP Webinar (EMEA)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4F7"/>
                </a:solidFill>
                <a:latin typeface="Calibri"/>
              </a:rPr>
              <a:t>Registration emails 1 &amp; 2 (Oct 2, Oct 9), CID-to-form, page push-live Oct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59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Atlanta Marketing Leadership Dinner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4F7"/>
                </a:solidFill>
                <a:latin typeface="Calibri"/>
              </a:rPr>
              <a:t>Distribution list Oct 2, Promo email 1 send Oct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56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DAM New Features Partner Webinar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2F4F7"/>
                </a:solidFill>
                <a:latin typeface="Calibri"/>
              </a:rPr>
              <a:t>Registration email build 3 (Oct 9) + send 2 (Oct 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Intake, Aayushi Sharma open tasks due 2026-10-01..2026-10-10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Upcoming Strategic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Harish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7"/>
                </a:solidFill>
                <a:latin typeface="Calibri"/>
              </a:rPr>
              <a:t>Partner Summit at DrupalCon Rotterdam list upload + follow-up email (Oct 1-2); GAIN Interact and UCISA email sends land same day (Oct 6) — capacity watch.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Felipe Tencio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42316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7"/>
                </a:solidFill>
                <a:latin typeface="Calibri"/>
              </a:rPr>
              <a:t>GAIN Interact audience pull (Oct 2); Carahsoft FedRAMP post-event audience report (Oct 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73736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8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Jennifer Schroback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8" y="242316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2F4F7"/>
                </a:solidFill>
                <a:latin typeface="Calibri"/>
              </a:rPr>
              <a:t>Add Source &amp; Medium to paid social leads in Salesforce (Oct 2) — attribution-hygiene fix feeding into MOPS-659156.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 open tasks by assignee, due 2026-10-01..2026-10-10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Active Sub-Projects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SUB-CATEGORY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CORE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645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4F7"/>
                </a:solidFill>
                <a:latin typeface="Calibri"/>
              </a:rPr>
              <a:t>Email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67128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5B5"/>
                </a:solidFill>
                <a:latin typeface="Calibri"/>
              </a:rPr>
              <a:t>Beyond Portals nurture (email 2 due Oct 8); SHARP Webinar + DAM New Features Partner Webinar registration series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222199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4F7"/>
                </a:solidFill>
                <a:latin typeface="Calibri"/>
              </a:rPr>
              <a:t>SFDC &amp; UTM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18688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5B5"/>
                </a:solidFill>
                <a:latin typeface="Calibri"/>
              </a:rPr>
              <a:t>Gartner IT Symposium campaign build; Reachdesk Partner SFDC Campaign Request (unassigned)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327355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024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4F7"/>
                </a:solidFill>
                <a:latin typeface="Calibri"/>
              </a:rPr>
              <a:t>Webinar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270248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5B5"/>
                </a:solidFill>
                <a:latin typeface="Calibri"/>
              </a:rPr>
              <a:t>SHARP Webinar (EMEA) — page push-live Oct 1, social copy Oct 5, registration emails Oct 2 &amp; 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32511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 w="12700">
            <a:solidFill>
              <a:srgbClr val="2A3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2180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2F4F7"/>
                </a:solidFill>
                <a:latin typeface="Calibri"/>
              </a:rPr>
              <a:t>List Uploads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321808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A5B5"/>
                </a:solidFill>
                <a:latin typeface="Calibri"/>
              </a:rPr>
              <a:t>Partner Summit Rotterdam, HS Webinar DAM, Dinner with Modea, Drupal GovCon, Minnesota Digital Gov Summit — 5 lists due Oct 1-6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5376672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[MOPs] Intake, grouped by Project Type / MOPs - Project Subtype, open board as of 2026-10-01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Incomplete Tickets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3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350"/>
                <a:gridCol w="1487628"/>
                <a:gridCol w="5764562"/>
                <a:gridCol w="1208698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TICKET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MISSING INFO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1A27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Acquia AI GA - Sept 30 a.m. ET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Felipe Tencio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Approval given by Nate Holmes 9/30 21:15 — status field not yet updated to reflect approval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(blank-name ticket)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Created 9/24, moved straight to Blocked, every field empty — unchanged a full week later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[Event Name] Pre Event Marketing Emails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Missing email copy — asked 7/13, no response ~80 days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Zapier integration - LinkedIn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Open since 1/12 (~262 days), deprioritized by design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Create contact list — ICP 2026 (Drupal/Smarter Content)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Unassigned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Waiting for Feedback since Mar 2026, no due date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Optimize Starter upon ACP Renewal - Email Cadence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Karen Plant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Awaiting 2026-priorities decision; owner asked if it can be archived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2F4F7"/>
                          </a:solidFill>
                        </a:rPr>
                        <a:t>BLOCKED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Asana MOPS- Status = Blocked / Require Information-Description / Waiting for Feedback, read 2026-10-01 via get_task_stories (not guessed)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Data Hygiene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Flagged this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2F4F7"/>
                </a:solidFill>
                <a:latin typeface="Calibri"/>
              </a:rPr>
              <a:t>•  0 of 17 campaigns this period match the Region_Channel_Product_Description_YYYY-Qn convention (advisory, not a hard fail).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2F4F7"/>
                </a:solidFill>
                <a:latin typeface="Calibri"/>
              </a:rPr>
              <a:t>•  vccp_na-paidsocial-source-meta-2026-Q4 (started Sep 14) still has 0 members 11 business days later — the one genuine zero-member hygiene flag this week; the other 10 zero-member campaigns are DrupalCon/FOST Paris event sub-campaigns created Sep 28-Oct 1, too new to flag.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2F4F7"/>
                </a:solidFill>
                <a:latin typeface="Calibri"/>
              </a:rPr>
              <a:t>•  90.6% of the 53 open top-level tickets (48 of 53) have null Priority — same gap size as last week (47/52).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2102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F2F4F7"/>
                </a:solidFill>
                <a:latin typeface="Calibri"/>
              </a:rPr>
              <a:t>•  The blank-name Blocked ticket flagged last week (created 9/24) is still blank a full week later — worth a direct nudge, not just another digest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9087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AA5B5"/>
                </a:solidFill>
                <a:latin typeface="Calibri"/>
              </a:rPr>
              <a:t>→  Fix the vccp_na-paidsocial member sync (Rec 1 of 3) — unlocks response reporting for an 11-business-day-old live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937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AA5B5"/>
                </a:solidFill>
                <a:latin typeface="Calibri"/>
              </a:rPr>
              <a:t>→  Resolve or delete the blank-name Blocked ticket (Rec 2 of 3) — it's taken a full board slot with zero information for 7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967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AA5B5"/>
                </a:solidFill>
                <a:latin typeface="Calibri"/>
              </a:rPr>
              <a:t>→  Push the 'Acquia AI GA' status field update (Rec 3 of 3) — approval landed 9/30 21:15 but MOPS-Status still reads Waiting for Feedback, risking a false AT-RISK flag on the next sweep.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5B5"/>
                </a:solidFill>
                <a:latin typeface="Calibri"/>
              </a:rPr>
              <a:t>Source: Salesforce Campaign SOQL naming/member checks + Asana Priority/MOPS-Status field audit, both read 2026-10-01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2F4F7"/>
                </a:solidFill>
                <a:latin typeface="Calibri"/>
              </a:rPr>
              <a:t>Closing /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5B5"/>
                </a:solidFill>
                <a:latin typeface="Calibri"/>
              </a:rPr>
              <a:t>Next Review: October 8,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4F7"/>
                </a:solidFill>
                <a:latin typeface="Calibri"/>
              </a:rPr>
              <a:t>Data &amp; Image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2F4F7"/>
                </a:solidFill>
                <a:latin typeface="Calibri"/>
              </a:rPr>
              <a:t>•  Asana — [MOPs] Intake (project 1205660951274722): search_tasks for completed (2026-09-24..2026-09-30) and open/due (2026-10-01..2026-10-10) tasks, plus overdue (due before 2026-10-01); get_task_stories for blocked-ticket detail. Queried 2026-10-01 ~14:10 UTC. No gaps — connector worked on first attempt.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0487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2F4F7"/>
                </a:solidFill>
                <a:latin typeface="Calibri"/>
              </a:rPr>
              <a:t>•  Salesforce — Campaign SOQL (CreatedDate/StartDate = LAST_N_DAYS:7), 17 records. Queried 2026-10-01. No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9544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2F4F7"/>
                </a:solidFill>
                <a:latin typeface="Calibri"/>
              </a:rPr>
              <a:t>•  Jira (Atlassian MCP, cloud acquia.atlassian.net) — project MOPS, updated &gt;= -7d: 0 issues touched this period. Verified the 3 previously-flagged blockers (MOPS-659156, -659160, -659161) directly by key — all still open, unchanged since before this retro window.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14216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2F4F7"/>
                </a:solidFill>
                <a:latin typeface="Calibri"/>
              </a:rPr>
              <a:t>•  Known gaps carried from prior weeks: no Region/Audience field exists anywhere on the Asana board (Slides 5, 12 use ticket/campaign name only); Priority field is 90.6% null (48/53 open tickets); Email-type SLA can't be cleanly measured from ticket completion since the clock anchors on scheduled send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1888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2F4F7"/>
                </a:solidFill>
                <a:latin typeface="Calibri"/>
              </a:rPr>
              <a:t>•  Google Slides upload: not attempted this run — see delivery note in the Slack post and decisions/actions.md (known issue, 10th consecutive occurrence).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2F4F7"/>
                </a:solidFill>
                <a:latin typeface="Calibri"/>
              </a:rPr>
              <a:t>•  No external images used — all visuals are native shapes built in python-pptx.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