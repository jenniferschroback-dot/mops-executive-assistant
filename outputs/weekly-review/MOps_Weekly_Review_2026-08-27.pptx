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F2F4F8"/>
                </a:solidFill>
                <a:latin typeface="Montserrat ExtraBold"/>
              </a:rPr>
              <a:t>MOps Weekly Review</a:t>
            </a:r>
          </a:p>
          <a:p>
            <a:pPr>
              <a:spcBef>
                <a:spcPts val="1000"/>
              </a:spcBef>
            </a:pPr>
            <a:r>
              <a:rPr sz="1900" b="0" i="0">
                <a:solidFill>
                  <a:srgbClr val="14B8A6"/>
                </a:solidFill>
                <a:latin typeface="Montserrat"/>
              </a:rPr>
              <a:t>Team Performance, Campaign Results &amp; Strategic Roadmap</a:t>
            </a:r>
          </a:p>
          <a:p>
            <a:pPr>
              <a:spcBef>
                <a:spcPts val="2200"/>
              </a:spcBef>
            </a:pPr>
            <a:r>
              <a:rPr sz="1300" b="0" i="0">
                <a:solidFill>
                  <a:srgbClr val="9AA8BC"/>
                </a:solidFill>
                <a:latin typeface="Montserrat"/>
              </a:rPr>
              <a:t>August 27, 2026 | Project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127248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461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F2F4F8"/>
                </a:solidFill>
                <a:latin typeface="Montserrat ExtraBold"/>
              </a:rPr>
              <a:t>Reviewing Last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9AA8BC"/>
                </a:solidFill>
                <a:latin typeface="Montserrat"/>
              </a:rPr>
              <a:t>Retro period: Aug 20-26,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Executive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2602153" cy="1417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99616"/>
            <a:ext cx="227296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14B8A6"/>
                </a:solidFill>
                <a:latin typeface="Montserrat ExtraBold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48840"/>
            <a:ext cx="227296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9AA8BC"/>
                </a:solidFill>
                <a:latin typeface="Montserrat"/>
              </a:rPr>
              <a:t>Tasks 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9393" y="1371600"/>
            <a:ext cx="2602153" cy="1417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3985" y="1499616"/>
            <a:ext cx="227296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3B82F6"/>
                </a:solidFill>
                <a:latin typeface="Montserrat ExtraBold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985" y="2148840"/>
            <a:ext cx="227296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9AA8BC"/>
                </a:solidFill>
                <a:latin typeface="Montserrat"/>
              </a:rPr>
              <a:t>SFDC campaigns built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6" y="1371600"/>
            <a:ext cx="2602153" cy="1417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4738" y="1499616"/>
            <a:ext cx="227296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97316"/>
                </a:solidFill>
                <a:latin typeface="Montserrat ExtraBold"/>
              </a:rPr>
              <a:t>983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738" y="2148840"/>
            <a:ext cx="227296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9AA8BC"/>
                </a:solidFill>
                <a:latin typeface="Montserrat"/>
              </a:rPr>
              <a:t>Contacts reached (2 live sends)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0899" y="1371600"/>
            <a:ext cx="2602153" cy="1417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5491" y="1499616"/>
            <a:ext cx="227296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A855F7"/>
                </a:solidFill>
                <a:latin typeface="Montserrat ExtraBold"/>
              </a:rPr>
              <a:t>$5,863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5491" y="2148840"/>
            <a:ext cx="227296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9AA8BC"/>
                </a:solidFill>
                <a:latin typeface="Montserrat"/>
              </a:rPr>
              <a:t>Pipeline / 6 opps attributed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063240"/>
            <a:ext cx="11064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 i="0">
                <a:solidFill>
                  <a:srgbClr val="F2F4F8"/>
                </a:solidFill>
                <a:latin typeface="Montserrat"/>
              </a:rPr>
              <a:t>30 tasks completed across the team this week (Aayushi 11, Felipe 11, Harish 6, 1 unassigned, 1 from a cross-listed Creative ticket). Aayushi built 11 new SFDC campaigns; Harish shipped 2 live promotional email sends (August Partner Newsletter, Open Source AI Meet Up) that together reached 983 contacts, drove 6 opportunities (1 won) and $5,863 in attributed pipeline; Felipe delivered 4 Reporting requests and 3 Audience pulls, and cleared two very old backlog tickets (66-98 business days old) along the way.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F2F4F8"/>
                </a:solidFill>
                <a:latin typeface="Montserrat"/>
              </a:rPr>
              <a:t>The average completion took 20.9 business days end-to-end this week, but that number is dominated by 6 legacy backlog items (17-98 business days old) getting closed out, not by new work missing its clock -- excluding those, the real-time average was 9.3 business days. Only 1 of 11 SFDC campaign builds landed inside its 1-2 business day SLA target (9%).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F2F4F8"/>
                </a:solidFill>
                <a:latin typeface="Montserrat"/>
              </a:rPr>
              <a:t>Two tickets remain BLOCKED for 7 and 9.5 months respectively (Zapier-LinkedIn integration; Virtual DAM Workshop NA email request) and need an owner. Aayushi's look-ahead queue is 17 of 31 upcoming tasks (55%) -- see slide 11 and the Data Hygiene recommendations on slide 17.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Asana [MOps] Intake project (search_tasks, completed_on 2026-08-20 to 2026-08-26), queried 2026-08-27. Pipeline/opps from Salesforce Campaign rollups (see slide 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Completed Tasks by Team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i="0">
                <a:solidFill>
                  <a:srgbClr val="F2F4F8"/>
                </a:solidFill>
                <a:latin typeface="Montserrat"/>
              </a:rPr>
              <a:t>Aayushi Sharma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472184"/>
            <a:ext cx="6675120" cy="256032"/>
          </a:xfrm>
          <a:prstGeom prst="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472184"/>
            <a:ext cx="6675120" cy="25603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F2F4F8"/>
                </a:solidFill>
                <a:latin typeface="Montserrat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8424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i="0">
                <a:solidFill>
                  <a:srgbClr val="F2F4F8"/>
                </a:solidFill>
                <a:latin typeface="Montserrat"/>
              </a:rPr>
              <a:t>Felipe Tencio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039112"/>
            <a:ext cx="6675120" cy="256032"/>
          </a:xfrm>
          <a:prstGeom prst="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2039112"/>
            <a:ext cx="6675120" cy="25603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98424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F2F4F8"/>
                </a:solidFill>
                <a:latin typeface="Montserrat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5117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i="0">
                <a:solidFill>
                  <a:srgbClr val="F2F4F8"/>
                </a:solidFill>
                <a:latin typeface="Montserrat"/>
              </a:rPr>
              <a:t>Harish Pandey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606040"/>
            <a:ext cx="6675120" cy="256032"/>
          </a:xfrm>
          <a:prstGeom prst="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606040"/>
            <a:ext cx="3640974" cy="25603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551176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F2F4F8"/>
                </a:solidFill>
                <a:latin typeface="Montserrat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1810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i="0">
                <a:solidFill>
                  <a:srgbClr val="F2F4F8"/>
                </a:solidFill>
                <a:latin typeface="Montserrat"/>
              </a:rPr>
              <a:t>Jennifer 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172968"/>
            <a:ext cx="6675120" cy="256032"/>
          </a:xfrm>
          <a:prstGeom prst="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3118104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F2F4F8"/>
                </a:solidFill>
                <a:latin typeface="Montserrat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2219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Montserrat"/>
              </a:rPr>
              <a:t>Team total: 30 completed  (+1 unassigned, +1 from a cross-listed Creative ticket, not shown above)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Asana [MOps] Intake, tasks completed 2026-08-20 to 2026-08-26 (includes sub-tasks and email-send milestones). Jennifer had no Asana completions this week but was actively triaging in Slack (assigning Felipe/Aayushi, investigating a Tier 2 MQL scoring gap) -- that work doesn't surface as a task count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Emails Sent Last Week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1110995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585"/>
                <a:gridCol w="1777593"/>
                <a:gridCol w="3777386"/>
                <a:gridCol w="1555394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SEND / CAMPAIGN NAME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SEND DATE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REGION / AUDIENCE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OWNER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August 2026 Partner Newsletter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Thu, Aug 20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Not set on the milestone (see gap note)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Harish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Open Source AI Meet Up - Email Send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Thu, Aug 20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Not set on the milestone (see gap note)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Harish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[DrupalCon Rotterdam] First Email Send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Tue, Aug 25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Not set on the milestone (see gap note)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Harish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Asana [MOps] Intake, completed Email-type milestone sub-tasks due 2026-08-20 to 2026-08-26. GAP: the Region/Audience field is not populated on any of these milestones in Asana -- a known data gap flagged in prior weekly reviews, not filled in this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Campaign Performance (Salesforce)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 i="0">
                <a:solidFill>
                  <a:srgbClr val="9AA8BC"/>
                </a:solidFill>
                <a:latin typeface="Montserrat"/>
              </a:rPr>
              <a:t>These are the only 2 of 59 campaigns (created/started 2026-08-20 to 2026-08-27) with actual member/response data -- the other 57 are new Q3 paid-media flights (Agentic Marketing, Source AI Cites, EDU/FinServ/NGO, Content Chaos Quiz, DrupalCamp/DAM Workshop event campaigns) that started 0-5 days ago and have zero members by design, not by neglect.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73352"/>
          <a:ext cx="11109957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1784"/>
                <a:gridCol w="1777593"/>
                <a:gridCol w="1444294"/>
                <a:gridCol w="1333195"/>
                <a:gridCol w="1333195"/>
                <a:gridCol w="999896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CAMPAIGN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CONTACTS/LEADS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RESPONSES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RESP. RATE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OPPS / WON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PIPELINE $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em_ac_August 2026 partner newsletter_2026_q3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803 / 146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949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99.9%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2 / 0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$1,554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em_promo_open_source AI Meet Up_2026_q3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180 / 1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181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4 / 1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$4,310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PERIOD TOTAL (2 campaigns with delivered sends)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983 / 147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1,130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-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6 / 1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$5,863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Salesforce SOQL on Campaign (CreatedDate/StartDate = LAST_N_DAYS:7) and CampaignMember, queried 2026-08-27. Response rate = Responses / Contacts+Leads. "Resp. Rate" &gt;100% on the AI Meet Up row reflects multiple response touches per member, not a data error.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SLA &amp; Cycle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i="0">
                <a:solidFill>
                  <a:srgbClr val="9AA8BC"/>
                </a:solidFill>
                <a:latin typeface="Montserrat"/>
              </a:rPr>
              <a:t>No clean "submission date" field exists in Asana separate from task-creation date, so cycle time (created -&gt; completed, business days) is reported as the SLA proxy, per the sla-watchdog SOP.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50" b="1" i="0">
                <a:solidFill>
                  <a:srgbClr val="3B82F6"/>
                </a:solidFill>
                <a:latin typeface="Montserrat ExtraBold"/>
              </a:rPr>
              <a:t>SFDC Campaign creations (target: 1-2 business days)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1 of 11 completed within SLA (9%) -- avg cycle time 19.0 business days.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Fastest: "Campaign Build" (Aayushi), same-day (0 bd) -- the one on-time build.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Slowest: New England Drupal Camp SFDC (51 bd, unassigned) and [Event Name] SFDC Campaign (20 bd, Aayushi).</a:t>
            </a:r>
          </a:p>
          <a:p>
            <a:pPr>
              <a:spcBef>
                <a:spcPts val="1000"/>
              </a:spcBef>
            </a:pPr>
            <a:r>
              <a:rPr sz="1450" b="1" i="0">
                <a:solidFill>
                  <a:srgbClr val="14B8A6"/>
                </a:solidFill>
                <a:latin typeface="Montserrat ExtraBold"/>
              </a:rPr>
              <a:t>Backlog clearances this week (not new-request SLA misses)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[Event Name] Post-Event Email Audience Report x2 -- 98 business days old (created April 6).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[Event Name] Pre-Event Email Audience Report -- 48 business days old (created June 15).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Gartner IT Symposium SFDC (Email-type) -- 77 business days old (created May 8).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Excluding these 4 plus 2 more &gt;=20bd outliers, real-time average cycle time was 9.3 business days across the other 23 completions.</a:t>
            </a:r>
          </a:p>
          <a:p>
            <a:pPr>
              <a:spcBef>
                <a:spcPts val="1000"/>
              </a:spcBef>
            </a:pPr>
            <a:r>
              <a:rPr sz="1450" b="1" i="0">
                <a:solidFill>
                  <a:srgbClr val="9AA8BC"/>
                </a:solidFill>
                <a:latin typeface="Montserrat ExtraBold"/>
              </a:rPr>
              <a:t>Rush / Late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No tickets flagged "Out of SLA/Rush = Yes" among this week's completions.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Asana [MOps] Intake created_at/completed_at, computed 2026-08-27. SLA targets per sla-watchdog SKILL.md. Business-day math excludes weekends only (no holiday calendar).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Lead Weekly Wins -- Aayushi Sharma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50" b="1" i="0">
                <a:solidFill>
                  <a:srgbClr val="14B8A6"/>
                </a:solidFill>
                <a:latin typeface="Montserrat ExtraBold"/>
              </a:rPr>
              <a:t>SFDC Campaigns Delivered (11)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Drupal Ads Carousel, Federal ABM/LinkedIn, Competitor Search (WORDPRESS), Pantheon Compete (Google) -- 4 competitive/paid-media campaign builds.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DAM Workshop NYC + DAM Workshop DC -- both event campaigns built same week.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Drupal 12 US Holiday Party, [Event Name] SFDC Campaign, New England Drupal Camp, Gartner IT Symposium (Email-type), "Campaign Build" (multi-campaign request).</a:t>
            </a:r>
          </a:p>
          <a:p>
            <a:pPr>
              <a:spcBef>
                <a:spcPts val="1000"/>
              </a:spcBef>
            </a:pPr>
            <a:r>
              <a:rPr sz="1450" b="1" i="0">
                <a:solidFill>
                  <a:srgbClr val="F59E0B"/>
                </a:solidFill>
                <a:latin typeface="Montserrat ExtraBold"/>
              </a:rPr>
              <a:t>Backlog Cleared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Gartner IT Symposium -- 77 business days overdue, closed out this week.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[Event Name] SFDC Campaign -- 20 business days overdue, closed out this week.</a:t>
            </a:r>
          </a:p>
          <a:p>
            <a:pPr>
              <a:spcBef>
                <a:spcPts val="1000"/>
              </a:spcBef>
            </a:pPr>
            <a:r>
              <a:rPr sz="1450" b="1" i="0">
                <a:solidFill>
                  <a:srgbClr val="9AA8BC"/>
                </a:solidFill>
                <a:latin typeface="Montserrat ExtraBold"/>
              </a:rPr>
              <a:t>Cross-team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Publicly thanked Felipe in #mops-team (2026-08-25) for picking up remaining Agentic/Source AI/Velocity campaigns.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Asana [MOps] Intake completions 2026-08-20 to 2026-08-26; #mops-team Slack history.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Team Performance Highlights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515258" cy="448056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8"/>
            <a:ext cx="305805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3B82F6"/>
                </a:solidFill>
                <a:latin typeface="Montserrat ExtraBold"/>
              </a:rPr>
              <a:t>Harish Pandey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305805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2 live email sends: Partner Newsletter (949 responses, $1,554 pipeline) + Open Source AI Meet Up (181 responses, 1 won opp, $4,310 pipeline).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[DrupalCon Rotterdam] first promo email sent on schedule (Aug 25).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List Upload: partner-newsletter email additions completed.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463040"/>
            <a:ext cx="3515258" cy="448056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6818" y="1664208"/>
            <a:ext cx="305805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3B82F6"/>
                </a:solidFill>
                <a:latin typeface="Montserrat ExtraBold"/>
              </a:rPr>
              <a:t>Felipe Tencio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2240280"/>
            <a:ext cx="305805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4 Reporting deliverables: Report Sign Off, Data Validation, Report Creation, Best Platform for Drupal H2 ICP Contact Report.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3 Audience pulls: Scottish Web Folk (Higher Ed), DrupalCon Rotterdam Cust/Prospect, SHSMD Speakers list.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Cleared 2 very old [Event Name] audience-report backlog items (66 and 98 business days old).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463040"/>
            <a:ext cx="3515258" cy="448056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1664208"/>
            <a:ext cx="305805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3B82F6"/>
                </a:solidFill>
                <a:latin typeface="Montserrat ExtraBold"/>
              </a:rPr>
              <a:t>Jennifer Schroback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2240280"/>
            <a:ext cx="305805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0 Asana completions this week -- she owns the 3 no-pattern types (IT/Integration, Automations|Martech, UAT), none closed this period.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Active in #mops-team: assigned Felipe/Aayushi to open campaign requests, flagged that imported leads aren't being behaviorally scored since Jul/Aug.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No task-count proxy captures this triage/investigation work -- noted rather than estimated.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Asana [MOps] Intake completions + assignments; #mops-team Slack (2026-08-25 to 08-27).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127248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461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F2F4F8"/>
                </a:solidFill>
                <a:latin typeface="Montserrat ExtraBold"/>
              </a:rPr>
              <a:t>Planning Next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9AA8BC"/>
                </a:solidFill>
                <a:latin typeface="Montserrat"/>
              </a:rPr>
              <a:t>Look-ahead period: Aug 27 - Sep 6,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Upcoming Tasks by Team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i="0">
                <a:solidFill>
                  <a:srgbClr val="F2F4F8"/>
                </a:solidFill>
                <a:latin typeface="Montserrat"/>
              </a:rPr>
              <a:t>Aayushi Sharma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472184"/>
            <a:ext cx="6675120" cy="256032"/>
          </a:xfrm>
          <a:prstGeom prst="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472184"/>
            <a:ext cx="6675120" cy="2560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F2F4F8"/>
                </a:solidFill>
                <a:latin typeface="Montserrat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8424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i="0">
                <a:solidFill>
                  <a:srgbClr val="F2F4F8"/>
                </a:solidFill>
                <a:latin typeface="Montserrat"/>
              </a:rPr>
              <a:t>Unassigned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039112"/>
            <a:ext cx="6675120" cy="256032"/>
          </a:xfrm>
          <a:prstGeom prst="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2039112"/>
            <a:ext cx="2355924" cy="2560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98424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F2F4F8"/>
                </a:solidFill>
                <a:latin typeface="Montserrat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5117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i="0">
                <a:solidFill>
                  <a:srgbClr val="F2F4F8"/>
                </a:solidFill>
                <a:latin typeface="Montserrat"/>
              </a:rPr>
              <a:t>Felipe Tencio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606040"/>
            <a:ext cx="6675120" cy="256032"/>
          </a:xfrm>
          <a:prstGeom prst="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606040"/>
            <a:ext cx="1570616" cy="2560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551176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F2F4F8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1810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i="0">
                <a:solidFill>
                  <a:srgbClr val="F2F4F8"/>
                </a:solidFill>
                <a:latin typeface="Montserrat"/>
              </a:rPr>
              <a:t>Harish Pandey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172968"/>
            <a:ext cx="6675120" cy="256032"/>
          </a:xfrm>
          <a:prstGeom prst="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34640" y="3172968"/>
            <a:ext cx="1177962" cy="2560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3118104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F2F4F8"/>
                </a:solidFill>
                <a:latin typeface="Montserrat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8503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i="0">
                <a:solidFill>
                  <a:srgbClr val="F2F4F8"/>
                </a:solidFill>
                <a:latin typeface="Montserrat"/>
              </a:rPr>
              <a:t>Jennifer 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739896"/>
            <a:ext cx="6675120" cy="256032"/>
          </a:xfrm>
          <a:prstGeom prst="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68503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F2F4F8"/>
                </a:solidFill>
                <a:latin typeface="Montserrat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89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Montserrat"/>
              </a:rPr>
              <a:t>Total Capacity Required: 31 Tasks  (+1 from a non-MOPS-team assignee, not shown above)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Asana [MOps] Intake, open tasks due 2026-08-27 to 2026-09-06, queried 2026-08-27. Aayushi carries 55% of all upcoming work; 6 tasks (19%) have no owner at 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Upcoming Email Sends Next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 i="0">
                <a:solidFill>
                  <a:srgbClr val="9AA8BC"/>
                </a:solidFill>
                <a:latin typeface="Montserrat"/>
              </a:rPr>
              <a:t>⚠ Same-day flag: DrupalCamp Italy Email 1 and Partner Summer Party London Email 3 both send Sep 3 from Harish -- different events, but worth a quick check that audiences don't overlap and capacity isn't double-booked.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73352"/>
          <a:ext cx="11109959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3984"/>
                <a:gridCol w="1555394"/>
                <a:gridCol w="3555187"/>
                <a:gridCol w="1555394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SEND / CAMPAIGN NAME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SEND DATE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REGION / AUDIENCE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OWNER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[NAME] Registration Email 1 (webinar TBD)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Thu, Aug 27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Not set (placeholder name -- see gap note)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Aayushi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[DrupalCon Rotterdam] Partner Summit Email 2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Wed, Sep 2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Not set on the milestone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Harish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DrupalCamp Italy Wrap Around Event Email 1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Thu, Sep 3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Not set on the milestone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Harish  ⚠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Partner Summer Party - London Email 3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Thu, Sep 3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Not set on the milestone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Harish  ⚠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Asana [MOps] Intake, incomplete Email-type milestone sub-tasks due 2026-08-27 to 2026-09-06. GAP: Region/Audience not populated on any milestone (same gap as slide 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Priority Pipeline -- Aayushi Sharma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i="0">
                <a:solidFill>
                  <a:srgbClr val="9AA8BC"/>
                </a:solidFill>
                <a:latin typeface="Montserrat"/>
              </a:rPr>
              <a:t>17 of 31 upcoming team tasks (55%) -- the heaviest load on the team by a wide margin.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50" b="1" i="0">
                <a:solidFill>
                  <a:srgbClr val="F59E0B"/>
                </a:solidFill>
                <a:latin typeface="Montserrat ExtraBold"/>
              </a:rPr>
              <a:t>Due Aug 27 (today) -- 2 still marked "Require Information/Description"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Henry Stewart DAM NY 2026 SFDC Campaign -- awaiting requester info, due today.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MAICON SFDC Campaign -- form largely blank, due today.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BPFD Intentsify SFDC Campaign, Campaign creation, [NAME] Registration Email 2 -- also due today.</a:t>
            </a:r>
          </a:p>
          <a:p>
            <a:pPr>
              <a:spcBef>
                <a:spcPts val="1000"/>
              </a:spcBef>
            </a:pPr>
            <a:r>
              <a:rPr sz="1450" b="1" i="0">
                <a:solidFill>
                  <a:srgbClr val="3B82F6"/>
                </a:solidFill>
                <a:latin typeface="Montserrat ExtraBold"/>
              </a:rPr>
              <a:t>Due Sep 1-4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Content Marketing World, DigiCol26, Connect 2026 SFDC campaigns.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Drupal Canvas and Agentic Content: Email 1 Promo + Webinar Email Creation.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DrupalCamp Colorado, DAM Workshop NYC/DC pre-event marketing emails.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Asana [MOps] Intake, open tasks assigned to Aayushi Sharma due 2026-08-27 to 2026-09-06.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Upcoming Strategic Priorities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515258" cy="448056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8"/>
            <a:ext cx="305805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3B82F6"/>
                </a:solidFill>
                <a:latin typeface="Montserrat ExtraBold"/>
              </a:rPr>
              <a:t>Harish Pandey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305805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3 email sends queued: Partner Summit Email 2 (Sep 2), DrupalCamp Italy Email 1 (Sep 3), Partner Summer Party London Email 3 (Sep 3, same-day as Italy send).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463040"/>
            <a:ext cx="3515258" cy="448056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6818" y="1664208"/>
            <a:ext cx="305805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3B82F6"/>
                </a:solidFill>
                <a:latin typeface="Montserrat ExtraBold"/>
              </a:rPr>
              <a:t>Felipe Tencio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2240280"/>
            <a:ext cx="305805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4 audience/pre-event report pulls due Aug 28-Sep 2: [Event Name] Pre-Event Report (x2), DAM Workshop NYC Pre-Event Report, Partner Summit organic social request (cross-listed, not MOPS-owned).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463040"/>
            <a:ext cx="3515258" cy="448056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1664208"/>
            <a:ext cx="305805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3B82F6"/>
                </a:solidFill>
                <a:latin typeface="Montserrat ExtraBold"/>
              </a:rPr>
              <a:t>Unassigned (6 tasks, needs owner)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2240280"/>
            <a:ext cx="305805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Drupal Canvas and Agentic Content: MOPs Add CID to Form, Create Webinar Landing Page (due Aug 28); Push Page Live, Test Form (due Aug 31).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F2F4F8"/>
                </a:solidFill>
                <a:latin typeface="Montserrat"/>
              </a:rPr>
              <a:t>-  [Event Name] Field Update, [Event Name] Sales Emails (due Sep 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Asana [MOps] Intake, open tasks due 2026-08-27 to 2026-09-06, queried 2026-08-27.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Active Sub-Projects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1110995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/>
                <a:gridCol w="6888175"/>
                <a:gridCol w="1999792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SUB-CATEGORY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CORE ACTIVITY THIS PERIOD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STATUS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SFDC &amp; UTM Campaigns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11 built this retro period; 8 more queued for look-ahead (Henry Stewart DAM NY, MAICON, BPFD Intentsify, Content Marketing World, DigiCol26, Connect 2026, +2)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C55E"/>
                          </a:solidFill>
                          <a:latin typeface="Montserrat"/>
                        </a:rPr>
                        <a:t>ON TRACK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Email Requests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3 sends delivered this period (983 contacts); 4 sends queued for next period incl. a same-day pair on Sep 3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B82F6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Webinar Requests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No pure Webinar Request-type tickets closed or due this period -- Drupal Canvas/Agentic webinar email creation is in progress under Email/SFDC types instead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A855F7"/>
                          </a:solidFill>
                          <a:latin typeface="Montserrat"/>
                        </a:rPr>
                        <a:t>READY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List Uploads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1 completed (partner newsletter list addition); none queued for next period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C55E"/>
                          </a:solidFill>
                          <a:latin typeface="Montserrat"/>
                        </a:rPr>
                        <a:t>ON TRACK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Audiences / Reporting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7 completed (4 Reporting, 3 Audience pulls, incl. 2 items 66-98 business days overdue); 4 more queued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B82F6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Asana [MOps] Intake Project Type field, retro + look-ahead windows, queried 2026-08-27.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Incomplete Tickets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1110995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788"/>
                <a:gridCol w="1444294"/>
                <a:gridCol w="4888382"/>
                <a:gridCol w="1666494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TICKET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ASSIGNEE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MISSING INFO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4B8A6"/>
                          </a:solidFill>
                          <a:latin typeface="Montserrat"/>
                        </a:rPr>
                        <a:t>PRIORITY</a:t>
                      </a:r>
                    </a:p>
                  </a:txBody>
                  <a:tcPr marT="25400" marB="25400" anchor="ctr">
                    <a:solidFill>
                      <a:srgbClr val="1B2840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Zapier integration - LinkedIn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BLOCKED 7 months (created Jan 12) -- SFDC campaign ID and 3 lead-gen forms on file, no stated blocker in Notes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Virtual DAM Workshop NA - Email Request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BLOCKED 9.5 months (created Nov 10) -- creative + planning doc linked, no stated blocker in Notes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Henry Stewart DAM NY 2026 SFDC Campaign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Aayushi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Campaign Currency, Region, Cost, Product Cloud Interest all blank on the form; due today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MAICON SFDC Campaign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Aayushi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Entire request form blank except name; due today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DigiCol26 SFDC Campaign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Aayushi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Entire request form blank except a partial notes string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NEEDS INFO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Gartner IT Symposium Post-Event Marketing Emails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Aayushi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Awaiting requester copy/direction + banner asset for subtask expansion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NEEDS INFO</a:t>
                      </a:r>
                    </a:p>
                  </a:txBody>
                  <a:tcPr marT="25400" marB="25400" anchor="ctr">
                    <a:solidFill>
                      <a:srgbClr val="111A2C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Optimize Starter upon ACP Renewal - Email Cadence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Karen Plant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2F4F8"/>
                          </a:solidFill>
                          <a:latin typeface="Montserrat"/>
                        </a:rPr>
                        <a:t>Awaiting confirmed ACP-renewal report/segment from Nate; open since 2025-08-07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NEEDS INFO</a:t>
                      </a:r>
                    </a:p>
                  </a:txBody>
                  <a:tcPr marT="25400" marB="25400" anchor="ctr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Asana [MOps] Intake, MOPS-Status = Blocked (2) or Require Information/Description (9, top 5 shown), queried 2026-08-27. "Missing Info" quoted from each task's own Notes/form fields.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Data Hygiene &amp;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50" b="1" i="0">
                <a:solidFill>
                  <a:srgbClr val="F59E0B"/>
                </a:solidFill>
                <a:latin typeface="Montserrat ExtraBold"/>
              </a:rPr>
              <a:t>Flagged this period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Naming drift: none of the 59 campaigns created/started this period follow the Region_Channel_Product_Description_YYYY-Qn convention -- 3 different legacy patterns in active use (em_ac_..., ev_conference_dc_..., Social_WW_src_...). Advisory, not a hard fail.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2 tickets BLOCKED with no stated reason in Notes for 7 and 9.5 months (Zapier-LinkedIn integration; Virtual DAM Workshop NA email).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Jira MOPS-659156 (Click-ID fields not flowing Campaign Member -&gt; Lead/Contact) remains Need Info/Blocked, unassigned action beyond Jennifer -- recurring across multiple weekly reviews.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Email-send milestones (5 this period) carry no Region/Audience value in Asana -- a gap flagged since 2026-07-13 and still open.</a:t>
            </a:r>
          </a:p>
          <a:p>
            <a:pPr>
              <a:spcBef>
                <a:spcPts val="1000"/>
              </a:spcBef>
            </a:pPr>
            <a:r>
              <a:rPr sz="1450" b="1" i="0">
                <a:solidFill>
                  <a:srgbClr val="14B8A6"/>
                </a:solidFill>
                <a:latin typeface="Montserrat ExtraBold"/>
              </a:rPr>
              <a:t>Recommendations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1. Resolve the 2 stale BLOCKED tickets (7 and 9.5 months old) -- clears the oldest items on the board and unblocks Priyanka's LinkedIn lead-gen Zap and the DAM Workshop NA send.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2. Rebalance Aayushi's 17-task look-ahead load (55% of all upcoming work) -- moving even 3-4 SFDC campaign builds to Harish or Felipe would cut it to ~13 and reduce risk on the 2 Aug-27-dated tickets still marked Require Info.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3. Assign the 6 unassigned look-ahead tasks (19% of upcoming work), especially the 4 Drupal Canvas/Agentic Content MOPs form-and-landing-page items due Aug 28-31 -- unowned work this close to due date is a launch risk.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Source: Salesforce Campaign naming audit (this period's 59 campaigns); Asana MOPS-Status field; Jira MOPS-659156; Asana email-milestone custom fields. Queried 2026-08-27.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F2F4F8"/>
                </a:solidFill>
                <a:latin typeface="Montserrat ExtraBold"/>
              </a:rPr>
              <a:t>Questions?</a:t>
            </a:r>
          </a:p>
          <a:p>
            <a:pPr>
              <a:spcBef>
                <a:spcPts val="1000"/>
              </a:spcBef>
            </a:pPr>
            <a:r>
              <a:rPr sz="1900" b="0" i="0">
                <a:solidFill>
                  <a:srgbClr val="14B8A6"/>
                </a:solidFill>
                <a:latin typeface="Montserrat"/>
              </a:rPr>
              <a:t>Thank you</a:t>
            </a:r>
          </a:p>
          <a:p>
            <a:pPr>
              <a:spcBef>
                <a:spcPts val="2200"/>
              </a:spcBef>
            </a:pPr>
            <a:r>
              <a:rPr sz="1300" b="0" i="0">
                <a:solidFill>
                  <a:srgbClr val="9AA8BC"/>
                </a:solidFill>
                <a:latin typeface="Montserrat"/>
              </a:rPr>
              <a:t>Next Review: September 3, 2026 | Lead: Aayushi Sharma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Montserrat"/>
              </a:rPr>
              <a:t>APPENDIX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94944"/>
            <a:ext cx="50292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955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4F8"/>
                </a:solidFill>
                <a:latin typeface="Montserrat ExtraBold"/>
              </a:rPr>
              <a:t>Data &amp; Image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50" b="1" i="0">
                <a:solidFill>
                  <a:srgbClr val="3B82F6"/>
                </a:solidFill>
                <a:latin typeface="Montserrat ExtraBold"/>
              </a:rPr>
              <a:t>Connectors queried (2026-08-27, this run)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Asana MCP -- [MOps] Intake project (gid 1205660951274722): search_tasks for retro completions, look-ahead due tasks, and Email-type milestones (sent + upcoming).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Salesforce MCP -- soqlQuery on Campaign (CreatedDate/StartDate = LAST_N_DAYS:7) and CampaignMember (GROUP BY CampaignId, Status).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Atlassian (Jira) MCP -- searchJiraIssuesUsingJql, project = MOPS, created or updated since 2026-08-20.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Slack MCP -- slack_read_channel on #mops-team, for the Lead Weekly Wins / Team Highlights narrative context (not a data source for counts).</a:t>
            </a:r>
          </a:p>
          <a:p>
            <a:pPr>
              <a:spcBef>
                <a:spcPts val="1000"/>
              </a:spcBef>
            </a:pPr>
            <a:r>
              <a:rPr sz="1450" b="1" i="0">
                <a:solidFill>
                  <a:srgbClr val="F59E0B"/>
                </a:solidFill>
                <a:latin typeface="Montserrat ExtraBold"/>
              </a:rPr>
              <a:t>Known gaps -- stated plainly, not guessed around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No clean "submission date" field distinct from Asana task-creation date -- cycle time (created-&gt;completed) used as the SLA proxy throughout, per sla-watchdog SOP.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Region/Audience not populated on any Email-type milestone sub-task (5 of 5 checked this period).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Google Slides upload not attempted this run -- see the #mops-team post and decisions/actions.md for why (known base64 output-token wall, confirmed 4 consecutive weeks: 2026-07-23, 07-30, 08-13, 08-20).</a:t>
            </a:r>
          </a:p>
          <a:p>
            <a:pPr>
              <a:spcBef>
                <a:spcPts val="1000"/>
              </a:spcBef>
            </a:pPr>
            <a:r>
              <a:rPr sz="1450" b="1" i="0">
                <a:solidFill>
                  <a:srgbClr val="9AA8BC"/>
                </a:solidFill>
                <a:latin typeface="Montserrat ExtraBold"/>
              </a:rPr>
              <a:t>Images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F2F4F8"/>
                </a:solidFill>
                <a:latin typeface="Montserrat"/>
              </a:rPr>
              <a:t>-  No external images used -- all charts/tables are native PowerPoint shapes built from the queried data above; no attribution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9AA8BC"/>
                </a:solidFill>
                <a:latin typeface="Montserrat"/>
              </a:rPr>
              <a:t>Deck built locally: outputs/weekly-review/MOps_Weekly_Review_2026-08-27.pptx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