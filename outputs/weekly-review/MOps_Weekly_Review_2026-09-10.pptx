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5F3EF"/>
                </a:solidFill>
                <a:latin typeface="Century Gothic"/>
              </a:rPr>
              <a:t>MOps Weekly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4B8A6"/>
                </a:solidFill>
                <a:latin typeface="Century Gothic"/>
              </a:rPr>
              <a:t>Team Performance, Campaign Results &amp; Strategic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A93A3"/>
                </a:solidFill>
                <a:latin typeface="Century Gothic"/>
              </a:rPr>
              <a:t>September 10, 2026 | Project Review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entury Gothic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35808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5F3EF"/>
                </a:solidFill>
                <a:latin typeface="Century Gothic"/>
              </a:rPr>
              <a:t>Reviewing Last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A93A3"/>
                </a:solidFill>
                <a:latin typeface="Century Gothic"/>
              </a:rPr>
              <a:t>Sep 3 – Sep 9,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entury Gothic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>Source: Asana [MOps] Intake, live query 2026-09-10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B8A6"/>
                </a:solidFill>
                <a:latin typeface="Century Gothic"/>
              </a:rPr>
              <a:t>33 tasks 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5F3EF"/>
                </a:solidFill>
                <a:latin typeface="Century Gothic"/>
              </a:rPr>
              <a:t>33 tasks shipped · 27 new SFDC campaigns launched, 2 already showing member activity (287 contacts/responses) · 0 top-level tickets closed this period, so SLA can't be scored against a full ticket this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3EF"/>
                </a:solidFill>
                <a:latin typeface="Century Gothic"/>
              </a:rPr>
              <a:t>This was a build week, not a close-out week: every one of the 33 completions was a sub-task inside a multi-step campaign or event already in flight (Partner Master Class webinar, 5 new SFDC campaign builds, 2 list uploads) rather than a finished top-level ticket — so this period has no on-time-SLA score (see slide 7). Five new SFDC campaigns and 2 event campaigns from the period are already live; two are showing real engagement (287 contacts/responses combined), the rest are 0-6 days old and too new to judge. Aayushi carries 18 of the 44 look-ahead tasks — watch that load into next week.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entury Gothic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Completed Tasks by Team 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>Source: Asana search_tasks, completed_on Sep 3–9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77924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5F3EF"/>
                </a:solidFill>
                <a:latin typeface="Century Gothic"/>
              </a:rPr>
              <a:t>Harish Pandey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773936"/>
            <a:ext cx="6492240" cy="246888"/>
          </a:xfrm>
          <a:prstGeom prst="roundRect">
            <a:avLst>
              <a:gd name="adj" fmla="val 50000"/>
            </a:avLst>
          </a:prstGeom>
          <a:solidFill>
            <a:srgbClr val="1C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03120" y="1773936"/>
            <a:ext cx="6492240" cy="24688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167792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F3EF"/>
                </a:solidFill>
                <a:latin typeface="Century Gothic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63724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5F3EF"/>
                </a:solidFill>
                <a:latin typeface="Century Gothic"/>
              </a:rPr>
              <a:t>Aayushi Sharma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2459736"/>
            <a:ext cx="6492240" cy="246888"/>
          </a:xfrm>
          <a:prstGeom prst="roundRect">
            <a:avLst>
              <a:gd name="adj" fmla="val 50000"/>
            </a:avLst>
          </a:prstGeom>
          <a:solidFill>
            <a:srgbClr val="1C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03120" y="2459736"/>
            <a:ext cx="4637314" cy="24688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236372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F3EF"/>
                </a:solidFill>
                <a:latin typeface="Century Gothic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49524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5F3EF"/>
                </a:solidFill>
                <a:latin typeface="Century Gothic"/>
              </a:rPr>
              <a:t>Felipe Tencio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3145536"/>
            <a:ext cx="6492240" cy="246888"/>
          </a:xfrm>
          <a:prstGeom prst="roundRect">
            <a:avLst>
              <a:gd name="adj" fmla="val 50000"/>
            </a:avLst>
          </a:prstGeom>
          <a:solidFill>
            <a:srgbClr val="1C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03120" y="3145536"/>
            <a:ext cx="3709851" cy="24688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8512" y="304952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F3EF"/>
                </a:solidFill>
                <a:latin typeface="Century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35324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5F3EF"/>
                </a:solidFill>
                <a:latin typeface="Century Gothic"/>
              </a:rPr>
              <a:t>Jennifer 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3831336"/>
            <a:ext cx="6492240" cy="246888"/>
          </a:xfrm>
          <a:prstGeom prst="roundRect">
            <a:avLst>
              <a:gd name="adj" fmla="val 50000"/>
            </a:avLst>
          </a:prstGeom>
          <a:solidFill>
            <a:srgbClr val="1C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8512" y="373532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F3EF"/>
                </a:solidFill>
                <a:latin typeface="Century Gothic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A93A3"/>
                </a:solidFill>
                <a:latin typeface="Century Gothic"/>
              </a:rPr>
              <a:t>+ 17 completions by cross-team collaborators (web/creative stakeholders on shared sub-tasks) and unassigned placeholder tasks — not counted against MOPS core team capacity.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entury Gothic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Emails Sent Last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>Source: Asana milestone sub-tasks, Project Type = Email, due_on Sep 3–9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2194560"/>
                <a:gridCol w="246888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  <a:latin typeface="Century Gothic"/>
                        </a:rPr>
                        <a:t>SEND / CAMPAIGN NAME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  <a:latin typeface="Century Gothic"/>
                        </a:rPr>
                        <a:t>SEND DATE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  <a:latin typeface="Century Gothic"/>
                        </a:rPr>
                        <a:t>REGION/AUDIENCE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5F3EF"/>
                          </a:solidFill>
                          <a:latin typeface="Century Gothic"/>
                        </a:rPr>
                        <a:t>DAM Workshop Boston — Email Send 03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5F3EF"/>
                          </a:solidFill>
                          <a:latin typeface="Century Gothic"/>
                        </a:rPr>
                        <a:t>Sep 7, 2026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5F3EF"/>
                          </a:solidFill>
                          <a:latin typeface="Century Gothic"/>
                        </a:rPr>
                        <a:t>Region/Audience not set on task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5F3EF"/>
                          </a:solidFill>
                          <a:latin typeface="Century Gothic"/>
                        </a:rPr>
                        <a:t>London Partner Party — Email 3 Send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5F3EF"/>
                          </a:solidFill>
                          <a:latin typeface="Century Gothic"/>
                        </a:rPr>
                        <a:t>Sep 4, 2026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5F3EF"/>
                          </a:solidFill>
                          <a:latin typeface="Century Gothic"/>
                        </a:rPr>
                        <a:t>Region/Audience not set on task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2918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F59E0B"/>
                </a:solidFill>
                <a:latin typeface="Century Gothic"/>
              </a:rPr>
              <a:t>Region/Audience is not populated on either task — same gap flagged in prior weeks' reviews.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entury Gothic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Campaign Performance (Salesforce)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>Source: SOQL — Campaign WHERE CreatedDate=LAST_N_DAYS:7 OR StartDate=LAST_N_DAYS:7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110642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1371600"/>
                <a:gridCol w="1371600"/>
                <a:gridCol w="1280160"/>
                <a:gridCol w="137160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B8A6"/>
                          </a:solidFill>
                          <a:latin typeface="Century Gothic"/>
                        </a:rPr>
                        <a:t>CAMPAIGN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B8A6"/>
                          </a:solidFill>
                          <a:latin typeface="Century Gothic"/>
                        </a:rPr>
                        <a:t>MEMBERS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B8A6"/>
                          </a:solidFill>
                          <a:latin typeface="Century Gothic"/>
                        </a:rPr>
                        <a:t>RESPONSES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B8A6"/>
                          </a:solidFill>
                          <a:latin typeface="Century Gothic"/>
                        </a:rPr>
                        <a:t>RESP. RATE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B8A6"/>
                          </a:solidFill>
                          <a:latin typeface="Century Gothic"/>
                        </a:rPr>
                        <a:t>OPPS/PIPELINE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em_webinar_dxo_26_q3_partner_0_Acquia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286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286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100%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0 / $0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evt_webinar_dxo_26_q3_partner_0_DAM Updates Pa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1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1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100%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0 / $0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28803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entury Gothic"/>
              </a:rPr>
              <a:t>Period roll-up: 27 campaigns created/started this period · 287 contacts/responses · 0 opportunities · $0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5F3EF"/>
                </a:solidFill>
                <a:latin typeface="Century Gothic"/>
              </a:rPr>
              <a:t>The other 25 campaigns from this period show 0 members/responses — all are 0-8 days old (created/started this week), so this reads as "too new to have activity" rather than a problem. See slide 17 for the 2 that are old enough to actually flag.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entury Gothic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SLA &amp; Cycle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>Source: Asana search_tasks — parent/is_subtask fields, 2026-09-10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entury Gothic"/>
              </a:rPr>
              <a:t>No top-level [MOPs] Intake tickets were completed this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3EF"/>
                </a:solidFill>
                <a:latin typeface="Century Gothic"/>
              </a:rPr>
              <a:t>All 33 completions this period were sub-tasks inside campaigns/events opened in prior periods — the on-time-SLA metric (created→completed vs. the per-type SLA clock) needs a completed top-level ticket to score against, so there is nothing to compute this week. This is the same top-level-vs-subtask measurement question flagged in the 2026-09-03 run as still open with Jennifer/Aayushi. No rush/late flags to report either, for the same reason. Recommend confirming with Jennifer whether subtask-level cycle time (e.g. campaign-build steps) should get its own SLA definition rather than borrowing the ticket-level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entury Gothic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Lead Weekly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>Aayushi Sharma —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64240" cy="1280160"/>
          </a:xfrm>
          <a:prstGeom prst="roundRect">
            <a:avLst>
              <a:gd name="adj" fmla="val 4000"/>
            </a:avLst>
          </a:prstGeom>
          <a:solidFill>
            <a:srgbClr val="152033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82F6"/>
                </a:solidFill>
                <a:latin typeface="Century Gothic"/>
              </a:rPr>
              <a:t>Win 1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5F3EF"/>
                </a:solidFill>
                <a:latin typeface="Century Gothic"/>
              </a:rPr>
              <a:t>5 SFDC campaign builds shipped this week across FOST Paris, OnDAM Paris, Connect 2026, DigiCol26, and DrupalCon Rotterdam — the backbone of Q4 event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11064240" cy="1280160"/>
          </a:xfrm>
          <a:prstGeom prst="roundRect">
            <a:avLst>
              <a:gd name="adj" fmla="val 4000"/>
            </a:avLst>
          </a:prstGeom>
          <a:solidFill>
            <a:srgbClr val="152033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82F6"/>
                </a:solidFill>
                <a:latin typeface="Century Gothic"/>
              </a:rPr>
              <a:t>Win 2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5F3EF"/>
                </a:solidFill>
                <a:latin typeface="Century Gothic"/>
              </a:rPr>
              <a:t>Partner Master Class webinar moved through 12 build steps in a single week (landing page live, form tested, banner requested, audience selected) — on track for its Sep 14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11064240" cy="1280160"/>
          </a:xfrm>
          <a:prstGeom prst="roundRect">
            <a:avLst>
              <a:gd name="adj" fmla="val 4000"/>
            </a:avLst>
          </a:prstGeom>
          <a:solidFill>
            <a:srgbClr val="152033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82F6"/>
                </a:solidFill>
                <a:latin typeface="Century Gothic"/>
              </a:rPr>
              <a:t>Win 3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5F3EF"/>
                </a:solidFill>
                <a:latin typeface="Century Gothic"/>
              </a:rPr>
              <a:t>287 contacts/responses logged this period on the two campaigns already sending (em_webinar_dxo Acquia partner send + DAM Updates Partner Master Class Zoom webinar).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entury Gothic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Team Performance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>Non-lead 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394960" cy="2377440"/>
          </a:xfrm>
          <a:prstGeom prst="roundRect">
            <a:avLst>
              <a:gd name="adj" fmla="val 4000"/>
            </a:avLst>
          </a:prstGeom>
          <a:solidFill>
            <a:srgbClr val="152033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82F6"/>
                </a:solidFill>
                <a:latin typeface="Century Gothic"/>
              </a:rPr>
              <a:t>Harish Pandey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5F3EF"/>
                </a:solidFill>
                <a:latin typeface="Century Gothic"/>
              </a:rPr>
              <a:t>Cleared 7 completions incl. 3 SFDC campaign builds (FOST Paris, OnDAM Paris, DrupalCon Rotterdam)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5F3EF"/>
                </a:solidFill>
                <a:latin typeface="Century Gothic"/>
              </a:rPr>
              <a:t>Carries 10 of 44 look-ahead items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554480"/>
            <a:ext cx="5394960" cy="2377440"/>
          </a:xfrm>
          <a:prstGeom prst="roundRect">
            <a:avLst>
              <a:gd name="adj" fmla="val 4000"/>
            </a:avLst>
          </a:prstGeom>
          <a:solidFill>
            <a:srgbClr val="152033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6916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82F6"/>
                </a:solidFill>
                <a:latin typeface="Century Gothic"/>
              </a:rPr>
              <a:t>Felipe Tencio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5F3EF"/>
                </a:solidFill>
                <a:latin typeface="Century Gothic"/>
              </a:rPr>
              <a:t>4 completions, all audience/list work (Atlanta Tech Week, Fintech Summit MX, DrupalCamp Italy)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5F3EF"/>
                </a:solidFill>
                <a:latin typeface="Century Gothic"/>
              </a:rPr>
              <a:t>7 look-ahead audience-report items 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entury Gothic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3580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5F3EF"/>
                </a:solidFill>
                <a:latin typeface="Century Gothic"/>
              </a:rPr>
              <a:t>Planning 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A93A3"/>
                </a:solidFill>
                <a:latin typeface="Century Gothic"/>
              </a:rPr>
              <a:t>Sep 10 – Sep 21,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entury Gothic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Upcoming Tasks by Team 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>Source: Asana search_tasks, due_on Sep 10–21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77924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5F3EF"/>
                </a:solidFill>
                <a:latin typeface="Century Gothic"/>
              </a:rPr>
              <a:t>Aayushi Sharma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773936"/>
            <a:ext cx="6492240" cy="246888"/>
          </a:xfrm>
          <a:prstGeom prst="roundRect">
            <a:avLst>
              <a:gd name="adj" fmla="val 50000"/>
            </a:avLst>
          </a:prstGeom>
          <a:solidFill>
            <a:srgbClr val="1C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03120" y="1773936"/>
            <a:ext cx="6492240" cy="24688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167792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F3EF"/>
                </a:solidFill>
                <a:latin typeface="Century Gothic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63724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5F3EF"/>
                </a:solidFill>
                <a:latin typeface="Century Gothic"/>
              </a:rPr>
              <a:t>Harish Pandey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2459736"/>
            <a:ext cx="6492240" cy="246888"/>
          </a:xfrm>
          <a:prstGeom prst="roundRect">
            <a:avLst>
              <a:gd name="adj" fmla="val 50000"/>
            </a:avLst>
          </a:prstGeom>
          <a:solidFill>
            <a:srgbClr val="1C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03120" y="2459736"/>
            <a:ext cx="3606800" cy="24688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236372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F3EF"/>
                </a:solidFill>
                <a:latin typeface="Century Gothic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49524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5F3EF"/>
                </a:solidFill>
                <a:latin typeface="Century Gothic"/>
              </a:rPr>
              <a:t>Felipe Tencio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3145536"/>
            <a:ext cx="6492240" cy="246888"/>
          </a:xfrm>
          <a:prstGeom prst="roundRect">
            <a:avLst>
              <a:gd name="adj" fmla="val 50000"/>
            </a:avLst>
          </a:prstGeom>
          <a:solidFill>
            <a:srgbClr val="1C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03120" y="3145536"/>
            <a:ext cx="2524760" cy="24688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8512" y="304952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F3EF"/>
                </a:solidFill>
                <a:latin typeface="Century Gothic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35324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5F3EF"/>
                </a:solidFill>
                <a:latin typeface="Century Gothic"/>
              </a:rPr>
              <a:t>Jennifer 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3831336"/>
            <a:ext cx="6492240" cy="246888"/>
          </a:xfrm>
          <a:prstGeom prst="roundRect">
            <a:avLst>
              <a:gd name="adj" fmla="val 50000"/>
            </a:avLst>
          </a:prstGeom>
          <a:solidFill>
            <a:srgbClr val="1C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8512" y="373532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F3EF"/>
                </a:solidFill>
                <a:latin typeface="Century Gothic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F3EF"/>
                </a:solidFill>
                <a:latin typeface="Century Gothic"/>
              </a:rPr>
              <a:t>Total Capacity Required: 44 Tasks  (incl. 9 cross-team/unassigned items not on this chart)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entury Gothic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Upcoming Email Sends 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>Source: Asana milestone sub-tasks, Project Type = Email, due_on Sep 10–21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/>
                <a:gridCol w="2011680"/>
                <a:gridCol w="24688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B8A6"/>
                          </a:solidFill>
                          <a:latin typeface="Century Gothic"/>
                        </a:rPr>
                        <a:t>SEND / CAMPAIGN NAME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B8A6"/>
                          </a:solidFill>
                          <a:latin typeface="Century Gothic"/>
                        </a:rPr>
                        <a:t>SEND DATE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B8A6"/>
                          </a:solidFill>
                          <a:latin typeface="Century Gothic"/>
                        </a:rPr>
                        <a:t>REGION/AUDIENCE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Webinar w/ Hounder &amp; LADWP — Email Invite 2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Sep 10, 2026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Region/Audience not set on task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Partner Summer Party (London) — Email 4 Send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Sep 11, 2026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Region/Audience not set on task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Drupal Canvas/Agentic Content — Email 2 Promo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Sep 11, 2026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Region/Audience not set on task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DAM New Features Webinar — Registration Email Send 2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Sep 15, 2026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Region/Audience not set on task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DAM New Features Webinar — Registration Email Send 3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Sep 15, 2026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Region/Audience not set on task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Drupal Canvas/Agentic Content — Email 3 Promo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Sep 14, 2026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Region/Audience not set on task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DrupalCamp Italy Wrap Around — Email 1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Sep 17, 2026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Region/Audience not set on task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Webinar w/ Hounder &amp; LADWP — Email Invite 3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Sep 17, 2026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Region/Audience not set on task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DrupalCon Rotterdam Partner Summit — Email 3 Send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Sep 16, 2026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Region/Audience not set on task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entury Gothic"/>
              </a:rPr>
              <a:t>Flagged clashes:</a:t>
            </a:r>
          </a:p>
          <a:p>
            <a:pPr algn="l"/>
            <a:r>
              <a:rPr sz="1100" b="0" i="0">
                <a:solidFill>
                  <a:srgbClr val="F59E0B"/>
                </a:solidFill>
                <a:latin typeface="Century Gothic"/>
              </a:rPr>
              <a:t>• Sep 11: London Partner Party Email 4 + Drupal Canvas Email 2 Promo — same day, different campaigns (audience field blank, can't confirm true overlap)</a:t>
            </a:r>
          </a:p>
          <a:p>
            <a:pPr algn="l"/>
            <a:r>
              <a:rPr sz="1100" b="0" i="0">
                <a:solidFill>
                  <a:srgbClr val="F59E0B"/>
                </a:solidFill>
                <a:latin typeface="Century Gothic"/>
              </a:rPr>
              <a:t>• Sep 15: DAM New Features Webinar Registration Sends 2 AND 3 both due the same day — looks like a scheduling inconsistency within the same campaign, worth a sanity check with Aayushi</a:t>
            </a:r>
          </a:p>
          <a:p>
            <a:pPr algn="l"/>
            <a:r>
              <a:rPr sz="1100" b="0" i="0">
                <a:solidFill>
                  <a:srgbClr val="F59E0B"/>
                </a:solidFill>
                <a:latin typeface="Century Gothic"/>
              </a:rPr>
              <a:t>• Sep 17: DrupalCamp Italy Email 1 + Hounder/LADWP Webinar Email Invite 3 — same day, different campaigns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entury Gothic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Priority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>Aayushi Sharma —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52033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82F6"/>
                </a:solidFill>
                <a:latin typeface="Century Gothic"/>
              </a:rPr>
              <a:t>Aayushi Sharma (lead)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5F3EF"/>
                </a:solidFill>
                <a:latin typeface="Century Gothic"/>
              </a:rPr>
              <a:t>18 of 44 look-ahead tasks — heaviest load again this cycle; DAM New Features Webinar registration sends + DigiCol26 emails are the near-term crunch (Sep 15-16).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entury Gothic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Upcoming Strategic Priorities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>Non-lead 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394960" cy="2377440"/>
          </a:xfrm>
          <a:prstGeom prst="roundRect">
            <a:avLst>
              <a:gd name="adj" fmla="val 4000"/>
            </a:avLst>
          </a:prstGeom>
          <a:solidFill>
            <a:srgbClr val="152033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82F6"/>
                </a:solidFill>
                <a:latin typeface="Century Gothic"/>
              </a:rPr>
              <a:t>Harish Pandey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5F3EF"/>
                </a:solidFill>
                <a:latin typeface="Century Gothic"/>
              </a:rPr>
              <a:t>10 look-ahead tasks: 2 list uploads (BBDD SOLA26/BR26, due Sep 14), DrupalCon Rotterdam partner summit sends, September partner newsletter (Sep 17)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554480"/>
            <a:ext cx="5394960" cy="2377440"/>
          </a:xfrm>
          <a:prstGeom prst="roundRect">
            <a:avLst>
              <a:gd name="adj" fmla="val 4000"/>
            </a:avLst>
          </a:prstGeom>
          <a:solidFill>
            <a:srgbClr val="152033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6916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82F6"/>
                </a:solidFill>
                <a:latin typeface="Century Gothic"/>
              </a:rPr>
              <a:t>Felipe Tencio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5F3EF"/>
                </a:solidFill>
                <a:latin typeface="Century Gothic"/>
              </a:rPr>
              <a:t>7 look-ahead audience-report tasks feeding Aayushi's and Harish's email sends — Henry Stewart DAM NY, DigiCol26, DrupalCon Rotterdam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entury Gothic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Active Sub-Projects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>Source: Asana [MOps] Intake, grouped by sub-category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680960"/>
                <a:gridCol w="1371600"/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  <a:latin typeface="Century Gothic"/>
                        </a:rPr>
                        <a:t>SUB-CATEGORY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  <a:latin typeface="Century Gothic"/>
                        </a:rPr>
                        <a:t>CORE ACTIVITY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4B8A6"/>
                          </a:solidFill>
                          <a:latin typeface="Century Gothic"/>
                        </a:rPr>
                        <a:t>STATUS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5F3EF"/>
                          </a:solidFill>
                          <a:latin typeface="Century Gothic"/>
                        </a:rPr>
                        <a:t>Webinar Requests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5F3EF"/>
                          </a:solidFill>
                          <a:latin typeface="Century Gothic"/>
                        </a:rPr>
                        <a:t>Partner Master Class webinar — 12 of ~20 template steps completed this period (landing page, form test, push-live, banner, planning doc, audience, Zoom edit, kickoff, campaign naming)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5F3EF"/>
                          </a:solidFill>
                          <a:latin typeface="Century Gothic"/>
                        </a:rPr>
                        <a:t>SFDC &amp; UTM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5F3EF"/>
                          </a:solidFill>
                          <a:latin typeface="Century Gothic"/>
                        </a:rPr>
                        <a:t>5 SFDC campaign builds completed (FOST Paris, OnDAM Paris, Connect 2026, DigiCol26, DrupalCon Rotterdam)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111A2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5F3EF"/>
                          </a:solidFill>
                          <a:latin typeface="Century Gothic"/>
                        </a:rPr>
                        <a:t>List Uploads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5F3EF"/>
                          </a:solidFill>
                          <a:latin typeface="Century Gothic"/>
                        </a:rPr>
                        <a:t>2 completed (Atlanta Tech Week, Fintech Summit MX); 3 more in flight (BBDD SOLA26, BBDD BR26, Febraban BR)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5F3EF"/>
                          </a:solidFill>
                          <a:latin typeface="Century Gothic"/>
                        </a:rPr>
                        <a:t>Email Requests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5F3EF"/>
                          </a:solidFill>
                          <a:latin typeface="Century Gothic"/>
                        </a:rPr>
                        <a:t>2 sends shipped, 9 queued for next 1.5 weeks — see slides 5 &amp; 12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111A2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784080" y="2093976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00" b="1">
                <a:solidFill>
                  <a:srgbClr val="0D1626"/>
                </a:solidFill>
                <a:latin typeface="Century Gothic"/>
              </a:rPr>
              <a:t>IN PROGRESS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267919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00" b="1">
                <a:solidFill>
                  <a:srgbClr val="0D1626"/>
                </a:solidFill>
                <a:latin typeface="Century Gothic"/>
              </a:rPr>
              <a:t>ON TRACK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326440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00" b="1">
                <a:solidFill>
                  <a:srgbClr val="0D1626"/>
                </a:solidFill>
                <a:latin typeface="Century Gothic"/>
              </a:rPr>
              <a:t>ON TRACK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384962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00" b="1">
                <a:solidFill>
                  <a:srgbClr val="0D1626"/>
                </a:solidFill>
                <a:latin typeface="Century Gothic"/>
              </a:rPr>
              <a:t>ON TRACK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entury Gothic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Incomplete Tickets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>Source: Asana MOPS-Status = Blocked / Require Info / Waiting for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642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5029200"/>
                <a:gridCol w="1097280"/>
              </a:tblGrid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B8A6"/>
                          </a:solidFill>
                          <a:latin typeface="Century Gothic"/>
                        </a:rPr>
                        <a:t>TICKET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B8A6"/>
                          </a:solidFill>
                          <a:latin typeface="Century Gothic"/>
                        </a:rPr>
                        <a:t>ASSIGNEE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B8A6"/>
                          </a:solidFill>
                          <a:latin typeface="Century Gothic"/>
                        </a:rPr>
                        <a:t>MISSING INFO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4B8A6"/>
                          </a:solidFill>
                          <a:latin typeface="Century Gothic"/>
                        </a:rPr>
                        <a:t>PRIORITY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Zapier integration - LinkedIn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Unassigned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No scope/owner for 8 months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Not set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[Event Name] Pre Event Marketing Emails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Unassigned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[Event Name] placeholder never filled in; overdue since Jul 31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Not set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Optimize Starter — ACP Renewal Cadence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Karen Plant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Waiting on Nate for report/audience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Not set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SFDC List Upload — BBDD SOLA26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Harish Pandey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Waiting for Feedback, due Sep 14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Not set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SFDC List Upload — BBDD BR26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Harish Pandey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Waiting for Feedback, due Sep 14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Not set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Create contact list — ICP 2026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Unassigned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Waiting for Feedback since Feb 2026 (~7mo)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5F3EF"/>
                          </a:solidFill>
                          <a:latin typeface="Century Gothic"/>
                        </a:rPr>
                        <a:t>Not set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  <a:latin typeface="Century Gothic"/>
              </a:rPr>
              <a:t>Priority field is blank on every one of these tickets in Asana — reported as "Not set," not guessed.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entury Gothic"/>
              </a:rPr>
              <a:t>LOOK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Data Hygiene &amp;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>Source: SOQL Campaign query + campaign-naming/SKILL.md convention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6675120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4B8A6"/>
                          </a:solidFill>
                          <a:latin typeface="Century Gothic"/>
                        </a:rPr>
                        <a:t>CAMPAIGN / FINDING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4B8A6"/>
                          </a:solidFill>
                          <a:latin typeface="Century Gothic"/>
                        </a:rPr>
                        <a:t>ISSUE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4B8A6"/>
                          </a:solidFill>
                          <a:latin typeface="Century Gothic"/>
                        </a:rPr>
                        <a:t>FLAG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evt_webinar_dxo_26_q3_partner_0_DAM Update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Created Aug 19 — 15 business days old, still only 1 member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em_promo_DrupalCamp Italy Wrap Around Even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Created Sep 2 — ~6 business days old, 0 members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111A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demgen_best-platform-for-drupal-north-amer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StartDate is blank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Naming pattern (systemic)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25 of 27 new campaigns use the lowercase snake_case pattern (e.g. demgen_..._q4_26), not the do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111A2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0515600" y="1865376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00" b="1">
                <a:solidFill>
                  <a:srgbClr val="0D1626"/>
                </a:solidFill>
                <a:latin typeface="Century Gothic"/>
              </a:rPr>
              <a:t>AT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234086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00" b="1">
                <a:solidFill>
                  <a:srgbClr val="0D1626"/>
                </a:solidFill>
                <a:latin typeface="Century Gothic"/>
              </a:rPr>
              <a:t>AT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0" y="281635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00" b="1">
                <a:solidFill>
                  <a:srgbClr val="0D1626"/>
                </a:solidFill>
                <a:latin typeface="Century Gothic"/>
              </a:rPr>
              <a:t>AT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32918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 wrap="none"/>
          <a:lstStyle/>
          <a:p>
            <a:pPr algn="ctr"/>
            <a:r>
              <a:rPr sz="1000" b="1">
                <a:solidFill>
                  <a:srgbClr val="0D1626"/>
                </a:solidFill>
                <a:latin typeface="Century Gothic"/>
              </a:rPr>
              <a:t>AT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11064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5F3EF"/>
                </a:solidFill>
                <a:latin typeface="Century Gothic"/>
              </a:rPr>
              <a:t>Recommendations: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5F3EF"/>
                </a:solidFill>
                <a:latin typeface="Century Gothic"/>
              </a:rPr>
              <a:t>1. Confirm the real naming standard: 25 of 27 new campaigns follow a lowercase snake_case convention that isn't Region_Channel_Product_Description_YYYY-Qn — pin down which one is canonical with Jennifer so campaign-naming/SKILL.md matches reality.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5F3EF"/>
                </a:solidFill>
                <a:latin typeface="Century Gothic"/>
              </a:rPr>
              <a:t>2. Chase the DAM Updates Partner Master Class webinar campaign (created Aug 19, still 1 member) — closing this gap unlocks a real read on that campaign's response rate.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5F3EF"/>
                </a:solidFill>
                <a:latin typeface="Century Gothic"/>
              </a:rPr>
              <a:t>3. Resolve the Zapier–LinkedIn integration ticket's 8-month unassigned status — either scope it or move it to Deprioritized so it stops sitting in the open backlog silently.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5F3EF"/>
                </a:solidFill>
                <a:latin typeface="Century Gothic"/>
              </a:rPr>
              <a:t>Closing /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4B8A6"/>
                </a:solidFill>
                <a:latin typeface="Century Gothic"/>
              </a:rPr>
              <a:t>Next Review: September 17, 2026 | Lead: Aayushi Sharma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entury Gothic"/>
              </a:rPr>
              <a:t>RETROSPECTIVE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12648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F3EF"/>
                </a:solidFill>
                <a:latin typeface="Century Gothic"/>
              </a:rPr>
              <a:t>Data &amp; Image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93A3"/>
                </a:solidFill>
                <a:latin typeface="Century Gothi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Century Gothic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852160"/>
                <a:gridCol w="192024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4B8A6"/>
                          </a:solidFill>
                          <a:latin typeface="Century Gothic"/>
                        </a:rPr>
                        <a:t>SOURCE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4B8A6"/>
                          </a:solidFill>
                          <a:latin typeface="Century Gothic"/>
                        </a:rPr>
                        <a:t>QUERY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4B8A6"/>
                          </a:solidFill>
                          <a:latin typeface="Century Gothic"/>
                        </a:rPr>
                        <a:t>QUERIED</a:t>
                      </a:r>
                    </a:p>
                  </a:txBody>
                  <a:tcPr marT="50800" marB="50800">
                    <a:solidFill>
                      <a:srgbClr val="1A263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Asana — [MOps] Intake (gid 1205660951274722)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search_tasks (completed_on / due_on filters), get_project (custom fields)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2026-09-10, live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Salesforce — Campaign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soqlQuery: Campaign WHERE CreatedDate=LAST_N_DAYS:7 OR StartDate=LAST_N_DAYS:7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2026-09-10, live</a:t>
                      </a:r>
                    </a:p>
                  </a:txBody>
                  <a:tcPr marT="38100" marB="38100">
                    <a:solidFill>
                      <a:srgbClr val="111A2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Jira — MOPS project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searchJiraIssuesUsingJql — connector timed out 3x this run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3EF"/>
                          </a:solidFill>
                          <a:latin typeface="Century Gothic"/>
                        </a:rPr>
                        <a:t>2026-09-10 — FAILED, not retried further</a:t>
                      </a:r>
                    </a:p>
                  </a:txBody>
                  <a:tcPr marT="38100" marB="38100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383280"/>
            <a:ext cx="11064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5F3EF"/>
                </a:solidFill>
                <a:latin typeface="Century Gothic"/>
              </a:rPr>
              <a:t>Gaps stated plainly, not guessed: Jira MOPS project data could not be pulled — the Atlassian MCP connector timed out on 3 consecutive attempts (getAccessibleAtlassianResources); per this skill's no-blind-retry guidance it was not retried a 4th time this run. No Jira-linked bugs/blockers are reflected anywhere in this deck as a result. Region/Audience fields are blank on every email milestone sub-task checked (slides 5 &amp; 12) — stated as a gap, not inferred. This period had zero completed top-level intake tickets, so slide 7's SLA metric could not be computed (see that slide for detail) — not the same as "0% on time." No external images used in this deck; all visuals are native PowerPoint shapes.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5F3EF"/>
                </a:solidFill>
                <a:latin typeface="Century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5F3EF"/>
                </a:solidFill>
                <a:latin typeface="Century Gothic"/>
              </a:rPr>
              <a:t>Google Slides upload: not attempted this run. The Drive create_file MCP tool only accepts inline base64 content with no chunked/path-based alternative, and this exact deck size has confirmed the same ~350K-output-token wall on 6 consecutive prior runs (2026-07-23, 07-30, 08-13, 08-20, 08-27, 09-03) — see decisions/log.md. Per this run's instructions not to retry a known-broken approach, it was not attempted a 7th time. Deck built and saved locally only; flagged on the #mops-team Slack post.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