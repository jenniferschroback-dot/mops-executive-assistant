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E8ECF1"/>
                </a:solidFill>
                <a:latin typeface="Montserrat ExtraBold"/>
              </a:rPr>
              <a:t>MOps Weekly Review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14B8A6"/>
                </a:solidFill>
                <a:latin typeface="Montserrat"/>
              </a:rPr>
              <a:t>Team Performance, Campaign Results &amp; Strategic Roadmap</a:t>
            </a:r>
          </a:p>
          <a:p>
            <a:pPr>
              <a:spcBef>
                <a:spcPts val="2000"/>
              </a:spcBef>
            </a:pPr>
            <a:r>
              <a:rPr sz="1300" b="0" i="0">
                <a:solidFill>
                  <a:srgbClr val="9CA9BD"/>
                </a:solidFill>
                <a:latin typeface="Montserrat"/>
              </a:rPr>
              <a:t>August 13, 2026 |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914400" cy="508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E8ECF1"/>
                </a:solidFill>
                <a:latin typeface="Montserrat ExtraBold"/>
              </a:rPr>
              <a:t>Reviewing Last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9CA9BD"/>
                </a:solidFill>
                <a:latin typeface="Montserrat"/>
              </a:rPr>
              <a:t>Thursday, August 6 – Wednesday, August 12,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 · AUG 6-12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3515258" cy="155448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/>
            <a:r>
              <a:rPr sz="1450" b="1" i="0">
                <a:solidFill>
                  <a:srgbClr val="E8ECF1"/>
                </a:solidFill>
                <a:latin typeface="Montserrat ExtraBold"/>
              </a:rPr>
              <a:t>21 tasks shipped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920240"/>
            <a:ext cx="3515258" cy="155448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/>
            <a:r>
              <a:rPr sz="1450" b="1" i="0">
                <a:solidFill>
                  <a:srgbClr val="E8ECF1"/>
                </a:solidFill>
                <a:latin typeface="Montserrat ExtraBold"/>
              </a:rPr>
              <a:t>17 SFDC campaigns launched · 248 members reached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920240"/>
            <a:ext cx="3515258" cy="155448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/>
            <a:r>
              <a:rPr sz="1450" b="1" i="0">
                <a:solidFill>
                  <a:srgbClr val="E8ECF1"/>
                </a:solidFill>
                <a:latin typeface="Montserrat ExtraBold"/>
              </a:rPr>
              <a:t>Median cycle time: 8 business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4B8A6"/>
                </a:solidFill>
                <a:latin typeface="Montserrat ExtraBold"/>
              </a:rPr>
              <a:t>21 requests completed (Asana [MOps] Intake)</a:t>
            </a:r>
          </a:p>
          <a:p>
            <a:pPr>
              <a:spcBef>
                <a:spcPts val="1400"/>
              </a:spcBef>
            </a:pPr>
            <a:r>
              <a:rPr sz="1350" b="0" i="0">
                <a:solidFill>
                  <a:srgbClr val="9CA9BD"/>
                </a:solidFill>
                <a:latin typeface="Montserrat"/>
              </a:rPr>
              <a:t>The team shipped 21 intake requests — led by Aayushi Sharma (9) and Felipe Tencio (7) — spanning SFDC campaign builds, email sends, audience pulls, and reporting. That work is already producing results in Salesforce: 17 campaigns were created or launched this week reaching 248 members (19 leads, 229 contacts) with 80 responses; the DAM User Group Follow-up &amp; G2 Review email is already at 62 responses across its 62 members, and Atlanta Tech Week 2026 fanned into 3 child SFDC campaigns under one parent. Pipeline impact so far: 1 open opportunity, $74.10 recorded (AmountAllOpportunities is null/zero on the other 16 campaigns).
Watch items: against the sla-watchdog per-type SLA table, the 7 SFDC-campaign completions this week (single + multiple) averaged 8.1 business days versus a 1–2 day target — none closed within SLA. Median cycle time across all 20 canonical completions is 8 business days, but the mean (~26 bd) is skewed by several aged-backlog tickets finally clearing (up to 79 business days open). Two "Blocked"-status tickets carry no stated blocker reason in their notes — a documentation gap, not a resolved finding.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 · AUG 6-12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Completed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21 total completions on the [MOps] Intake board this period.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3685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Aayushi Sharma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32600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232600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223685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Montserrat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839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Felipe Tencio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21754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3217545"/>
            <a:ext cx="6187440" cy="44577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312839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Montserrat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1993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Harish Pandey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0908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0" y="4109085"/>
            <a:ext cx="2651760" cy="44577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401993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Montserra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1147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Jennifer Schroback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00062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491147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Montserrat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 — tasks completed Thu Aug 6–Wed Aug 12, 2026. Team total: 21 (19 across the 4 canonical members shown + 1 unassigned + 1 extended-team/non-canonical completion not charted). Queried 2026-08-13.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 · AUG 6-12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Emails Sent Last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Completed Email-type milestone sub-tasks due in the retro period.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057400"/>
          <a:ext cx="10881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64592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REGION / AUDIENCE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email: DAM User Group Attendee Follow up &amp; G2 review ask (Harish Pandey)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2026-08-11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Not captured in task fields — inferred DAM User Group attendees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Secondary Emails Send for AI Advisor Mode (Aayushi Sharma)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2026-08-06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Not captured in task fields — AI Advisor Mode early-access list, follow-up send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Data gap: no distinct Region/Audience field is captured on these milestone tasks in Asana — flagging the gap rather than guessing at an audience. Source: Asana [MOps] Intake — completed Email-type milestone sub-tasks due Thu Aug 6–Wed Aug 12, 2026. Queried 2026-08-13.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 · AUG 6-12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Campaign Performance (Salesforce)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Campaigns created or launched (StartDate/CreatedDate) in the retro period.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057400"/>
          <a:ext cx="11247120" cy="399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1280160"/>
                <a:gridCol w="1371600"/>
                <a:gridCol w="1280160"/>
                <a:gridCol w="1280160"/>
              </a:tblGrid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CAMPAIGN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MEMBERS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RESPONSES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RESP. RATE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LEADS / OPPS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ev_workshop_dam_26_q3_partner_DAM Workshop NYC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ev_td_dxp_26_q3_partner_Sponsorship Fintech Tradeshow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em_promo_26_q3_all_dam workshop boston 2026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VV - Financial Services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ev_corp_dxp_26_q3_Atlanta Tech Week Birds of a Feather Session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ev_corp_dxp_26_q3_Atlanta Tech Week renderALT2026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ev_corp_dxp_26_q3_Atlanta Tech Week Baseball Game 2026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ev_rt_dxp_26_q3_Atlanta Tech Week 2026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em_promo_webinar with Hounder and LADWP_2026_q3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18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18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Search_WW_dc_26_q3_Pantheon Google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em_promo_src_26_q3_source subscription notification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168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0%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Social_WW_dc_26_q3_Federal ABM Ads on Linkedin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Search_WW_dc_26_q3_BPFD WP VIP Competitor Google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Social_dc_26_q3_cus_Bing PMAX Trials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em_promo_partner summit DrupalCon Rotterdam_2026_q3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em_dam_User Group Attendee Follow up &amp; G2 review_Q2_2026_Q3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62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62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100%*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19L / 1Opp ($74.10)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demgen_11x_Reachdesk Alice Programs - Coffee Voucher_2026_Q3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0L / 0Opp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PERIOD TOTAL — 17 campaigns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248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80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E8ECF1"/>
                          </a:solidFill>
                          <a:latin typeface="Montserrat"/>
                        </a:rPr>
                        <a:t>19L / 1Opp ($74.10)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*Resp. rate = NumberOfResponses / (Leads+Contacts); Salesforce's rollup counts several statuses as "responded." 12 of 17 campaigns (71%) show zero members as of this run — see Data Hygiene, slide 17. Source: SOQL — SELECT Id, Name, Type, Status, StartDate, ... FROM Campaign WHERE CreatedDate = LAST_N_DAYS:7 OR (StartDate &gt;= 2026-08-06 AND StartDate &lt;= 2026-08-12); CampaignMember GROUP BY CampaignId, Status. Queried 2026-08-13.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 · AUG 6-12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SLA &amp; Cycle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No day-based SLA field exists in Asana (only a boolean Rush flag) — comparing cycle time against the sla-watchdog per-type SLA table instead.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2602153" cy="13716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223639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E8ECF1"/>
                </a:solidFill>
                <a:latin typeface="Montserrat ExtraBold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15768"/>
            <a:ext cx="223639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97316"/>
                </a:solidFill>
                <a:latin typeface="Montserrat"/>
              </a:rPr>
              <a:t>0 of 9 comparable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2363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CA9BD"/>
                </a:solidFill>
                <a:latin typeface="Montserrat"/>
              </a:rPr>
              <a:t>Closed within an sla-watchdog SLA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9393" y="2148840"/>
            <a:ext cx="2602153" cy="13716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2273" y="2240280"/>
            <a:ext cx="223639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E8ECF1"/>
                </a:solidFill>
                <a:latin typeface="Montserrat ExtraBold"/>
              </a:rPr>
              <a:t>8 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3017520"/>
            <a:ext cx="22363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CA9BD"/>
                </a:solidFill>
                <a:latin typeface="Montserrat"/>
              </a:rPr>
              <a:t>Median cycle time, create→complete (20 completions)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6" y="2148840"/>
            <a:ext cx="2602153" cy="13716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026" y="2240280"/>
            <a:ext cx="223639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E8ECF1"/>
                </a:solidFill>
                <a:latin typeface="Montserrat ExtraBold"/>
              </a:rPr>
              <a:t>26 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6" y="2715768"/>
            <a:ext cx="223639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97316"/>
                </a:solidFill>
                <a:latin typeface="Montserrat"/>
              </a:rPr>
              <a:t>vs. 8 bd median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6" y="3017520"/>
            <a:ext cx="22363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CA9BD"/>
                </a:solidFill>
                <a:latin typeface="Montserrat"/>
              </a:rPr>
              <a:t>Mean cycle time — skewed by aged-backlog closures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0899" y="2148840"/>
            <a:ext cx="2602153" cy="1371600"/>
          </a:xfrm>
          <a:prstGeom prst="roundRect">
            <a:avLst>
              <a:gd name="adj" fmla="val 10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3779" y="2240280"/>
            <a:ext cx="223639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E8ECF1"/>
                </a:solidFill>
                <a:latin typeface="Montserrat ExtraBold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3779" y="3017520"/>
            <a:ext cx="22363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9CA9BD"/>
                </a:solidFill>
                <a:latin typeface="Montserrat"/>
              </a:rPr>
              <a:t>Rush-flagged completions this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80"/>
              </a:spcAft>
            </a:pPr>
            <a:r>
              <a:rPr sz="1400" b="1" i="0">
                <a:solidFill>
                  <a:srgbClr val="14B8A6"/>
                </a:solidFill>
                <a:latin typeface="Montserrat ExtraBold"/>
              </a:rPr>
              <a:t>What missed, and why</a:t>
            </a:r>
          </a:p>
          <a:p>
            <a:pPr>
              <a:spcAft>
                <a:spcPts val="780"/>
              </a:spcAft>
            </a:pPr>
            <a:r>
              <a:rPr sz="1300" b="0" i="0">
                <a:solidFill>
                  <a:srgbClr val="E8ECF1"/>
                </a:solidFill>
                <a:latin typeface="Montserrat"/>
              </a:rPr>
              <a:t>-  SFDC Campaign creation (7 completions: 6 single + 1 multiple) averaged 8.1 business days against a 1–2 day sla-watchdog target — every one missed it.</a:t>
            </a:r>
          </a:p>
          <a:p>
            <a:pPr>
              <a:spcAft>
                <a:spcPts val="780"/>
              </a:spcAft>
            </a:pPr>
            <a:r>
              <a:rPr sz="1300" b="0" i="0">
                <a:solidFill>
                  <a:srgbClr val="E8ECF1"/>
                </a:solidFill>
                <a:latin typeface="Montserrat"/>
              </a:rPr>
              <a:t>-  List Upload (2 completions, 79 and 29 business days) were aged-backlog tickets finally clearing, not new-request misses.</a:t>
            </a:r>
          </a:p>
          <a:p>
            <a:pPr>
              <a:spcAft>
                <a:spcPts val="780"/>
              </a:spcAft>
            </a:pPr>
            <a:r>
              <a:rPr sz="1300" b="0" i="0">
                <a:solidFill>
                  <a:srgbClr val="E8ECF1"/>
                </a:solidFill>
                <a:latin typeface="Montserrat"/>
              </a:rPr>
              <a:t>-  One Urgent/Rush-flagged ticket — "Source Subscription Notification — All Active Customers" — is still open, due today 2026-08-13 (see Incomplete Tickets, slide 16), not a retro completion.</a:t>
            </a:r>
          </a:p>
          <a:p>
            <a:pPr>
              <a:spcAft>
                <a:spcPts val="780"/>
              </a:spcAft>
            </a:pPr>
            <a:r>
              <a:rPr sz="1300" b="0" i="0">
                <a:solidFill>
                  <a:srgbClr val="E8ECF1"/>
                </a:solidFill>
                <a:latin typeface="Montserrat"/>
              </a:rPr>
              <a:t>-  Long-tail backlog closures this week: 2 Reporting tasks (61, 62 bd) and 1 non-canonical UAT ticket (202 bd) inflate the mean but predate this week's real work.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 created_at→completed_at, compared against the SLA table in .claude/skills/sla-watchdog/SKILL.md. Queried 2026-08-13.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 · AUG 6-12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Lead Weekly Wins — Aayushi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9 of the team's 21 completions this period.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B82F6"/>
                </a:solidFill>
                <a:latin typeface="Montserrat"/>
              </a:rPr>
              <a:t>SFDC CAMPAIGN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102412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Atlanta Tech Week 2026 SFDC Campaign(s) — 3 child campaigns created under 1 parent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Campaign creation (Pantheon Compete - Google)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EduWeb Summit SFDC Campaign &amp; List Upload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SFDC Campaign Request - Bing PMAX - Trials + Campaign creation (Bing PMAX) — same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8503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EMAIL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50792"/>
            <a:ext cx="102412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Secondary Emails Send for AI Advisor Mode (2nd send to same list)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[DAM Workshop Boston] Email Build - 01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Drupal GovCon 2026 Promo Email #2 — closed as cancelled per requestor ("We no longer need this.")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11496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77256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AI Advisor Mode - Email 02 - Performance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Intake, tasks completed Thu Aug 6–Wed Aug 12, 2026, assignee = Aayushi Sharma. Queried 2026-08-13.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 · AUG 6-12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Team Performance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Non-lead completions this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515258" cy="384048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30580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Montserrat ExtraBold"/>
              </a:rPr>
              <a:t>Harish Pandey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058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[DrupalCamp Italy] MOPs SFDC Campaign - Wrap Around Event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SFDC CID - Reachdesk Alice Programs - Coffee Voucher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3 completions this period; heaviest look-ahead load next (17 tasks, slide 11).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2011680"/>
            <a:ext cx="3515258" cy="384048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818" y="2240280"/>
            <a:ext cx="30580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Montserrat ExtraBold"/>
              </a:rPr>
              <a:t>Felipe Tencio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788920"/>
            <a:ext cx="3058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[DAM Workshop Boston] Pre-Event Email Audience Report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Closed 2 long-running Reporting tickets (Acquia AI Prospect &amp; Customer Marketing Cadence Performance Reports, open 61–62 business days)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7 completions this period.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011680"/>
            <a:ext cx="3515258" cy="384048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6396" y="2240280"/>
            <a:ext cx="30580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Montserrat ExtraBold"/>
              </a:rPr>
              <a:t>Jennifer Schroback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2788920"/>
            <a:ext cx="3058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0 tasks completed this period on this board.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1 unrelated older ticket assigned (Customer email communications form, due 2026-06-01) falls outside this window.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Data gap, not a performance judgment — flagging plainly.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Intake, tasks completed Thu Aug 6–Wed Aug 12, 2026. Queried 2026-08-13.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914400" cy="508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i="0">
                <a:solidFill>
                  <a:srgbClr val="E8ECF1"/>
                </a:solidFill>
                <a:latin typeface="Montserrat ExtraBold"/>
              </a:rPr>
              <a:t>Planning Next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9CA9BD"/>
                </a:solidFill>
                <a:latin typeface="Montserrat"/>
              </a:rPr>
              <a:t>Thursday, August 13 – Monday, August 24,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 · AUG 13-24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Upcoming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Open tasks due in the look-ahead window.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3685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Harish Pandey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32600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232600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223685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Montserrat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839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Aayushi Sharma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21754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0" y="3217545"/>
            <a:ext cx="5615491" cy="44577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312839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Montserrat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1993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Felipe Tencio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0908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0" y="4109085"/>
            <a:ext cx="4679576" cy="44577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401993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Montserrat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11471"/>
            <a:ext cx="2103120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E8ECF1"/>
                </a:solidFill>
                <a:latin typeface="Montserrat"/>
              </a:rPr>
              <a:t>Jennifer Schroback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000625"/>
            <a:ext cx="7955280" cy="445770"/>
          </a:xfrm>
          <a:prstGeom prst="roundRect">
            <a:avLst>
              <a:gd name="adj" fmla="val 50000"/>
            </a:avLst>
          </a:prstGeom>
          <a:solidFill>
            <a:srgbClr val="1B2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4911471"/>
            <a:ext cx="731520" cy="62407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Montserrat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E8ECF1"/>
                </a:solidFill>
                <a:latin typeface="Montserrat ExtraBold"/>
              </a:rPr>
              <a:t>Total Capacity Required: 46 Tasks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 — open tasks due Thu Aug 13–Mon Aug 24, 2026. Total includes 7 unassigned tasks not attributed to a named team member (39 across the 4 canonical members + 7 unassigned = 46). Queried 2026-08-13.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 · AUG 13-24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Upcoming Email Sends Next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Incomplete Email-type milestone sub-tasks due in the look-ahead period.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05740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645920"/>
                <a:gridCol w="3291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REGION / AUDIENCE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LATAM Webinar AIContent BR Email send 3 (Harish Pandey)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2026-08-13 ⚠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Brazil (Portuguese-language webinar series)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Webinar AIContent ES Email send 3 (Harish Pandey)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2026-08-13 ⚠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LATAM Spanish-language webinar series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Webinar with Hounder and LADWP Email 1 (Harish Pandey)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2026-08-13 ⚠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LA Dept. of Water &amp; Power webinar (US/NA)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[DrupalCon Rotterdam] Partner Summit Email 1 Send (Harish Pandey)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2026-08-14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DrupalCon Rotterdam Partner Summit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[DAM Workshop Boston] Email Send - 02 (Aayushi Sharma)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2026-08-18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DAM Workshop Boston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August 2026 Partner Newsletter Send (Harish Pandey)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2026-08-20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E8ECF1"/>
                          </a:solidFill>
                          <a:latin typeface="Montserrat"/>
                        </a:rPr>
                        <a:t>Partner newsletter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⚠ Capacity flag: 3 sends land same-day (2026-08-13), all owned by Harish Pandey. Audiences differ (Brazil / LATAM-Spanish / US utility client) so this is not a same-audience clash, but it is a same-day, single-owner concentration worth watching. Region/Audience is null on all 6 tasks' own fields — inferred from parent task names. Source: Asana [MOps] Intake, incomplete Email-type milestone sub-tasks due Thu Aug 13–Mon Aug 24, 2026. Queried 2026-08-13.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 · AUG 13-24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Priority Pipeline — Aayushi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12 of the team's 46 upcoming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B82F6"/>
                </a:solidFill>
                <a:latin typeface="Montserrat"/>
              </a:rPr>
              <a:t>SFDC CAMPAIGNS &amp;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10241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SFDC Campaign Creation + Havas CL Tradeshow — due 2026-08-14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[Event Name] SFDC Campaign(s) &amp; Form (If Required) — due 2026-08-13, Require Information/Description (blank template fields)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Drupal 12 US Holiday Party SFDC Campaign(s) &amp; Form — due 2026-08-13, Require Information/Description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DAM Workshop DC SFDC Campaign(s) &amp; Form — due 2026-08-17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SFDC Campaign Request - Drupal Ads - Carousel — due 2026-08-14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EMAIL BUILDS &amp; SENDS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[DAM Workshop Boston] Email Build - 02 / Email Send - 02 — due 2026-08-14 / 2026-08-18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1888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POST-EVENT MARKETING EMAILS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84648"/>
            <a:ext cx="102412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Partner Event Nashville Sounds AAA Game Pre-Event Marketing Emails — due 2026-08-23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Atlanta Tech Week 2026 Post Event Marketing Emails — due 2026-08-20</a:t>
            </a:r>
          </a:p>
          <a:p>
            <a:pPr>
              <a:spcAft>
                <a:spcPts val="200"/>
              </a:spcAft>
            </a:pPr>
            <a:r>
              <a:rPr sz="1250" b="0" i="0">
                <a:solidFill>
                  <a:srgbClr val="E8ECF1"/>
                </a:solidFill>
                <a:latin typeface="Montserrat"/>
              </a:rPr>
              <a:t>-  Drupal GovCon 2026 Post Event Marketing Emails — due 2026-08-19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Intake, open tasks due Thu Aug 13–Mon Aug 24, 2026, assignee = Aayushi Sharma. Queried 2026-08-13.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 · AUG 13-24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Upcoming Strategic Priorities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Non-lead look-ahead 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515258" cy="384048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30580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Montserrat ExtraBold"/>
              </a:rPr>
              <a:t>Harish Pandey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058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17 tasks due — heaviest look-ahead load of the 4 canonical members.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3 email-send milestones all land on 2026-08-13 (Brazil, LATAM-Spanish, Hounder/LADWP).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[DrupalCon Rotterdam] Partner Summit Email Send also on his plate this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2011680"/>
            <a:ext cx="3515258" cy="384048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818" y="2240280"/>
            <a:ext cx="30580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Montserrat ExtraBold"/>
              </a:rPr>
              <a:t>Felipe Tencio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788920"/>
            <a:ext cx="3058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SHSMD Speakers - Build List — due 2026-08-19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DrupalCamp Italy Wrap Around Event Audience — due 2026-08-17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Owns all 7 overdue "Audiences" backlog items — a single-owner bottleneck worth surfacing.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2011680"/>
            <a:ext cx="3515258" cy="3840480"/>
          </a:xfrm>
          <a:prstGeom prst="roundRect">
            <a:avLst>
              <a:gd name="adj" fmla="val 5000"/>
            </a:avLst>
          </a:prstGeom>
          <a:solidFill>
            <a:srgbClr val="141F33"/>
          </a:solidFill>
          <a:ln w="12700">
            <a:solidFill>
              <a:srgbClr val="2A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6396" y="2240280"/>
            <a:ext cx="30580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Montserrat ExtraBold"/>
              </a:rPr>
              <a:t>Jennifer Schroback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2788920"/>
            <a:ext cx="305805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0 tasks due in this window on this board.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E8ECF1"/>
                </a:solidFill>
                <a:latin typeface="Montserrat"/>
              </a:rPr>
              <a:t>-  Data gap consistent with slide 9 — flagging plainly, not implying idle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Intake, open tasks due Thu Aug 13–Mon Aug 24, 2026. Queried 2026-08-13.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 · AUG 13-24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Active Sub-Projects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Sub-category activity across both the retro and look-ahead windows.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05740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4922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SUB-CATEGORY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CORE ACTIVITY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STATUS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SFDC Campaign only (single)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6 completed this week (Pantheon Compete, Bing PMAX x2, DrupalCamp Italy, Reachdesk CID, EduWeb Summit); 5 more due by 8/24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SFDC Campaigns only (multiple)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Atlanta Tech Week fanned into 3 child campaigns under 1 parent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C55E"/>
                          </a:solidFill>
                          <a:latin typeface="Montserrat"/>
                        </a:rPr>
                        <a:t>ON TRACK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Email(s) only | Nurture Sequences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4 completed; 18 due in look-ahead — heaviest load, incl. 3 same-day sends (8/13) on one owner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Audiences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3 completed; 7 overdue backlog items, all owned by Felipe Tencio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Reporting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3 completed (incl. 2 long-aged performance reports); 1 due in look-ahead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2C55E"/>
                          </a:solidFill>
                          <a:latin typeface="Montserrat"/>
                        </a:rPr>
                        <a:t>ON TRACK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List Upload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2 completed (both aged backlog, 79/29 bd); 8 open overdue, several unassigned with no status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Form Request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1 due in look-ahead; no issues flagged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55F7"/>
                          </a:solidFill>
                          <a:latin typeface="Montserrat"/>
                        </a:rPr>
                        <a:t>READY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Other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3 due in look-ahead; insufficient history to judge further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Unclassified (null Project Type)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16 open items, mostly unresolved [Event Name]/[Webinar Owner] placeholder sub-tasks — a classification-gap finding, not a real backlog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Source: Asana [MOps] Intake, both windows (Thu Aug 6–Mon Aug 24, 2026). Queried 2026-08-13.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 · AUG 13-24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Incomplete Tickets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Blocked and information-gap tickets, prioritizing the current look-ahead window and explicit Blocked status.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2057400"/>
          <a:ext cx="108813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  <a:gridCol w="393192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TICKET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ASSIGNEE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MISSING INFO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4B8A6"/>
                          </a:solidFill>
                          <a:latin typeface="Montserrat"/>
                        </a:rPr>
                        <a:t>PRIORITY</a:t>
                      </a:r>
                    </a:p>
                  </a:txBody>
                  <a:tcPr marT="50800" marB="50800" marL="76200">
                    <a:solidFill>
                      <a:srgbClr val="141F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Source Subscription Notification — All Active Customers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Felipe Tencio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Copy drafted, "waiting for approval" — due today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EF4444"/>
                          </a:solidFill>
                          <a:latin typeface="Montserrat"/>
                        </a:rPr>
                        <a:t>URGENT / RUSH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[Event Name] SFDC Campaign(s) &amp; Form (If Required)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Campaign Name/Type/Region/Cost/PCI/Description all blank — due today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Drupal 12 US Holiday Party SFDC Campaign(s) &amp; Form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Aayushi Sharma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Campaign Name/Subtype/Partner/Description blank — due today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Zapier integration - LinkedIn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Status = Blocked but notes state no explicit reason — documentation gap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38100" marB="38100" marL="76200">
                    <a:solidFill>
                      <a:srgbClr val="1B294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Virtual DAM Workshop NA - Email Request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E8ECF1"/>
                          </a:solidFill>
                          <a:latin typeface="Montserrat"/>
                        </a:rPr>
                        <a:t>Status = Blocked but notes state no explicit reason — documentation gap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marT="38100" marB="38100" marL="76200"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Curated from 2 explicit "Blocked"-status tickets + the highest-priority look-ahead-window Require-Information/Waiting-for-Feedback items; a longer backlog of generic template placeholder sub-tasks was excluded to avoid padding. Source: Asana [MOps] Intake. Queried 2026-08-13.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 · AUG 13-24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Data Hygiene &amp;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CA9BD"/>
                </a:solidFill>
                <a:latin typeface="Montserrat"/>
              </a:rPr>
              <a:t>Salesforce campaign drift found in this week's 17-campaign cohort.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EF4444"/>
                </a:solidFill>
                <a:latin typeface="Montserrat"/>
              </a:rPr>
              <a:t>MISSING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03704"/>
            <a:ext cx="1024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VV - Financial Services — StartDate is null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em_promo_src_26_q3_source subscription notification — StartDate is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59E0B"/>
                </a:solidFill>
                <a:latin typeface="Montserrat"/>
              </a:rPr>
              <a:t>ZERO MEMBERS, 5+ BUSINESS DAYS SINCE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35224"/>
            <a:ext cx="10241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em_promo_partner summit DrupalCon Rotterdam_2026_q3 — created 2026-08-06, 0 members, 6 business days elapsed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demgen_11x_Reachdesk Alice Programs - Coffee Voucher_2026_Q3 — created 2026-08-06, 0 members, 6 business days elapsed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F97316"/>
                </a:solidFill>
                <a:latin typeface="Montserrat"/>
              </a:rPr>
              <a:t>NAMING CONVENTION DRIFT (ADVISORY)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66744"/>
            <a:ext cx="10241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15 of 17 campaigns use a date suffix like "26_q3"/"2026_q3" instead of the confirmed YYYY-Qn form (e.g. 2026-Q3)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No campaign in this cohort leads with a Region token, as the Region_Channel_Product_Description_YYYY-Qn convention specifies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VV - Financial Services doesn't follow the underscore-delimited pattern at 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61688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3B82F6"/>
                </a:solidFill>
                <a:latin typeface="Montserrat"/>
              </a:rPr>
              <a:t>TYPE / NAME-PREFIX MISMATCHES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99432"/>
            <a:ext cx="10241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Search_WW_dc_26_q3_Pantheon Google — name reads Search_ but Type = Event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Social_WW_dc_26_q3_Federal ABM Ads on Linkedin — name reads Social_ but Type = Email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Search_WW_dc_26_q3_BPFD WP VIP Competitor Google — name reads Search_ but Type =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94376"/>
            <a:ext cx="105156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 i="0">
                <a:solidFill>
                  <a:srgbClr val="14B8A6"/>
                </a:solidFill>
                <a:latin typeface="Montserrat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241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Fix the 2 null-StartDate campaigns to unlock accurate date-based attribution for VV - Financial Services and the source-subscription-notification send.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Recheck the 12 of 17 zero-member campaigns (71% of this week's cohort) next run — 2 have already crossed the 5-business-day threshold.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E8ECF1"/>
                </a:solidFill>
                <a:latin typeface="Montserrat"/>
              </a:rPr>
              <a:t>-  Standardize the YYYY-Qn date suffix (wrong on 15 of 17, 88%) and lead with a Region token to bring this cohort into the confirmed naming convention.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9CA9BD"/>
                </a:solidFill>
                <a:latin typeface="Montserrat"/>
              </a:rPr>
              <a:t>Naming guidance is advisory per .claude/skills/campaign-naming/SKILL.md, not a hard fail. Source: Salesforce SOQL against the 17 retro-period campaigns (slide 6). Queried 2026-08-13.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E8ECF1"/>
                </a:solidFill>
                <a:latin typeface="Montserrat ExtraBold"/>
              </a:rPr>
              <a:t>Questions?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14B8A6"/>
                </a:solidFill>
                <a:latin typeface="Montserrat"/>
              </a:rPr>
              <a:t>Thank you — MOps Team</a:t>
            </a:r>
          </a:p>
          <a:p>
            <a:pPr>
              <a:spcBef>
                <a:spcPts val="2000"/>
              </a:spcBef>
            </a:pPr>
            <a:r>
              <a:rPr sz="1300" b="0" i="0">
                <a:solidFill>
                  <a:srgbClr val="9CA9BD"/>
                </a:solidFill>
                <a:latin typeface="Montserrat"/>
              </a:rPr>
              <a:t>Next Review: August 20, 2026 |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635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635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635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635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APPENDIX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498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8ECF1"/>
                </a:solidFill>
                <a:latin typeface="Montserrat ExtraBold"/>
              </a:rPr>
              <a:t>Data &amp; 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DATA SOURCES QUERIED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8ECF1"/>
                </a:solidFill>
                <a:latin typeface="Montserrat"/>
              </a:rPr>
              <a:t>-  Asana [MOps] Intake (gid 1205660951274722) — completed tasks (retro), open tasks (look-ahead), Email-milestone sub-tasks both completion states, MOPS-Status blocked/require-info/waiting-for-feedback tickets. Queried 2026-08-13.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8ECF1"/>
                </a:solidFill>
                <a:latin typeface="Montserrat"/>
              </a:rPr>
              <a:t>-  Salesforce SOQL — Campaign (CreatedDate/StartDate in retro window) + CampaignMember GROUP BY CampaignId, Status; IsActive snapshot for the look-ahead window. Queried 2026-08-13.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8ECF1"/>
                </a:solidFill>
                <a:latin typeface="Montserrat"/>
              </a:rPr>
              <a:t>-  Jira project MOPS — JQL: project = MOPS AND updated &gt;= "2026-08-06" AND updated &lt;= "2026-08-12". 4 issues touched, none campaign-blocking. Queried 2026-08-13.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8ECF1"/>
                </a:solidFill>
                <a:latin typeface="Montserrat"/>
              </a:rPr>
              <a:t>-  SLA targets: .claude/skills/sla-watchdog/SKILL.md per-type table.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8ECF1"/>
                </a:solidFill>
                <a:latin typeface="Montserrat"/>
              </a:rPr>
              <a:t>-  Campaign naming convention: .claude/skills/campaign-naming/SKILL.md (Region_Channel_Product_Description_YYYY-Qn).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8ECF1"/>
                </a:solidFill>
                <a:latin typeface="Montserrat"/>
              </a:rPr>
              <a:t>-  No external images used in this deck — all visuals are native shapes (bars, cards, tables); no attribution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GAPS &amp; LIMITATIONS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9CA9BD"/>
                </a:solidFill>
                <a:latin typeface="Montserrat"/>
              </a:rPr>
              <a:t>-  Google Drive: this skill's documented style-reference folder ID (0ACqafLRVUxJzUk9PVA) did not resolve ("Requested entity was not found"). The actual reference files (MOps_Weekly_Review_20260704.pptx, MOps_Weekly_Review_System_Prompt_v2.md) were located instead in folder 1V3yfifgATNpZ0CJn5G5ONzJzgpgT6oj5 via content search — used as the upload target this run; the skill's stored ID should be corrected.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9CA9BD"/>
                </a:solidFill>
                <a:latin typeface="Montserrat"/>
              </a:rPr>
              <a:t>-  No day-based SLA target field exists directly in Asana — SLA slide (7) uses the sla-watchdog per-type table against created→completed cycle time as a proxy, not a native Asana metric.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9CA9BD"/>
                </a:solidFill>
                <a:latin typeface="Montserrat"/>
              </a:rPr>
              <a:t>-  Region/Audience is not a structured field on Asana email-milestone sub-tasks — inferred from parent task names on slides 5 and 12.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9CA9BD"/>
                </a:solidFill>
                <a:latin typeface="Montserrat"/>
              </a:rPr>
              <a:t>-  Salesforce AmountAllOpportunities is null-equivalent on 16 of 17 retro-period campaigns — pipeline reporting is thin this period, not a calculation error.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9CA9BD"/>
                </a:solidFill>
                <a:latin typeface="Montserrat"/>
              </a:rPr>
              <a:t>-  Pardot has no MCP connector; no Pardot-native metrics appear in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