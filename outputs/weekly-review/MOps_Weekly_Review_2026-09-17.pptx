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463739" cy="635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438339" y="0"/>
            <a:ext cx="2463739" cy="63500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876678" y="0"/>
            <a:ext cx="2463739" cy="635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017" y="0"/>
            <a:ext cx="2463739" cy="63500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753356" y="0"/>
            <a:ext cx="2463739" cy="63500"/>
          </a:xfrm>
          <a:prstGeom prst="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286000"/>
            <a:ext cx="106984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600" b="1">
                <a:solidFill>
                  <a:srgbClr val="F5F5F0"/>
                </a:solidFill>
                <a:latin typeface="Calibri"/>
              </a:rPr>
              <a:t>MOps Weekly Review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246120"/>
            <a:ext cx="10698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>
                <a:solidFill>
                  <a:srgbClr val="14B8A6"/>
                </a:solidFill>
                <a:latin typeface="Calibri"/>
              </a:rPr>
              <a:t>Team Performance, Campaign Results &amp; Strategic Roadmap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840480"/>
            <a:ext cx="10698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9CA8BA"/>
                </a:solidFill>
                <a:latin typeface="Calibri"/>
              </a:rPr>
              <a:t>2026-09-17  |  Project Review Meeting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463739" cy="635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438339" y="0"/>
            <a:ext cx="2463739" cy="63500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876678" y="0"/>
            <a:ext cx="2463739" cy="635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017" y="0"/>
            <a:ext cx="2463739" cy="63500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753356" y="0"/>
            <a:ext cx="2463739" cy="63500"/>
          </a:xfrm>
          <a:prstGeom prst="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74320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spc="200">
                <a:solidFill>
                  <a:srgbClr val="14B8A6"/>
                </a:solidFill>
                <a:latin typeface="Calibri"/>
              </a:rPr>
              <a:t>RETROSPECTIVE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090672"/>
            <a:ext cx="914400" cy="381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15468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800" b="1">
                <a:solidFill>
                  <a:srgbClr val="F5F5F0"/>
                </a:solidFill>
                <a:latin typeface="Calibri"/>
              </a:rPr>
              <a:t>Reviewing Last Week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93192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CA8BA"/>
                </a:solidFill>
                <a:latin typeface="Calibri"/>
              </a:rPr>
              <a:t>September 10 – September 16,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463739" cy="635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438339" y="0"/>
            <a:ext cx="2463739" cy="63500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876678" y="0"/>
            <a:ext cx="2463739" cy="635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017" y="0"/>
            <a:ext cx="2463739" cy="63500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753356" y="0"/>
            <a:ext cx="2463739" cy="63500"/>
          </a:xfrm>
          <a:prstGeom prst="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36576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spc="200">
                <a:solidFill>
                  <a:srgbClr val="14B8A6"/>
                </a:solidFill>
                <a:latin typeface="Calibri"/>
              </a:rPr>
              <a:t>RETROSPECTIVE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713232"/>
            <a:ext cx="914400" cy="381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F5F5F0"/>
                </a:solidFill>
                <a:latin typeface="Calibri"/>
              </a:rPr>
              <a:t>Executive Summary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417320"/>
            <a:ext cx="32004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400" b="1">
                <a:solidFill>
                  <a:srgbClr val="14B8A6"/>
                </a:solidFill>
                <a:latin typeface="Calibri"/>
              </a:rPr>
              <a:t>38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331720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9CA8BA"/>
                </a:solidFill>
                <a:latin typeface="Calibri"/>
              </a:rPr>
              <a:t>Tasks completed this period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06324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F5F5F0"/>
                </a:solidFill>
                <a:latin typeface="Calibri"/>
              </a:rPr>
              <a:t>38 tasks shipped  ·  123 SFDC campaigns created (only 3 show real engagement)  ·  0 of 7 SFDC campaign builds hit the 1-business-day SLA target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114800"/>
            <a:ext cx="1106424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F5F5F0"/>
                </a:solidFill>
                <a:latin typeface="Calibri"/>
              </a:rPr>
              <a:t>A high-volume week driven almost entirely by a 123-campaign paid-media/demand-gen batch load in Salesforce (vccp_/demgen_ prefixes), not by organic intake throughput — Asana completions (38) tracked close to the recent weekly average. Real, attributable results came from a handful of items: the Acquia TV Manifesto Source email drove 495 responses and 4 opportunities, and the EvolveDigital Pre-summit Meetup and Scottish Web Folk Conference email both converted into live SFDC campaigns with member activity. Every one of the 7 SFDC-campaign-only builds completed this period missed its 1-business-day target (avg cycle time 13.6 business days including 2 backlog items dating to July; 4.4bd excluding them) — the recurring SLA gap persists. $0.000152 in attributed pipeline against 3 won opportunities remains a rollup-reliability issue, not a performance one.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463739" cy="635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438339" y="0"/>
            <a:ext cx="2463739" cy="63500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876678" y="0"/>
            <a:ext cx="2463739" cy="635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017" y="0"/>
            <a:ext cx="2463739" cy="63500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753356" y="0"/>
            <a:ext cx="2463739" cy="63500"/>
          </a:xfrm>
          <a:prstGeom prst="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36576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spc="200">
                <a:solidFill>
                  <a:srgbClr val="14B8A6"/>
                </a:solidFill>
                <a:latin typeface="Calibri"/>
              </a:rPr>
              <a:t>RETROSPECTIVE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713232"/>
            <a:ext cx="914400" cy="381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F5F5F0"/>
                </a:solidFill>
                <a:latin typeface="Calibri"/>
              </a:rPr>
              <a:t>Completed Tasks by Team Member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737360"/>
            <a:ext cx="1554480" cy="655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F5F5F0"/>
                </a:solidFill>
                <a:latin typeface="Calibri"/>
              </a:rPr>
              <a:t>Aayushi Sharma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194560" y="1920849"/>
            <a:ext cx="8595360" cy="288340"/>
          </a:xfrm>
          <a:prstGeom prst="roundRect">
            <a:avLst/>
          </a:prstGeom>
          <a:solidFill>
            <a:srgbClr val="16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194560" y="1920849"/>
            <a:ext cx="8595360" cy="288340"/>
          </a:xfrm>
          <a:prstGeom prst="round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835640" y="1737360"/>
            <a:ext cx="548640" cy="655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F5F5F0"/>
                </a:solidFill>
                <a:latin typeface="Calibri"/>
              </a:rPr>
              <a:t>14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392680"/>
            <a:ext cx="1554480" cy="655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F5F5F0"/>
                </a:solidFill>
                <a:latin typeface="Calibri"/>
              </a:rPr>
              <a:t>Felipe Tencio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194560" y="2576169"/>
            <a:ext cx="8595360" cy="288340"/>
          </a:xfrm>
          <a:prstGeom prst="roundRect">
            <a:avLst/>
          </a:prstGeom>
          <a:solidFill>
            <a:srgbClr val="16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2194560" y="2576169"/>
            <a:ext cx="6753497" cy="288340"/>
          </a:xfrm>
          <a:prstGeom prst="round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35640" y="2392680"/>
            <a:ext cx="548640" cy="655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F5F5F0"/>
                </a:solidFill>
                <a:latin typeface="Calibri"/>
              </a:rPr>
              <a:t>11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048000"/>
            <a:ext cx="1554480" cy="655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F5F5F0"/>
                </a:solidFill>
                <a:latin typeface="Calibri"/>
              </a:rPr>
              <a:t>Harish Pandey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194560" y="3231489"/>
            <a:ext cx="8595360" cy="288340"/>
          </a:xfrm>
          <a:prstGeom prst="roundRect">
            <a:avLst/>
          </a:prstGeom>
          <a:solidFill>
            <a:srgbClr val="16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2194560" y="3231489"/>
            <a:ext cx="4911634" cy="288340"/>
          </a:xfrm>
          <a:prstGeom prst="round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835640" y="3048000"/>
            <a:ext cx="548640" cy="655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F5F5F0"/>
                </a:solidFill>
                <a:latin typeface="Calibri"/>
              </a:rPr>
              <a:t>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3703320"/>
            <a:ext cx="1554480" cy="655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F5F5F0"/>
                </a:solidFill>
                <a:latin typeface="Calibri"/>
              </a:rPr>
              <a:t>Unassigned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194560" y="3886809"/>
            <a:ext cx="8595360" cy="288340"/>
          </a:xfrm>
          <a:prstGeom prst="roundRect">
            <a:avLst/>
          </a:prstGeom>
          <a:solidFill>
            <a:srgbClr val="16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2194560" y="3886809"/>
            <a:ext cx="2455817" cy="288340"/>
          </a:xfrm>
          <a:prstGeom prst="round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835640" y="3703320"/>
            <a:ext cx="548640" cy="655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F5F5F0"/>
                </a:solidFill>
                <a:latin typeface="Calibri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4358640"/>
            <a:ext cx="1554480" cy="655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F5F5F0"/>
                </a:solidFill>
                <a:latin typeface="Calibri"/>
              </a:rPr>
              <a:t>Michelle Glass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194560" y="4542129"/>
            <a:ext cx="8595360" cy="288340"/>
          </a:xfrm>
          <a:prstGeom prst="roundRect">
            <a:avLst/>
          </a:prstGeom>
          <a:solidFill>
            <a:srgbClr val="16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2194560" y="4542129"/>
            <a:ext cx="613954" cy="288340"/>
          </a:xfrm>
          <a:prstGeom prst="round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835640" y="4358640"/>
            <a:ext cx="548640" cy="655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F5F5F0"/>
                </a:solidFill>
                <a:latin typeface="Calibri"/>
              </a:rPr>
              <a:t>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5013960"/>
            <a:ext cx="1554480" cy="655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F5F5F0"/>
                </a:solidFill>
                <a:latin typeface="Calibri"/>
              </a:rPr>
              <a:t>Jennifer Schroback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194560" y="5197449"/>
            <a:ext cx="8595360" cy="288340"/>
          </a:xfrm>
          <a:prstGeom prst="roundRect">
            <a:avLst/>
          </a:prstGeom>
          <a:solidFill>
            <a:srgbClr val="16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2194560" y="5197449"/>
            <a:ext cx="1" cy="288340"/>
          </a:xfrm>
          <a:prstGeom prst="round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835640" y="5013960"/>
            <a:ext cx="548640" cy="655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F5F5F0"/>
                </a:solidFill>
                <a:latin typeface="Calibri"/>
              </a:rPr>
              <a:t>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6446520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9CA8BA"/>
                </a:solidFill>
                <a:latin typeface="Calibri"/>
              </a:rPr>
              <a:t>Source: Asana [MOps] Intake — search_tasks, completed_on 2026-09-10..2026-09-16, top-level + sub-tasks (38 total).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463739" cy="635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438339" y="0"/>
            <a:ext cx="2463739" cy="63500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876678" y="0"/>
            <a:ext cx="2463739" cy="635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017" y="0"/>
            <a:ext cx="2463739" cy="63500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753356" y="0"/>
            <a:ext cx="2463739" cy="63500"/>
          </a:xfrm>
          <a:prstGeom prst="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36576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spc="200">
                <a:solidFill>
                  <a:srgbClr val="14B8A6"/>
                </a:solidFill>
                <a:latin typeface="Calibri"/>
              </a:rPr>
              <a:t>RETROSPECTIVE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713232"/>
            <a:ext cx="914400" cy="381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F5F5F0"/>
                </a:solidFill>
                <a:latin typeface="Calibri"/>
              </a:rPr>
              <a:t>Emails Sent Last Week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48640" y="1645920"/>
          <a:ext cx="1106424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75120"/>
                <a:gridCol w="1828800"/>
                <a:gridCol w="2560320"/>
              </a:tblGrid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4B8A6"/>
                          </a:solidFill>
                        </a:rPr>
                        <a:t>Send / Campaign Name</a:t>
                      </a:r>
                    </a:p>
                  </a:txBody>
                  <a:tcPr>
                    <a:solidFill>
                      <a:srgbClr val="1622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4B8A6"/>
                          </a:solidFill>
                        </a:rPr>
                        <a:t>Send Date</a:t>
                      </a:r>
                    </a:p>
                  </a:txBody>
                  <a:tcPr>
                    <a:solidFill>
                      <a:srgbClr val="1622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4B8A6"/>
                          </a:solidFill>
                        </a:rPr>
                        <a:t>Region / Audience</a:t>
                      </a:r>
                    </a:p>
                  </a:txBody>
                  <a:tcPr>
                    <a:solidFill>
                      <a:srgbClr val="16223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F5F5F0"/>
                          </a:solidFill>
                        </a:rPr>
                        <a:t>Drupal Canvas and Agentic Content: Email 2 Promo</a:t>
                      </a:r>
                    </a:p>
                  </a:txBody>
                  <a:tcPr>
                    <a:solidFill>
                      <a:srgbClr val="0D1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F5F5F0"/>
                          </a:solidFill>
                        </a:rPr>
                        <a:t>2026-09-10</a:t>
                      </a:r>
                    </a:p>
                  </a:txBody>
                  <a:tcPr>
                    <a:solidFill>
                      <a:srgbClr val="0D1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F5F5F0"/>
                          </a:solidFill>
                        </a:rPr>
                        <a:t>Not tracked (no field)</a:t>
                      </a:r>
                    </a:p>
                  </a:txBody>
                  <a:tcPr>
                    <a:solidFill>
                      <a:srgbClr val="0D162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F5F5F0"/>
                          </a:solidFill>
                        </a:rPr>
                        <a:t>Webinar with Hounder and LADWP Email invite 2</a:t>
                      </a:r>
                    </a:p>
                  </a:txBody>
                  <a:tcPr>
                    <a:solidFill>
                      <a:srgbClr val="0D1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F5F5F0"/>
                          </a:solidFill>
                        </a:rPr>
                        <a:t>2026-09-11</a:t>
                      </a:r>
                    </a:p>
                  </a:txBody>
                  <a:tcPr>
                    <a:solidFill>
                      <a:srgbClr val="0D1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F5F5F0"/>
                          </a:solidFill>
                        </a:rPr>
                        <a:t>Not tracked (no field)</a:t>
                      </a:r>
                    </a:p>
                  </a:txBody>
                  <a:tcPr>
                    <a:solidFill>
                      <a:srgbClr val="0D162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F5F5F0"/>
                          </a:solidFill>
                        </a:rPr>
                        <a:t>Drupal Canvas and Agentic Content: Email 3 Promo</a:t>
                      </a:r>
                    </a:p>
                  </a:txBody>
                  <a:tcPr>
                    <a:solidFill>
                      <a:srgbClr val="0D1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F5F5F0"/>
                          </a:solidFill>
                        </a:rPr>
                        <a:t>2026-09-14</a:t>
                      </a:r>
                    </a:p>
                  </a:txBody>
                  <a:tcPr>
                    <a:solidFill>
                      <a:srgbClr val="0D1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F5F5F0"/>
                          </a:solidFill>
                        </a:rPr>
                        <a:t>Not tracked (no field)</a:t>
                      </a:r>
                    </a:p>
                  </a:txBody>
                  <a:tcPr>
                    <a:solidFill>
                      <a:srgbClr val="0D162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F5F5F0"/>
                          </a:solidFill>
                        </a:rPr>
                        <a:t>Partner Summer Party - London Email for Registrant</a:t>
                      </a:r>
                    </a:p>
                  </a:txBody>
                  <a:tcPr>
                    <a:solidFill>
                      <a:srgbClr val="0D1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F5F5F0"/>
                          </a:solidFill>
                        </a:rPr>
                        <a:t>2026-09-15</a:t>
                      </a:r>
                    </a:p>
                  </a:txBody>
                  <a:tcPr>
                    <a:solidFill>
                      <a:srgbClr val="0D1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F5F5F0"/>
                          </a:solidFill>
                        </a:rPr>
                        <a:t>Not tracked (no field)</a:t>
                      </a:r>
                    </a:p>
                  </a:txBody>
                  <a:tcPr>
                    <a:solidFill>
                      <a:srgbClr val="0D1626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548640" y="42976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9CA8BA"/>
                </a:solidFill>
                <a:latin typeface="Calibri"/>
              </a:rPr>
              <a:t>4 email milestone sub-tasks completed this period.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46520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9CA8BA"/>
                </a:solidFill>
                <a:latin typeface="Calibri"/>
              </a:rPr>
              <a:t>Source: Asana milestone sub-tasks, Project Type = Email(s) only | Nurture Sequences, resource_subtype=milestone, completed_on in retro window. Region/Audience: this project carries no Region or Audience custom field — confirmed null, not omitted.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463739" cy="635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438339" y="0"/>
            <a:ext cx="2463739" cy="63500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876678" y="0"/>
            <a:ext cx="2463739" cy="635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017" y="0"/>
            <a:ext cx="2463739" cy="63500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753356" y="0"/>
            <a:ext cx="2463739" cy="63500"/>
          </a:xfrm>
          <a:prstGeom prst="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36576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spc="200">
                <a:solidFill>
                  <a:srgbClr val="14B8A6"/>
                </a:solidFill>
                <a:latin typeface="Calibri"/>
              </a:rPr>
              <a:t>RETROSPECTIVE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713232"/>
            <a:ext cx="914400" cy="381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F5F5F0"/>
                </a:solidFill>
                <a:latin typeface="Calibri"/>
              </a:rPr>
              <a:t>Campaign Performance (Salesforce)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57200" y="1600200"/>
          <a:ext cx="1124712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40"/>
                <a:gridCol w="1828800"/>
                <a:gridCol w="1737360"/>
                <a:gridCol w="1554480"/>
                <a:gridCol w="1920240"/>
              </a:tblGrid>
              <a:tr h="391885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4B8A6"/>
                          </a:solidFill>
                        </a:rPr>
                        <a:t>Campaign</a:t>
                      </a:r>
                    </a:p>
                  </a:txBody>
                  <a:tcPr>
                    <a:solidFill>
                      <a:srgbClr val="1622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4B8A6"/>
                          </a:solidFill>
                        </a:rPr>
                        <a:t>Members</a:t>
                      </a:r>
                    </a:p>
                  </a:txBody>
                  <a:tcPr>
                    <a:solidFill>
                      <a:srgbClr val="1622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4B8A6"/>
                          </a:solidFill>
                        </a:rPr>
                        <a:t>Responses</a:t>
                      </a:r>
                    </a:p>
                  </a:txBody>
                  <a:tcPr>
                    <a:solidFill>
                      <a:srgbClr val="1622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4B8A6"/>
                          </a:solidFill>
                        </a:rPr>
                        <a:t>Resp. Rate</a:t>
                      </a:r>
                    </a:p>
                  </a:txBody>
                  <a:tcPr>
                    <a:solidFill>
                      <a:srgbClr val="1622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4B8A6"/>
                          </a:solidFill>
                        </a:rPr>
                        <a:t>Leads/Opps</a:t>
                      </a:r>
                    </a:p>
                  </a:txBody>
                  <a:tcPr>
                    <a:solidFill>
                      <a:srgbClr val="162238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F5F5F0"/>
                          </a:solidFill>
                        </a:rPr>
                        <a:t>em_promo_src_26_q4_atv_manifesto_source</a:t>
                      </a:r>
                    </a:p>
                  </a:txBody>
                  <a:tcPr>
                    <a:solidFill>
                      <a:srgbClr val="0D162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F5F5F0"/>
                          </a:solidFill>
                        </a:rPr>
                        <a:t>495</a:t>
                      </a:r>
                    </a:p>
                  </a:txBody>
                  <a:tcPr>
                    <a:solidFill>
                      <a:srgbClr val="0D162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F5F5F0"/>
                          </a:solidFill>
                        </a:rPr>
                        <a:t>495</a:t>
                      </a:r>
                    </a:p>
                  </a:txBody>
                  <a:tcPr>
                    <a:solidFill>
                      <a:srgbClr val="0D162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F5F5F0"/>
                          </a:solidFill>
                        </a:rPr>
                        <a:t>100%*</a:t>
                      </a:r>
                    </a:p>
                  </a:txBody>
                  <a:tcPr>
                    <a:solidFill>
                      <a:srgbClr val="0D162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F5F5F0"/>
                          </a:solidFill>
                        </a:rPr>
                        <a:t>495 / 4</a:t>
                      </a:r>
                    </a:p>
                  </a:txBody>
                  <a:tcPr>
                    <a:solidFill>
                      <a:srgbClr val="0D1626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F5F5F0"/>
                          </a:solidFill>
                        </a:rPr>
                        <a:t>evt_webinar_dxo...Partner Master Class</a:t>
                      </a:r>
                    </a:p>
                  </a:txBody>
                  <a:tcPr>
                    <a:solidFill>
                      <a:srgbClr val="0D162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F5F5F0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0D162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F5F5F0"/>
                          </a:solidFill>
                        </a:rPr>
                        <a:t>128</a:t>
                      </a:r>
                    </a:p>
                  </a:txBody>
                  <a:tcPr>
                    <a:solidFill>
                      <a:srgbClr val="0D162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F5F5F0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0D162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F5F5F0"/>
                          </a:solidFill>
                        </a:rPr>
                        <a:t>131 / 5</a:t>
                      </a:r>
                    </a:p>
                  </a:txBody>
                  <a:tcPr>
                    <a:solidFill>
                      <a:srgbClr val="0D1626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F5F5F0"/>
                          </a:solidFill>
                        </a:rPr>
                        <a:t>ev_workshop...EvolveDigital Pre-summit Meetup</a:t>
                      </a:r>
                    </a:p>
                  </a:txBody>
                  <a:tcPr>
                    <a:solidFill>
                      <a:srgbClr val="0D162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F5F5F0"/>
                          </a:solidFill>
                        </a:rPr>
                        <a:t>68</a:t>
                      </a:r>
                    </a:p>
                  </a:txBody>
                  <a:tcPr>
                    <a:solidFill>
                      <a:srgbClr val="0D162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F5F5F0"/>
                          </a:solidFill>
                        </a:rPr>
                        <a:t>68</a:t>
                      </a:r>
                    </a:p>
                  </a:txBody>
                  <a:tcPr>
                    <a:solidFill>
                      <a:srgbClr val="0D162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F5F5F0"/>
                          </a:solidFill>
                        </a:rPr>
                        <a:t>100%*</a:t>
                      </a:r>
                    </a:p>
                  </a:txBody>
                  <a:tcPr>
                    <a:solidFill>
                      <a:srgbClr val="0D162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F5F5F0"/>
                          </a:solidFill>
                        </a:rPr>
                        <a:t>68 / 0</a:t>
                      </a:r>
                    </a:p>
                  </a:txBody>
                  <a:tcPr>
                    <a:solidFill>
                      <a:srgbClr val="0D1626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F5F5F0"/>
                          </a:solidFill>
                        </a:rPr>
                        <a:t>evt_webinar_dc...AcquiaxDrupalAssocWebinar</a:t>
                      </a:r>
                    </a:p>
                  </a:txBody>
                  <a:tcPr>
                    <a:solidFill>
                      <a:srgbClr val="0D162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F5F5F0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0D162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F5F5F0"/>
                          </a:solidFill>
                        </a:rPr>
                        <a:t>109</a:t>
                      </a:r>
                    </a:p>
                  </a:txBody>
                  <a:tcPr>
                    <a:solidFill>
                      <a:srgbClr val="0D162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F5F5F0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0D162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F5F5F0"/>
                          </a:solidFill>
                        </a:rPr>
                        <a:t>109 / 2</a:t>
                      </a:r>
                    </a:p>
                  </a:txBody>
                  <a:tcPr>
                    <a:solidFill>
                      <a:srgbClr val="0D1626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F5F5F0"/>
                          </a:solidFill>
                        </a:rPr>
                        <a:t>em_promo_Scottish Web Folk Conference_2026_q3</a:t>
                      </a:r>
                    </a:p>
                  </a:txBody>
                  <a:tcPr>
                    <a:solidFill>
                      <a:srgbClr val="0D162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F5F5F0"/>
                          </a:solidFill>
                        </a:rPr>
                        <a:t>89 opened/11 clicked</a:t>
                      </a:r>
                    </a:p>
                  </a:txBody>
                  <a:tcPr>
                    <a:solidFill>
                      <a:srgbClr val="0D162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F5F5F0"/>
                          </a:solidFill>
                        </a:rPr>
                        <a:t>100</a:t>
                      </a:r>
                    </a:p>
                  </a:txBody>
                  <a:tcPr>
                    <a:solidFill>
                      <a:srgbClr val="0D162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F5F5F0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0D162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F5F5F0"/>
                          </a:solidFill>
                        </a:rPr>
                        <a:t>100 / 0</a:t>
                      </a:r>
                    </a:p>
                  </a:txBody>
                  <a:tcPr>
                    <a:solidFill>
                      <a:srgbClr val="0D1626"/>
                    </a:solidFill>
                  </a:tcPr>
                </a:tc>
              </a:tr>
              <a:tr h="39189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F5F5F0"/>
                          </a:solidFill>
                        </a:rPr>
                        <a:t>evt_ws_26_q3_all_dam workshop boston 2026</a:t>
                      </a:r>
                    </a:p>
                  </a:txBody>
                  <a:tcPr>
                    <a:solidFill>
                      <a:srgbClr val="0D162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F5F5F0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0D162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F5F5F0"/>
                          </a:solidFill>
                        </a:rPr>
                        <a:t>14</a:t>
                      </a:r>
                    </a:p>
                  </a:txBody>
                  <a:tcPr>
                    <a:solidFill>
                      <a:srgbClr val="0D162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F5F5F0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0D162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F5F5F0"/>
                          </a:solidFill>
                        </a:rPr>
                        <a:t>14 / 2</a:t>
                      </a:r>
                    </a:p>
                  </a:txBody>
                  <a:tcPr>
                    <a:solidFill>
                      <a:srgbClr val="0D1626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457200" y="4526280"/>
            <a:ext cx="11247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F5F5F0"/>
                </a:solidFill>
                <a:latin typeface="Calibri"/>
              </a:rPr>
              <a:t>Period roll-up (all 123 campaigns created/started 09-10..09-16): 376 leads + 542 contacts (918 total) · 915 responses · 13 opportunities · 3 won · $0.000152 attributed pipeline.</a:t>
            </a:r>
          </a:p>
          <a:p>
            <a:pPr algn="l"/>
            <a:r>
              <a:rPr sz="1150" b="0">
                <a:solidFill>
                  <a:srgbClr val="F5F5F0"/>
                </a:solidFill>
                <a:latin typeface="Calibri"/>
              </a:rPr>
              <a:t>*Response rate shown only where Members and Responses both trace to the same field; most rows report Responses only — see slide 19.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46520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9CA8BA"/>
                </a:solidFill>
                <a:latin typeface="Calibri"/>
              </a:rPr>
              <a:t>Source: Salesforce SOQL, Campaign WHERE CreatedDate=LAST_N_DAYS:7 OR StartDate=LAST_N_DAYS:7 (123 rows); CampaignMember GROUP BY CampaignId,Status. MOps → SFDC link: manifesto Source, EvolveDigital, and Scottish Web Folk map directly to Asana tickets completed this period.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463739" cy="635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438339" y="0"/>
            <a:ext cx="2463739" cy="63500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876678" y="0"/>
            <a:ext cx="2463739" cy="635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017" y="0"/>
            <a:ext cx="2463739" cy="63500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753356" y="0"/>
            <a:ext cx="2463739" cy="63500"/>
          </a:xfrm>
          <a:prstGeom prst="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36576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spc="200">
                <a:solidFill>
                  <a:srgbClr val="14B8A6"/>
                </a:solidFill>
                <a:latin typeface="Calibri"/>
              </a:rPr>
              <a:t>RETROSPECTIVE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713232"/>
            <a:ext cx="914400" cy="381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F5F5F0"/>
                </a:solidFill>
                <a:latin typeface="Calibri"/>
              </a:rPr>
              <a:t>SLA &amp; Cycle Time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463040"/>
            <a:ext cx="34747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>
                <a:solidFill>
                  <a:srgbClr val="EF4444"/>
                </a:solidFill>
                <a:latin typeface="Calibri"/>
              </a:rPr>
              <a:t>0 of 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286000"/>
            <a:ext cx="3474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9CA8BA"/>
                </a:solidFill>
                <a:latin typeface="Calibri"/>
              </a:rPr>
              <a:t>SFDC campaign builds within the</a:t>
            </a:r>
          </a:p>
          <a:p>
            <a:pPr algn="l"/>
            <a:r>
              <a:rPr sz="1200" b="0">
                <a:solidFill>
                  <a:srgbClr val="9CA8BA"/>
                </a:solidFill>
                <a:latin typeface="Calibri"/>
              </a:rPr>
              <a:t>1-business-day SLA target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1463040"/>
            <a:ext cx="34747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>
                <a:solidFill>
                  <a:srgbClr val="F59E0B"/>
                </a:solidFill>
                <a:latin typeface="Calibri"/>
              </a:rPr>
              <a:t>13.6 bd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2286000"/>
            <a:ext cx="3474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9CA8BA"/>
                </a:solidFill>
                <a:latin typeface="Calibri"/>
              </a:rPr>
              <a:t>Average cycle time (created→completed)</a:t>
            </a:r>
          </a:p>
          <a:p>
            <a:pPr algn="l"/>
            <a:r>
              <a:rPr sz="1200" b="0">
                <a:solidFill>
                  <a:srgbClr val="9CA8BA"/>
                </a:solidFill>
                <a:latin typeface="Calibri"/>
              </a:rPr>
              <a:t>4.4bd excluding 2 backlog items from July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548640" y="3200400"/>
          <a:ext cx="1106424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0"/>
                <a:gridCol w="1463040"/>
                <a:gridCol w="1463040"/>
                <a:gridCol w="1737360"/>
              </a:tblGrid>
              <a:tr h="3429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4B8A6"/>
                          </a:solidFill>
                        </a:rPr>
                        <a:t>Item</a:t>
                      </a:r>
                    </a:p>
                  </a:txBody>
                  <a:tcPr>
                    <a:solidFill>
                      <a:srgbClr val="1622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4B8A6"/>
                          </a:solidFill>
                        </a:rPr>
                        <a:t>Created</a:t>
                      </a:r>
                    </a:p>
                  </a:txBody>
                  <a:tcPr>
                    <a:solidFill>
                      <a:srgbClr val="1622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4B8A6"/>
                          </a:solidFill>
                        </a:rPr>
                        <a:t>Completed</a:t>
                      </a:r>
                    </a:p>
                  </a:txBody>
                  <a:tcPr>
                    <a:solidFill>
                      <a:srgbClr val="1622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4B8A6"/>
                          </a:solidFill>
                        </a:rPr>
                        <a:t>Cycle (bd)</a:t>
                      </a:r>
                    </a:p>
                  </a:txBody>
                  <a:tcPr>
                    <a:solidFill>
                      <a:srgbClr val="162238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F5F5F0"/>
                          </a:solidFill>
                        </a:rPr>
                        <a:t>SFDC Creation and List Upload - Febraban Tech 26</a:t>
                      </a:r>
                    </a:p>
                  </a:txBody>
                  <a:tcPr>
                    <a:solidFill>
                      <a:srgbClr val="0D1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F5F5F0"/>
                          </a:solidFill>
                        </a:rPr>
                        <a:t>09-03</a:t>
                      </a:r>
                    </a:p>
                  </a:txBody>
                  <a:tcPr>
                    <a:solidFill>
                      <a:srgbClr val="0D1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F5F5F0"/>
                          </a:solidFill>
                        </a:rPr>
                        <a:t>09-10</a:t>
                      </a:r>
                    </a:p>
                  </a:txBody>
                  <a:tcPr>
                    <a:solidFill>
                      <a:srgbClr val="0D162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F5F5F0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0D1626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F5F5F0"/>
                          </a:solidFill>
                        </a:rPr>
                        <a:t>SFDC Campaign Creation (HS Webinar Sept 24)</a:t>
                      </a:r>
                    </a:p>
                  </a:txBody>
                  <a:tcPr>
                    <a:solidFill>
                      <a:srgbClr val="0D1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F5F5F0"/>
                          </a:solidFill>
                        </a:rPr>
                        <a:t>09-14</a:t>
                      </a:r>
                    </a:p>
                  </a:txBody>
                  <a:tcPr>
                    <a:solidFill>
                      <a:srgbClr val="0D1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F5F5F0"/>
                          </a:solidFill>
                        </a:rPr>
                        <a:t>09-16</a:t>
                      </a:r>
                    </a:p>
                  </a:txBody>
                  <a:tcPr>
                    <a:solidFill>
                      <a:srgbClr val="0D162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F5F5F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0D1626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F5F5F0"/>
                          </a:solidFill>
                        </a:rPr>
                        <a:t>MAC 2026 SFDC Campaign(s) &amp; Form</a:t>
                      </a:r>
                    </a:p>
                  </a:txBody>
                  <a:tcPr>
                    <a:solidFill>
                      <a:srgbClr val="0D1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F5F5F0"/>
                          </a:solidFill>
                        </a:rPr>
                        <a:t>09-09</a:t>
                      </a:r>
                    </a:p>
                  </a:txBody>
                  <a:tcPr>
                    <a:solidFill>
                      <a:srgbClr val="0D1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F5F5F0"/>
                          </a:solidFill>
                        </a:rPr>
                        <a:t>09-15</a:t>
                      </a:r>
                    </a:p>
                  </a:txBody>
                  <a:tcPr>
                    <a:solidFill>
                      <a:srgbClr val="0D162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F5F5F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0D1626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F5F5F0"/>
                          </a:solidFill>
                        </a:rPr>
                        <a:t>Acquia TV manifesto Source - Email Campaign Build</a:t>
                      </a:r>
                    </a:p>
                  </a:txBody>
                  <a:tcPr>
                    <a:solidFill>
                      <a:srgbClr val="0D1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F5F5F0"/>
                          </a:solidFill>
                        </a:rPr>
                        <a:t>09-04</a:t>
                      </a:r>
                    </a:p>
                  </a:txBody>
                  <a:tcPr>
                    <a:solidFill>
                      <a:srgbClr val="0D1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F5F5F0"/>
                          </a:solidFill>
                        </a:rPr>
                        <a:t>09-10</a:t>
                      </a:r>
                    </a:p>
                  </a:txBody>
                  <a:tcPr>
                    <a:solidFill>
                      <a:srgbClr val="0D162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F5F5F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0D1626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F5F5F0"/>
                          </a:solidFill>
                        </a:rPr>
                        <a:t>Acquia TV manifesto WaterAid - Email Campaign Build</a:t>
                      </a:r>
                    </a:p>
                  </a:txBody>
                  <a:tcPr>
                    <a:solidFill>
                      <a:srgbClr val="0D1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F5F5F0"/>
                          </a:solidFill>
                        </a:rPr>
                        <a:t>09-04</a:t>
                      </a:r>
                    </a:p>
                  </a:txBody>
                  <a:tcPr>
                    <a:solidFill>
                      <a:srgbClr val="0D1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F5F5F0"/>
                          </a:solidFill>
                        </a:rPr>
                        <a:t>09-15</a:t>
                      </a:r>
                    </a:p>
                  </a:txBody>
                  <a:tcPr>
                    <a:solidFill>
                      <a:srgbClr val="0D162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F5F5F0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rgbClr val="0D1626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F5F5F0"/>
                          </a:solidFill>
                        </a:rPr>
                        <a:t>MAICON SFDC Campaigns w/ Parent (backlog)</a:t>
                      </a:r>
                    </a:p>
                  </a:txBody>
                  <a:tcPr>
                    <a:solidFill>
                      <a:srgbClr val="0D1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F5F5F0"/>
                          </a:solidFill>
                        </a:rPr>
                        <a:t>07-23</a:t>
                      </a:r>
                    </a:p>
                  </a:txBody>
                  <a:tcPr>
                    <a:solidFill>
                      <a:srgbClr val="0D1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F5F5F0"/>
                          </a:solidFill>
                        </a:rPr>
                        <a:t>09-16</a:t>
                      </a:r>
                    </a:p>
                  </a:txBody>
                  <a:tcPr>
                    <a:solidFill>
                      <a:srgbClr val="0D162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F5F5F0"/>
                          </a:solidFill>
                        </a:rPr>
                        <a:t>~38</a:t>
                      </a:r>
                    </a:p>
                  </a:txBody>
                  <a:tcPr>
                    <a:solidFill>
                      <a:srgbClr val="0D1626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F5F5F0"/>
                          </a:solidFill>
                        </a:rPr>
                        <a:t>Content Marketing World SFDC Campaign(s) &amp; Form (backlog)</a:t>
                      </a:r>
                    </a:p>
                  </a:txBody>
                  <a:tcPr>
                    <a:solidFill>
                      <a:srgbClr val="0D1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F5F5F0"/>
                          </a:solidFill>
                        </a:rPr>
                        <a:t>07-23</a:t>
                      </a:r>
                    </a:p>
                  </a:txBody>
                  <a:tcPr>
                    <a:solidFill>
                      <a:srgbClr val="0D1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F5F5F0"/>
                          </a:solidFill>
                        </a:rPr>
                        <a:t>09-10</a:t>
                      </a:r>
                    </a:p>
                  </a:txBody>
                  <a:tcPr>
                    <a:solidFill>
                      <a:srgbClr val="0D162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F5F5F0"/>
                          </a:solidFill>
                        </a:rPr>
                        <a:t>35</a:t>
                      </a:r>
                    </a:p>
                  </a:txBody>
                  <a:tcPr>
                    <a:solidFill>
                      <a:srgbClr val="0D1626"/>
                    </a:solidFill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548640" y="6446520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9CA8BA"/>
                </a:solidFill>
                <a:latin typeface="Calibri"/>
              </a:rPr>
              <a:t>Target per sla-watchdog SLA table: SFDC Campaign creation (≤5 campaigns) = 1 business day. No breach/at-risk fields exist on these tasks — cycle time computed from created_at→completed_at business days, per prior weeks' methodology (no clean submission-date field in Asana).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463739" cy="635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438339" y="0"/>
            <a:ext cx="2463739" cy="63500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876678" y="0"/>
            <a:ext cx="2463739" cy="635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017" y="0"/>
            <a:ext cx="2463739" cy="63500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753356" y="0"/>
            <a:ext cx="2463739" cy="63500"/>
          </a:xfrm>
          <a:prstGeom prst="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36576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spc="200">
                <a:solidFill>
                  <a:srgbClr val="14B8A6"/>
                </a:solidFill>
                <a:latin typeface="Calibri"/>
              </a:rPr>
              <a:t>RETROSPECTIVE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713232"/>
            <a:ext cx="914400" cy="381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F5F5F0"/>
                </a:solidFill>
                <a:latin typeface="Calibri"/>
              </a:rPr>
              <a:t>Lead Weekly Wins — Aayushi Sharma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554480"/>
            <a:ext cx="11064240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F5F5F0"/>
                </a:solidFill>
                <a:latin typeface="Calibri"/>
              </a:rPr>
              <a:t>• Shipped 3 SFDC campaign builds this week: MAC 2026, Acquia TV manifesto WaterAid, and Content Marketing World SFDC Campaign(s) &amp; Form — all now live campaign records.</a:t>
            </a:r>
          </a:p>
          <a:p>
            <a:pPr algn="l"/>
            <a:r>
              <a:rPr sz="1500" b="0">
                <a:solidFill>
                  <a:srgbClr val="F5F5F0"/>
                </a:solidFill>
                <a:latin typeface="Calibri"/>
              </a:rPr>
              <a:t>• Built and shipped the Acquia TV manifesto Source email + SFDC campaign, which is already producing results: 495 responses and 4 opportunities logged against it.</a:t>
            </a:r>
          </a:p>
          <a:p>
            <a:pPr algn="l"/>
            <a:r>
              <a:rPr sz="1500" b="0">
                <a:solidFill>
                  <a:srgbClr val="F5F5F0"/>
                </a:solidFill>
                <a:latin typeface="Calibri"/>
              </a:rPr>
              <a:t>• Completed 4 email builds/promos across Drupal Canvas &amp; Agentic Content (2 promo sends) and the DAM Workshop NYC/DC pre-event sends.</a:t>
            </a:r>
          </a:p>
          <a:p>
            <a:pPr algn="l"/>
            <a:r>
              <a:rPr sz="1500" b="0">
                <a:solidFill>
                  <a:srgbClr val="F5F5F0"/>
                </a:solidFill>
                <a:latin typeface="Calibri"/>
              </a:rPr>
              <a:t>• 14 tasks completed total this period — the highest individual count on the team.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463739" cy="635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438339" y="0"/>
            <a:ext cx="2463739" cy="63500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876678" y="0"/>
            <a:ext cx="2463739" cy="635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017" y="0"/>
            <a:ext cx="2463739" cy="63500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753356" y="0"/>
            <a:ext cx="2463739" cy="63500"/>
          </a:xfrm>
          <a:prstGeom prst="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36576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spc="200">
                <a:solidFill>
                  <a:srgbClr val="14B8A6"/>
                </a:solidFill>
                <a:latin typeface="Calibri"/>
              </a:rPr>
              <a:t>RETROSPECTIVE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713232"/>
            <a:ext cx="914400" cy="381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F5F5F0"/>
                </a:solidFill>
                <a:latin typeface="Calibri"/>
              </a:rPr>
              <a:t>Team Performance Highlights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554480"/>
            <a:ext cx="3566160" cy="4206240"/>
          </a:xfrm>
          <a:prstGeom prst="roundRect">
            <a:avLst/>
          </a:prstGeom>
          <a:solidFill>
            <a:srgbClr val="162238"/>
          </a:solidFill>
          <a:ln w="12700">
            <a:solidFill>
              <a:srgbClr val="2A38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85800" y="1783080"/>
            <a:ext cx="201168" cy="201168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1737360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3B82F6"/>
                </a:solidFill>
                <a:latin typeface="Calibri"/>
              </a:rPr>
              <a:t>Harish Pandey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148840"/>
            <a:ext cx="3108960" cy="3429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F5F5F0"/>
                </a:solidFill>
                <a:latin typeface="Calibri"/>
              </a:rPr>
              <a:t>8 tasks completed — 2 SFDC campaign creations, 2 list uploads (BBDD SOLA26, BBDD BR26 - both still flagged "Waiting for Feedback" despite being checked complete), and 4 email/campaign items including the Febraban Tech 26 SFDC + list upload build.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06240" y="1554480"/>
            <a:ext cx="3566160" cy="4206240"/>
          </a:xfrm>
          <a:prstGeom prst="roundRect">
            <a:avLst/>
          </a:prstGeom>
          <a:solidFill>
            <a:srgbClr val="162238"/>
          </a:solidFill>
          <a:ln w="12700">
            <a:solidFill>
              <a:srgbClr val="2A38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434840" y="1783080"/>
            <a:ext cx="201168" cy="201168"/>
          </a:xfrm>
          <a:prstGeom prst="ellipse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09160" y="1737360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3B82F6"/>
                </a:solidFill>
                <a:latin typeface="Calibri"/>
              </a:rPr>
              <a:t>Felipe Tencio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40" y="2148840"/>
            <a:ext cx="3108960" cy="3429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F5F5F0"/>
                </a:solidFill>
                <a:latin typeface="Calibri"/>
              </a:rPr>
              <a:t>11 tasks completed — the team's second-highest count. Delivered 3 audience builds, the EvolveDigital Pre-summit Meetup list upload (which is already live in SFDC with 34 registered / 34 attended), the Febraban BR list upload, and the Partner Master Class webinar wrap-up.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55279" y="1554480"/>
            <a:ext cx="3566160" cy="4206240"/>
          </a:xfrm>
          <a:prstGeom prst="roundRect">
            <a:avLst/>
          </a:prstGeom>
          <a:solidFill>
            <a:srgbClr val="162238"/>
          </a:solidFill>
          <a:ln w="12700">
            <a:solidFill>
              <a:srgbClr val="2A38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183879" y="1783080"/>
            <a:ext cx="201168" cy="201168"/>
          </a:xfrm>
          <a:prstGeom prst="ellipse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58199" y="1737360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3B82F6"/>
                </a:solidFill>
                <a:latin typeface="Calibri"/>
              </a:rPr>
              <a:t>Jennifer Schroback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83879" y="2148840"/>
            <a:ext cx="3108960" cy="3429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F5F5F0"/>
                </a:solidFill>
                <a:latin typeface="Calibri"/>
              </a:rPr>
              <a:t>No task completions logged in the [MOps] Intake board this period. Jennifer's active work this week was outside Asana: rolling out the new MOPS_score lead-scoring field (replacing account engagement score) and sharing a new Claude skill for SFDC campaign naming with the team.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463739" cy="635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438339" y="0"/>
            <a:ext cx="2463739" cy="63500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876678" y="0"/>
            <a:ext cx="2463739" cy="635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017" y="0"/>
            <a:ext cx="2463739" cy="63500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753356" y="0"/>
            <a:ext cx="2463739" cy="63500"/>
          </a:xfrm>
          <a:prstGeom prst="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74320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spc="200">
                <a:solidFill>
                  <a:srgbClr val="F97316"/>
                </a:solidFill>
                <a:latin typeface="Calibri"/>
              </a:rPr>
              <a:t>LOOK AHEAD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090672"/>
            <a:ext cx="914400" cy="381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15468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800" b="1">
                <a:solidFill>
                  <a:srgbClr val="F5F5F0"/>
                </a:solidFill>
                <a:latin typeface="Calibri"/>
              </a:rPr>
              <a:t>Planning Next Week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93192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CA8BA"/>
                </a:solidFill>
                <a:latin typeface="Calibri"/>
              </a:rPr>
              <a:t>September 17 – September 27, 2026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463739" cy="635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438339" y="0"/>
            <a:ext cx="2463739" cy="63500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876678" y="0"/>
            <a:ext cx="2463739" cy="635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017" y="0"/>
            <a:ext cx="2463739" cy="63500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753356" y="0"/>
            <a:ext cx="2463739" cy="63500"/>
          </a:xfrm>
          <a:prstGeom prst="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36576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spc="200">
                <a:solidFill>
                  <a:srgbClr val="F97316"/>
                </a:solidFill>
                <a:latin typeface="Calibri"/>
              </a:rPr>
              <a:t>LOOK AHEAD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713232"/>
            <a:ext cx="914400" cy="381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F5F5F0"/>
                </a:solidFill>
                <a:latin typeface="Calibri"/>
              </a:rPr>
              <a:t>Upcoming Tasks by Team Member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737360"/>
            <a:ext cx="155448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F5F5F0"/>
                </a:solidFill>
                <a:latin typeface="Calibri"/>
              </a:rPr>
              <a:t>Harish Pandey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194560" y="1921703"/>
            <a:ext cx="8595360" cy="289681"/>
          </a:xfrm>
          <a:prstGeom prst="roundRect">
            <a:avLst/>
          </a:prstGeom>
          <a:solidFill>
            <a:srgbClr val="16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194560" y="1921703"/>
            <a:ext cx="8595360" cy="289681"/>
          </a:xfrm>
          <a:prstGeom prst="round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835640" y="1737360"/>
            <a:ext cx="5486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F5F5F0"/>
                </a:solidFill>
                <a:latin typeface="Calibri"/>
              </a:rPr>
              <a:t>18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395728"/>
            <a:ext cx="155448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F5F5F0"/>
                </a:solidFill>
                <a:latin typeface="Calibri"/>
              </a:rPr>
              <a:t>Unassigned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194560" y="2580071"/>
            <a:ext cx="8595360" cy="289681"/>
          </a:xfrm>
          <a:prstGeom prst="roundRect">
            <a:avLst/>
          </a:prstGeom>
          <a:solidFill>
            <a:srgbClr val="16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2194560" y="2580071"/>
            <a:ext cx="6207760" cy="289681"/>
          </a:xfrm>
          <a:prstGeom prst="round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35640" y="2395728"/>
            <a:ext cx="5486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F5F5F0"/>
                </a:solidFill>
                <a:latin typeface="Calibri"/>
              </a:rPr>
              <a:t>13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054096"/>
            <a:ext cx="155448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F5F5F0"/>
                </a:solidFill>
                <a:latin typeface="Calibri"/>
              </a:rPr>
              <a:t>Aayushi Sharma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194560" y="3238439"/>
            <a:ext cx="8595360" cy="289681"/>
          </a:xfrm>
          <a:prstGeom prst="roundRect">
            <a:avLst/>
          </a:prstGeom>
          <a:solidFill>
            <a:srgbClr val="16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2194560" y="3238439"/>
            <a:ext cx="3820160" cy="289681"/>
          </a:xfrm>
          <a:prstGeom prst="round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835640" y="3054096"/>
            <a:ext cx="5486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F5F5F0"/>
                </a:solidFill>
                <a:latin typeface="Calibri"/>
              </a:rPr>
              <a:t>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3712464"/>
            <a:ext cx="155448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F5F5F0"/>
                </a:solidFill>
                <a:latin typeface="Calibri"/>
              </a:rPr>
              <a:t>Felipe Tencio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194560" y="3896807"/>
            <a:ext cx="8595360" cy="289681"/>
          </a:xfrm>
          <a:prstGeom prst="roundRect">
            <a:avLst/>
          </a:prstGeom>
          <a:solidFill>
            <a:srgbClr val="16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2194560" y="3896807"/>
            <a:ext cx="2387600" cy="289681"/>
          </a:xfrm>
          <a:prstGeom prst="round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835640" y="3712464"/>
            <a:ext cx="5486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F5F5F0"/>
                </a:solidFill>
                <a:latin typeface="Calibri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4370832"/>
            <a:ext cx="155448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F5F5F0"/>
                </a:solidFill>
                <a:latin typeface="Calibri"/>
              </a:rPr>
              <a:t>Jennifer Schroback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194560" y="4555175"/>
            <a:ext cx="8595360" cy="289681"/>
          </a:xfrm>
          <a:prstGeom prst="roundRect">
            <a:avLst/>
          </a:prstGeom>
          <a:solidFill>
            <a:srgbClr val="16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2194560" y="4555175"/>
            <a:ext cx="1" cy="289681"/>
          </a:xfrm>
          <a:prstGeom prst="round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835640" y="4370832"/>
            <a:ext cx="5486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F5F5F0"/>
                </a:solidFill>
                <a:latin typeface="Calibri"/>
              </a:rPr>
              <a:t>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5303520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F5F5F0"/>
                </a:solidFill>
                <a:latin typeface="Calibri"/>
              </a:rPr>
              <a:t>Total Capacity Required: 44 Tasks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6446520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9CA8BA"/>
                </a:solidFill>
                <a:latin typeface="Calibri"/>
              </a:rPr>
              <a:t>Source: Asana [MOps] Intake — search_tasks, due_on 2026-09-17..2026-09-27, top-level + sub-tasks (44 total, 8 top-level + 36 sub-tasks).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463739" cy="635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438339" y="0"/>
            <a:ext cx="2463739" cy="63500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876678" y="0"/>
            <a:ext cx="2463739" cy="635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017" y="0"/>
            <a:ext cx="2463739" cy="63500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753356" y="0"/>
            <a:ext cx="2463739" cy="63500"/>
          </a:xfrm>
          <a:prstGeom prst="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36576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spc="200">
                <a:solidFill>
                  <a:srgbClr val="F97316"/>
                </a:solidFill>
                <a:latin typeface="Calibri"/>
              </a:rPr>
              <a:t>LOOK AHEAD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713232"/>
            <a:ext cx="914400" cy="381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F5F5F0"/>
                </a:solidFill>
                <a:latin typeface="Calibri"/>
              </a:rPr>
              <a:t>Upcoming Email Sends Next Week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57200" y="1508760"/>
          <a:ext cx="1124712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8000"/>
                <a:gridCol w="1828800"/>
                <a:gridCol w="2560320"/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4B8A6"/>
                          </a:solidFill>
                        </a:rPr>
                        <a:t>Send / Campaign Name</a:t>
                      </a:r>
                    </a:p>
                  </a:txBody>
                  <a:tcPr>
                    <a:solidFill>
                      <a:srgbClr val="1622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4B8A6"/>
                          </a:solidFill>
                        </a:rPr>
                        <a:t>Send Date</a:t>
                      </a:r>
                    </a:p>
                  </a:txBody>
                  <a:tcPr>
                    <a:solidFill>
                      <a:srgbClr val="1622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4B8A6"/>
                          </a:solidFill>
                        </a:rPr>
                        <a:t>Region / Audience</a:t>
                      </a:r>
                    </a:p>
                  </a:txBody>
                  <a:tcPr>
                    <a:solidFill>
                      <a:srgbClr val="16223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F5F5F0"/>
                          </a:solidFill>
                        </a:rPr>
                        <a:t>[Scottish Web Folk] Email to Higher Ed Send</a:t>
                      </a:r>
                    </a:p>
                  </a:txBody>
                  <a:tcPr>
                    <a:solidFill>
                      <a:srgbClr val="0D1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F5F5F0"/>
                          </a:solidFill>
                        </a:rPr>
                        <a:t>2026-09-17</a:t>
                      </a:r>
                    </a:p>
                  </a:txBody>
                  <a:tcPr>
                    <a:solidFill>
                      <a:srgbClr val="0D1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F5F5F0"/>
                          </a:solidFill>
                        </a:rPr>
                        <a:t>Not tracked (no field)</a:t>
                      </a:r>
                    </a:p>
                  </a:txBody>
                  <a:tcPr>
                    <a:solidFill>
                      <a:srgbClr val="0D162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F5F5F0"/>
                          </a:solidFill>
                        </a:rPr>
                        <a:t>September 2026 Partner Newsletter Send</a:t>
                      </a:r>
                    </a:p>
                  </a:txBody>
                  <a:tcPr>
                    <a:solidFill>
                      <a:srgbClr val="0D1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F5F5F0"/>
                          </a:solidFill>
                        </a:rPr>
                        <a:t>2026-09-17</a:t>
                      </a:r>
                    </a:p>
                  </a:txBody>
                  <a:tcPr>
                    <a:solidFill>
                      <a:srgbClr val="0D1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F5F5F0"/>
                          </a:solidFill>
                        </a:rPr>
                        <a:t>Not tracked (no field)</a:t>
                      </a:r>
                    </a:p>
                  </a:txBody>
                  <a:tcPr>
                    <a:solidFill>
                      <a:srgbClr val="0D162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F5F5F0"/>
                          </a:solidFill>
                        </a:rPr>
                        <a:t>HS Webinar Sept 24 - Email invite 1</a:t>
                      </a:r>
                    </a:p>
                  </a:txBody>
                  <a:tcPr>
                    <a:solidFill>
                      <a:srgbClr val="0D1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F5F5F0"/>
                          </a:solidFill>
                        </a:rPr>
                        <a:t>2026-09-17</a:t>
                      </a:r>
                    </a:p>
                  </a:txBody>
                  <a:tcPr>
                    <a:solidFill>
                      <a:srgbClr val="0D1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F5F5F0"/>
                          </a:solidFill>
                        </a:rPr>
                        <a:t>Not tracked (no field)</a:t>
                      </a:r>
                    </a:p>
                  </a:txBody>
                  <a:tcPr>
                    <a:solidFill>
                      <a:srgbClr val="0D162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F5F5F0"/>
                          </a:solidFill>
                        </a:rPr>
                        <a:t>Webinar with Hounder and LADWP Email invite 3</a:t>
                      </a:r>
                    </a:p>
                  </a:txBody>
                  <a:tcPr>
                    <a:solidFill>
                      <a:srgbClr val="0D1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F5F5F0"/>
                          </a:solidFill>
                        </a:rPr>
                        <a:t>2026-09-17</a:t>
                      </a:r>
                    </a:p>
                  </a:txBody>
                  <a:tcPr>
                    <a:solidFill>
                      <a:srgbClr val="0D1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F5F5F0"/>
                          </a:solidFill>
                        </a:rPr>
                        <a:t>Not tracked (no field)</a:t>
                      </a:r>
                    </a:p>
                  </a:txBody>
                  <a:tcPr>
                    <a:solidFill>
                      <a:srgbClr val="0D162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F5F5F0"/>
                          </a:solidFill>
                        </a:rPr>
                        <a:t>DrupalCamp Italy Wrap Around Event Email 1</a:t>
                      </a:r>
                    </a:p>
                  </a:txBody>
                  <a:tcPr>
                    <a:solidFill>
                      <a:srgbClr val="0D1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F5F5F0"/>
                          </a:solidFill>
                        </a:rPr>
                        <a:t>2026-09-17</a:t>
                      </a:r>
                    </a:p>
                  </a:txBody>
                  <a:tcPr>
                    <a:solidFill>
                      <a:srgbClr val="0D1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F5F5F0"/>
                          </a:solidFill>
                        </a:rPr>
                        <a:t>Not tracked (no field)</a:t>
                      </a:r>
                    </a:p>
                  </a:txBody>
                  <a:tcPr>
                    <a:solidFill>
                      <a:srgbClr val="0D162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F5F5F0"/>
                          </a:solidFill>
                        </a:rPr>
                        <a:t>Partner Summer Party - Thank you Email send</a:t>
                      </a:r>
                    </a:p>
                  </a:txBody>
                  <a:tcPr>
                    <a:solidFill>
                      <a:srgbClr val="0D1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F5F5F0"/>
                          </a:solidFill>
                        </a:rPr>
                        <a:t>2026-09-18</a:t>
                      </a:r>
                    </a:p>
                  </a:txBody>
                  <a:tcPr>
                    <a:solidFill>
                      <a:srgbClr val="0D1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F5F5F0"/>
                          </a:solidFill>
                        </a:rPr>
                        <a:t>Not tracked (no field)</a:t>
                      </a:r>
                    </a:p>
                  </a:txBody>
                  <a:tcPr>
                    <a:solidFill>
                      <a:srgbClr val="0D162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F5F5F0"/>
                          </a:solidFill>
                        </a:rPr>
                        <a:t>[DrupalCon Rotterdam] Second email send - 22nd Sept</a:t>
                      </a:r>
                    </a:p>
                  </a:txBody>
                  <a:tcPr>
                    <a:solidFill>
                      <a:srgbClr val="0D1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F5F5F0"/>
                          </a:solidFill>
                        </a:rPr>
                        <a:t>2026-09-22</a:t>
                      </a:r>
                    </a:p>
                  </a:txBody>
                  <a:tcPr>
                    <a:solidFill>
                      <a:srgbClr val="0D1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F5F5F0"/>
                          </a:solidFill>
                        </a:rPr>
                        <a:t>Not tracked (no field)</a:t>
                      </a:r>
                    </a:p>
                  </a:txBody>
                  <a:tcPr>
                    <a:solidFill>
                      <a:srgbClr val="0D162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F5F5F0"/>
                          </a:solidFill>
                        </a:rPr>
                        <a:t>HS Webinar Sept 24 - Email invite 2</a:t>
                      </a:r>
                    </a:p>
                  </a:txBody>
                  <a:tcPr>
                    <a:solidFill>
                      <a:srgbClr val="0D1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F5F5F0"/>
                          </a:solidFill>
                        </a:rPr>
                        <a:t>2026-09-23</a:t>
                      </a:r>
                    </a:p>
                  </a:txBody>
                  <a:tcPr>
                    <a:solidFill>
                      <a:srgbClr val="0D1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F5F5F0"/>
                          </a:solidFill>
                        </a:rPr>
                        <a:t>Not tracked (no field)</a:t>
                      </a:r>
                    </a:p>
                  </a:txBody>
                  <a:tcPr>
                    <a:solidFill>
                      <a:srgbClr val="0D162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F5F5F0"/>
                          </a:solidFill>
                        </a:rPr>
                        <a:t>DrupalCamp Italy Wrap Around Event Email 2</a:t>
                      </a:r>
                    </a:p>
                  </a:txBody>
                  <a:tcPr>
                    <a:solidFill>
                      <a:srgbClr val="0D1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F5F5F0"/>
                          </a:solidFill>
                        </a:rPr>
                        <a:t>2026-09-24</a:t>
                      </a:r>
                    </a:p>
                  </a:txBody>
                  <a:tcPr>
                    <a:solidFill>
                      <a:srgbClr val="0D1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F5F5F0"/>
                          </a:solidFill>
                        </a:rPr>
                        <a:t>Not tracked (no field)</a:t>
                      </a:r>
                    </a:p>
                  </a:txBody>
                  <a:tcPr>
                    <a:solidFill>
                      <a:srgbClr val="0D1626"/>
                    </a:solidFill>
                  </a:tcPr>
                </a:tc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457200" y="5349240"/>
            <a:ext cx="914400" cy="292608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0D1626"/>
                </a:solidFill>
              </a:rPr>
              <a:t>AT RISK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5349240"/>
            <a:ext cx="9875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F59E0B"/>
                </a:solidFill>
                <a:latin typeface="Calibri"/>
              </a:rPr>
              <a:t>Capacity clash: 5 of 9 upcoming sends land on the same day (09-17), all owned by Harish Pandey. No Region/Audience field exists to check for audience overlap — flagged as an owner-capacity clash, not a confirmed audience collision.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46520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9CA8BA"/>
                </a:solidFill>
                <a:latin typeface="Calibri"/>
              </a:rPr>
              <a:t>Source: Asana milestone sub-tasks, Project Type = Email(s) only | Nurture Sequences, resource_subtype=milestone, due_on 2026-09-17..2026-09-27.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463739" cy="635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438339" y="0"/>
            <a:ext cx="2463739" cy="63500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876678" y="0"/>
            <a:ext cx="2463739" cy="635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017" y="0"/>
            <a:ext cx="2463739" cy="63500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753356" y="0"/>
            <a:ext cx="2463739" cy="63500"/>
          </a:xfrm>
          <a:prstGeom prst="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36576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spc="200">
                <a:solidFill>
                  <a:srgbClr val="F97316"/>
                </a:solidFill>
                <a:latin typeface="Calibri"/>
              </a:rPr>
              <a:t>LOOK AHEAD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713232"/>
            <a:ext cx="914400" cy="381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F5F5F0"/>
                </a:solidFill>
                <a:latin typeface="Calibri"/>
              </a:rPr>
              <a:t>Priority Pipeline — Aayushi Sharma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463040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F59E0B"/>
                </a:solidFill>
                <a:latin typeface="Calibri"/>
              </a:rPr>
              <a:t>No Priority field values are set on any of these tickets (custom field null across the board) — shown by due date instead of priority tier.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48640" y="2057400"/>
          <a:ext cx="1106424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235440"/>
                <a:gridCol w="1828800"/>
              </a:tblGrid>
              <a:tr h="39624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4B8A6"/>
                          </a:solidFill>
                        </a:rPr>
                        <a:t>Task</a:t>
                      </a:r>
                    </a:p>
                  </a:txBody>
                  <a:tcPr>
                    <a:solidFill>
                      <a:srgbClr val="16223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14B8A6"/>
                          </a:solidFill>
                        </a:rPr>
                        <a:t>Due</a:t>
                      </a:r>
                    </a:p>
                  </a:txBody>
                  <a:tcPr>
                    <a:solidFill>
                      <a:srgbClr val="162238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F5F5F0"/>
                          </a:solidFill>
                        </a:rPr>
                        <a:t>Drupal Canvas and Agentic Content: Post-Event No-Show Email</a:t>
                      </a:r>
                    </a:p>
                  </a:txBody>
                  <a:tcPr>
                    <a:solidFill>
                      <a:srgbClr val="0D162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F5F5F0"/>
                          </a:solidFill>
                        </a:rPr>
                        <a:t>09-17</a:t>
                      </a:r>
                    </a:p>
                  </a:txBody>
                  <a:tcPr>
                    <a:solidFill>
                      <a:srgbClr val="0D1626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F5F5F0"/>
                          </a:solidFill>
                        </a:rPr>
                        <a:t>Drupal Canvas and Agentic Content: Post-Event Attendee Email</a:t>
                      </a:r>
                    </a:p>
                  </a:txBody>
                  <a:tcPr>
                    <a:solidFill>
                      <a:srgbClr val="0D162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F5F5F0"/>
                          </a:solidFill>
                        </a:rPr>
                        <a:t>09-17</a:t>
                      </a:r>
                    </a:p>
                  </a:txBody>
                  <a:tcPr>
                    <a:solidFill>
                      <a:srgbClr val="0D1626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F5F5F0"/>
                          </a:solidFill>
                        </a:rPr>
                        <a:t>Drupal Canvas and Agentic Content: Webinar Email Creation</a:t>
                      </a:r>
                    </a:p>
                  </a:txBody>
                  <a:tcPr>
                    <a:solidFill>
                      <a:srgbClr val="0D162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F5F5F0"/>
                          </a:solidFill>
                        </a:rPr>
                        <a:t>09-17</a:t>
                      </a:r>
                    </a:p>
                  </a:txBody>
                  <a:tcPr>
                    <a:solidFill>
                      <a:srgbClr val="0D1626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F5F5F0"/>
                          </a:solidFill>
                        </a:rPr>
                        <a:t>Atlanta Tech Week 2026 Post Event Marketing Emails</a:t>
                      </a:r>
                    </a:p>
                  </a:txBody>
                  <a:tcPr>
                    <a:solidFill>
                      <a:srgbClr val="0D162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F5F5F0"/>
                          </a:solidFill>
                        </a:rPr>
                        <a:t>09-17</a:t>
                      </a:r>
                    </a:p>
                  </a:txBody>
                  <a:tcPr>
                    <a:solidFill>
                      <a:srgbClr val="0D1626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F5F5F0"/>
                          </a:solidFill>
                        </a:rPr>
                        <a:t>DAM Workshop DC Pre Event Marketing Emails</a:t>
                      </a:r>
                    </a:p>
                  </a:txBody>
                  <a:tcPr>
                    <a:solidFill>
                      <a:srgbClr val="0D162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F5F5F0"/>
                          </a:solidFill>
                        </a:rPr>
                        <a:t>09-17</a:t>
                      </a:r>
                    </a:p>
                  </a:txBody>
                  <a:tcPr>
                    <a:solidFill>
                      <a:srgbClr val="0D1626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F5F5F0"/>
                          </a:solidFill>
                        </a:rPr>
                        <a:t>Gartner IT Symposium SFDC Campaign(s) &amp; Form (If Required)</a:t>
                      </a:r>
                    </a:p>
                  </a:txBody>
                  <a:tcPr>
                    <a:solidFill>
                      <a:srgbClr val="0D162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F5F5F0"/>
                          </a:solidFill>
                        </a:rPr>
                        <a:t>09-23</a:t>
                      </a:r>
                    </a:p>
                  </a:txBody>
                  <a:tcPr>
                    <a:solidFill>
                      <a:srgbClr val="0D1626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F5F5F0"/>
                          </a:solidFill>
                        </a:rPr>
                        <a:t>[Event Name] Post Event Marketing Emails</a:t>
                      </a:r>
                    </a:p>
                  </a:txBody>
                  <a:tcPr>
                    <a:solidFill>
                      <a:srgbClr val="0D162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F5F5F0"/>
                          </a:solidFill>
                        </a:rPr>
                        <a:t>09-24</a:t>
                      </a:r>
                    </a:p>
                  </a:txBody>
                  <a:tcPr>
                    <a:solidFill>
                      <a:srgbClr val="0D1626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F5F5F0"/>
                          </a:solidFill>
                        </a:rPr>
                        <a:t>[Event Name] Post Event Marketing Emails (DAM Workshop Boston)</a:t>
                      </a:r>
                    </a:p>
                  </a:txBody>
                  <a:tcPr>
                    <a:solidFill>
                      <a:srgbClr val="0D162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F5F5F0"/>
                          </a:solidFill>
                        </a:rPr>
                        <a:t>09-24</a:t>
                      </a:r>
                    </a:p>
                  </a:txBody>
                  <a:tcPr>
                    <a:solidFill>
                      <a:srgbClr val="0D162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463739" cy="635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438339" y="0"/>
            <a:ext cx="2463739" cy="63500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876678" y="0"/>
            <a:ext cx="2463739" cy="635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017" y="0"/>
            <a:ext cx="2463739" cy="63500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753356" y="0"/>
            <a:ext cx="2463739" cy="63500"/>
          </a:xfrm>
          <a:prstGeom prst="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36576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spc="200">
                <a:solidFill>
                  <a:srgbClr val="F97316"/>
                </a:solidFill>
                <a:latin typeface="Calibri"/>
              </a:rPr>
              <a:t>LOOK AHEAD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713232"/>
            <a:ext cx="914400" cy="381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F5F5F0"/>
                </a:solidFill>
                <a:latin typeface="Calibri"/>
              </a:rPr>
              <a:t>Upcoming Strategic Priorities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554480"/>
            <a:ext cx="3566160" cy="4206240"/>
          </a:xfrm>
          <a:prstGeom prst="roundRect">
            <a:avLst/>
          </a:prstGeom>
          <a:solidFill>
            <a:srgbClr val="162238"/>
          </a:solidFill>
          <a:ln w="12700">
            <a:solidFill>
              <a:srgbClr val="2A38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85800" y="1783080"/>
            <a:ext cx="201168" cy="201168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1737360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3B82F6"/>
                </a:solidFill>
                <a:latin typeface="Calibri"/>
              </a:rPr>
              <a:t>Harish Pandey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148840"/>
            <a:ext cx="3108960" cy="3429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F5F5F0"/>
                </a:solidFill>
                <a:latin typeface="Calibri"/>
              </a:rPr>
              <a:t>18 items due — the heaviest look-ahead load on the team, 9 of them email sends (5 landing on 09-17 alone). Also carries the HS Webinar Sept 24 SFDC + email build and both DrupalCamp Italy wrap-around emails.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06240" y="1554480"/>
            <a:ext cx="3566160" cy="4206240"/>
          </a:xfrm>
          <a:prstGeom prst="roundRect">
            <a:avLst/>
          </a:prstGeom>
          <a:solidFill>
            <a:srgbClr val="162238"/>
          </a:solidFill>
          <a:ln w="12700">
            <a:solidFill>
              <a:srgbClr val="2A38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434840" y="1783080"/>
            <a:ext cx="201168" cy="201168"/>
          </a:xfrm>
          <a:prstGeom prst="ellipse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09160" y="1737360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3B82F6"/>
                </a:solidFill>
                <a:latin typeface="Calibri"/>
              </a:rPr>
              <a:t>Felipe Tencio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40" y="2148840"/>
            <a:ext cx="3108960" cy="3429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F5F5F0"/>
                </a:solidFill>
                <a:latin typeface="Calibri"/>
              </a:rPr>
              <a:t>5 items due, concentrated in Audiences work — 4 of the 5 open Audiences tickets in the project sit with Felipe, plus the Drupal Canvas Attendee/No-Show Report Upload.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55279" y="1554480"/>
            <a:ext cx="3566160" cy="4206240"/>
          </a:xfrm>
          <a:prstGeom prst="roundRect">
            <a:avLst/>
          </a:prstGeom>
          <a:solidFill>
            <a:srgbClr val="162238"/>
          </a:solidFill>
          <a:ln w="12700">
            <a:solidFill>
              <a:srgbClr val="2A38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183879" y="1783080"/>
            <a:ext cx="201168" cy="201168"/>
          </a:xfrm>
          <a:prstGeom prst="ellipse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58199" y="1737360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3B82F6"/>
                </a:solidFill>
                <a:latin typeface="Calibri"/>
              </a:rPr>
              <a:t>Jennifer Schroback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83879" y="2148840"/>
            <a:ext cx="3108960" cy="3429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F5F5F0"/>
                </a:solidFill>
                <a:latin typeface="Calibri"/>
              </a:rPr>
              <a:t>No items due in this window. Open action outside Asana: the MOPS_score field rollout she announced this week asks the team to update any reports/dynamic lists referencing the old account engagement score by EOD 09-17.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463739" cy="635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438339" y="0"/>
            <a:ext cx="2463739" cy="63500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876678" y="0"/>
            <a:ext cx="2463739" cy="635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017" y="0"/>
            <a:ext cx="2463739" cy="63500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753356" y="0"/>
            <a:ext cx="2463739" cy="63500"/>
          </a:xfrm>
          <a:prstGeom prst="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36576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spc="200">
                <a:solidFill>
                  <a:srgbClr val="F97316"/>
                </a:solidFill>
                <a:latin typeface="Calibri"/>
              </a:rPr>
              <a:t>LOOK AHEAD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713232"/>
            <a:ext cx="914400" cy="381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F5F5F0"/>
                </a:solidFill>
                <a:latin typeface="Calibri"/>
              </a:rPr>
              <a:t>Active Sub-Projects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57200" y="1508760"/>
          <a:ext cx="1124712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6309360"/>
                <a:gridCol w="1645920"/>
              </a:tblGrid>
              <a:tr h="46736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4B8A6"/>
                          </a:solidFill>
                        </a:rPr>
                        <a:t>Sub-Category</a:t>
                      </a:r>
                    </a:p>
                  </a:txBody>
                  <a:tcPr>
                    <a:solidFill>
                      <a:srgbClr val="1622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4B8A6"/>
                          </a:solidFill>
                        </a:rPr>
                        <a:t>Core Activity</a:t>
                      </a:r>
                    </a:p>
                  </a:txBody>
                  <a:tcPr>
                    <a:solidFill>
                      <a:srgbClr val="1622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4B8A6"/>
                          </a:solidFill>
                        </a:rPr>
                        <a:t>Status</a:t>
                      </a:r>
                    </a:p>
                  </a:txBody>
                  <a:tcPr>
                    <a:solidFill>
                      <a:srgbClr val="162238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F5F5F0"/>
                          </a:solidFill>
                        </a:rPr>
                        <a:t>Email(s) only | Nurture Sequences</a:t>
                      </a:r>
                    </a:p>
                  </a:txBody>
                  <a:tcPr>
                    <a:solidFill>
                      <a:srgbClr val="0D1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F5F5F0"/>
                          </a:solidFill>
                        </a:rPr>
                        <a:t>15 open tickets — dominant category, heavy Harish send load</a:t>
                      </a:r>
                    </a:p>
                  </a:txBody>
                  <a:tcPr>
                    <a:solidFill>
                      <a:srgbClr val="0D1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F5F5F0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0D1626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F5F5F0"/>
                          </a:solidFill>
                        </a:rPr>
                        <a:t>Unclassified (null Project Type)</a:t>
                      </a:r>
                    </a:p>
                  </a:txBody>
                  <a:tcPr>
                    <a:solidFill>
                      <a:srgbClr val="0D1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F5F5F0"/>
                          </a:solidFill>
                        </a:rPr>
                        <a:t>10 open tickets with no Project Type set</a:t>
                      </a:r>
                    </a:p>
                  </a:txBody>
                  <a:tcPr>
                    <a:solidFill>
                      <a:srgbClr val="0D1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F5F5F0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0D1626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F5F5F0"/>
                          </a:solidFill>
                        </a:rPr>
                        <a:t>Audiences</a:t>
                      </a:r>
                    </a:p>
                  </a:txBody>
                  <a:tcPr>
                    <a:solidFill>
                      <a:srgbClr val="0D1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F5F5F0"/>
                          </a:solidFill>
                        </a:rPr>
                        <a:t>5 open tickets, 4 with Felipe Tencio</a:t>
                      </a:r>
                    </a:p>
                  </a:txBody>
                  <a:tcPr>
                    <a:solidFill>
                      <a:srgbClr val="0D1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F5F5F0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0D1626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F5F5F0"/>
                          </a:solidFill>
                        </a:rPr>
                        <a:t>IT/Integration</a:t>
                      </a:r>
                    </a:p>
                  </a:txBody>
                  <a:tcPr>
                    <a:solidFill>
                      <a:srgbClr val="0D1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F5F5F0"/>
                          </a:solidFill>
                        </a:rPr>
                        <a:t>4 open tickets incl. Zapier-LinkedIn (blocked 203 days) and Meta Lead Forms CAPI setup</a:t>
                      </a:r>
                    </a:p>
                  </a:txBody>
                  <a:tcPr>
                    <a:solidFill>
                      <a:srgbClr val="0D1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F5F5F0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0D1626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F5F5F0"/>
                          </a:solidFill>
                        </a:rPr>
                        <a:t>SFDC Campaigns only (multiple)</a:t>
                      </a:r>
                    </a:p>
                  </a:txBody>
                  <a:tcPr>
                    <a:solidFill>
                      <a:srgbClr val="0D1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F5F5F0"/>
                          </a:solidFill>
                        </a:rPr>
                        <a:t>3 open tickets — fully human, no n8n coverage</a:t>
                      </a:r>
                    </a:p>
                  </a:txBody>
                  <a:tcPr>
                    <a:solidFill>
                      <a:srgbClr val="0D1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F5F5F0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0D1626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F5F5F0"/>
                          </a:solidFill>
                        </a:rPr>
                        <a:t>Other</a:t>
                      </a:r>
                    </a:p>
                  </a:txBody>
                  <a:tcPr>
                    <a:solidFill>
                      <a:srgbClr val="0D1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F5F5F0"/>
                          </a:solidFill>
                        </a:rPr>
                        <a:t>3 open tickets</a:t>
                      </a:r>
                    </a:p>
                  </a:txBody>
                  <a:tcPr>
                    <a:solidFill>
                      <a:srgbClr val="0D1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F5F5F0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0D1626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F5F5F0"/>
                          </a:solidFill>
                        </a:rPr>
                        <a:t>Form Request</a:t>
                      </a:r>
                    </a:p>
                  </a:txBody>
                  <a:tcPr>
                    <a:solidFill>
                      <a:srgbClr val="0D1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F5F5F0"/>
                          </a:solidFill>
                        </a:rPr>
                        <a:t>2 open tickets</a:t>
                      </a:r>
                    </a:p>
                  </a:txBody>
                  <a:tcPr>
                    <a:solidFill>
                      <a:srgbClr val="0D1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F5F5F0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0D1626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F5F5F0"/>
                          </a:solidFill>
                        </a:rPr>
                        <a:t>List Upload / Webinar / Reporting / Issues / Event</a:t>
                      </a:r>
                    </a:p>
                  </a:txBody>
                  <a:tcPr>
                    <a:solidFill>
                      <a:srgbClr val="0D1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F5F5F0"/>
                          </a:solidFill>
                        </a:rPr>
                        <a:t>1 open ticket each</a:t>
                      </a:r>
                    </a:p>
                  </a:txBody>
                  <a:tcPr>
                    <a:solidFill>
                      <a:srgbClr val="0D1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F5F5F0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0D1626"/>
                    </a:solidFill>
                  </a:tcPr>
                </a:tc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9692640" y="2049272"/>
            <a:ext cx="1828800" cy="274320"/>
          </a:xfrm>
          <a:prstGeom prst="round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</a:rPr>
              <a:t>IN PROGRESS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92640" y="2516632"/>
            <a:ext cx="1828800" cy="27432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0D1626"/>
                </a:solidFill>
              </a:rPr>
              <a:t>AT RISK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92640" y="2983992"/>
            <a:ext cx="1828800" cy="274320"/>
          </a:xfrm>
          <a:prstGeom prst="round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</a:rPr>
              <a:t>IN PROGRESS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92640" y="3451352"/>
            <a:ext cx="1828800" cy="274320"/>
          </a:xfrm>
          <a:prstGeom prst="round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</a:rPr>
              <a:t>BLOCKED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92640" y="3918712"/>
            <a:ext cx="1828800" cy="274320"/>
          </a:xfrm>
          <a:prstGeom prst="round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</a:rPr>
              <a:t>READY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92640" y="4386072"/>
            <a:ext cx="1828800" cy="274320"/>
          </a:xfrm>
          <a:prstGeom prst="round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</a:rPr>
              <a:t>IN PROGRESS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692640" y="4853432"/>
            <a:ext cx="1828800" cy="274320"/>
          </a:xfrm>
          <a:prstGeom prst="round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</a:rPr>
              <a:t>READY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692640" y="5320792"/>
            <a:ext cx="1828800" cy="274320"/>
          </a:xfrm>
          <a:prstGeom prst="round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</a:rPr>
              <a:t>ON TRACK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46520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9CA8BA"/>
                </a:solidFill>
                <a:latin typeface="Calibri"/>
              </a:rPr>
              <a:t>Source: Asana [MOps] Intake — all 47 open top-level tickets, grouped by Project Type custom field.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463739" cy="635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438339" y="0"/>
            <a:ext cx="2463739" cy="63500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876678" y="0"/>
            <a:ext cx="2463739" cy="635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017" y="0"/>
            <a:ext cx="2463739" cy="63500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753356" y="0"/>
            <a:ext cx="2463739" cy="63500"/>
          </a:xfrm>
          <a:prstGeom prst="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36576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spc="200">
                <a:solidFill>
                  <a:srgbClr val="F97316"/>
                </a:solidFill>
                <a:latin typeface="Calibri"/>
              </a:rPr>
              <a:t>LOOK AHEAD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713232"/>
            <a:ext cx="914400" cy="381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F5F5F0"/>
                </a:solidFill>
                <a:latin typeface="Calibri"/>
              </a:rPr>
              <a:t>Incomplete Tickets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65760" y="1508760"/>
          <a:ext cx="1147572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/>
                <a:gridCol w="1463040"/>
                <a:gridCol w="5623560"/>
                <a:gridCol w="1554480"/>
              </a:tblGrid>
              <a:tr h="896112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4B8A6"/>
                          </a:solidFill>
                        </a:rPr>
                        <a:t>Ticket</a:t>
                      </a:r>
                    </a:p>
                  </a:txBody>
                  <a:tcPr>
                    <a:solidFill>
                      <a:srgbClr val="1622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4B8A6"/>
                          </a:solidFill>
                        </a:rPr>
                        <a:t>Assignee</a:t>
                      </a:r>
                    </a:p>
                  </a:txBody>
                  <a:tcPr>
                    <a:solidFill>
                      <a:srgbClr val="1622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4B8A6"/>
                          </a:solidFill>
                        </a:rPr>
                        <a:t>Missing Info</a:t>
                      </a:r>
                    </a:p>
                  </a:txBody>
                  <a:tcPr>
                    <a:solidFill>
                      <a:srgbClr val="1622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4B8A6"/>
                          </a:solidFill>
                        </a:rPr>
                        <a:t>Priority</a:t>
                      </a:r>
                    </a:p>
                  </a:txBody>
                  <a:tcPr>
                    <a:solidFill>
                      <a:srgbClr val="162238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F5F5F0"/>
                          </a:solidFill>
                        </a:rPr>
                        <a:t>Zapier integration - LinkedIn</a:t>
                      </a:r>
                    </a:p>
                  </a:txBody>
                  <a:tcPr>
                    <a:solidFill>
                      <a:srgbClr val="0D1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F5F5F0"/>
                          </a:solidFill>
                        </a:rPr>
                        <a:t>Unassigned</a:t>
                      </a:r>
                    </a:p>
                  </a:txBody>
                  <a:tcPr>
                    <a:solidFill>
                      <a:srgbClr val="0D1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F5F5F0"/>
                          </a:solidFill>
                        </a:rPr>
                        <a:t>Waiting on direct Pardot↔LinkedIn integration; deprioritized by design since 03-02 (~203 days)</a:t>
                      </a:r>
                    </a:p>
                  </a:txBody>
                  <a:tcPr>
                    <a:solidFill>
                      <a:srgbClr val="0D1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F5F5F0"/>
                          </a:solidFill>
                        </a:rPr>
                        <a:t>Not set</a:t>
                      </a:r>
                    </a:p>
                  </a:txBody>
                  <a:tcPr>
                    <a:solidFill>
                      <a:srgbClr val="0D1626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F5F5F0"/>
                          </a:solidFill>
                        </a:rPr>
                        <a:t>[Event Name] Pre Event Marketing Emails</a:t>
                      </a:r>
                    </a:p>
                  </a:txBody>
                  <a:tcPr>
                    <a:solidFill>
                      <a:srgbClr val="0D1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F5F5F0"/>
                          </a:solidFill>
                        </a:rPr>
                        <a:t>Unassigned</a:t>
                      </a:r>
                    </a:p>
                  </a:txBody>
                  <a:tcPr>
                    <a:solidFill>
                      <a:srgbClr val="0D1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F5F5F0"/>
                          </a:solidFill>
                        </a:rPr>
                        <a:t>Email copy requested from Michelle Glass, never received (~66 days); also carries a literal [Event Name] placeholder, ~48 days past its own due date</a:t>
                      </a:r>
                    </a:p>
                  </a:txBody>
                  <a:tcPr>
                    <a:solidFill>
                      <a:srgbClr val="0D1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F5F5F0"/>
                          </a:solidFill>
                        </a:rPr>
                        <a:t>Not set</a:t>
                      </a:r>
                    </a:p>
                  </a:txBody>
                  <a:tcPr>
                    <a:solidFill>
                      <a:srgbClr val="0D1626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F5F5F0"/>
                          </a:solidFill>
                        </a:rPr>
                        <a:t>Optimize Starter upon ACP Renewal - Email Cadence</a:t>
                      </a:r>
                    </a:p>
                  </a:txBody>
                  <a:tcPr>
                    <a:solidFill>
                      <a:srgbClr val="0D1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F5F5F0"/>
                          </a:solidFill>
                        </a:rPr>
                        <a:t>Karen Plant</a:t>
                      </a:r>
                    </a:p>
                  </a:txBody>
                  <a:tcPr>
                    <a:solidFill>
                      <a:srgbClr val="0D1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F5F5F0"/>
                          </a:solidFill>
                        </a:rPr>
                        <a:t>Orphaned from a departed teammate; Karen asked 04-28 if it can be archived — no reply since (~142 days)</a:t>
                      </a:r>
                    </a:p>
                  </a:txBody>
                  <a:tcPr>
                    <a:solidFill>
                      <a:srgbClr val="0D1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F5F5F0"/>
                          </a:solidFill>
                        </a:rPr>
                        <a:t>Not set</a:t>
                      </a:r>
                    </a:p>
                  </a:txBody>
                  <a:tcPr>
                    <a:solidFill>
                      <a:srgbClr val="0D1626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F5F5F0"/>
                          </a:solidFill>
                        </a:rPr>
                        <a:t>Create contact list for ICP 2026 (Platform for Drupal / Smarter Content)</a:t>
                      </a:r>
                    </a:p>
                  </a:txBody>
                  <a:tcPr>
                    <a:solidFill>
                      <a:srgbClr val="0D1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F5F5F0"/>
                          </a:solidFill>
                        </a:rPr>
                        <a:t>Unassigned</a:t>
                      </a:r>
                    </a:p>
                  </a:txBody>
                  <a:tcPr>
                    <a:solidFill>
                      <a:srgbClr val="0D1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F5F5F0"/>
                          </a:solidFill>
                        </a:rPr>
                        <a:t>Requester (Deepak) asked twice (02-10, 03-10) what the list is for and which system to pull from — no response (~203 days)</a:t>
                      </a:r>
                    </a:p>
                  </a:txBody>
                  <a:tcPr>
                    <a:solidFill>
                      <a:srgbClr val="0D1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F5F5F0"/>
                          </a:solidFill>
                        </a:rPr>
                        <a:t>Not set</a:t>
                      </a:r>
                    </a:p>
                  </a:txBody>
                  <a:tcPr>
                    <a:solidFill>
                      <a:srgbClr val="0D1626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548640" y="6446520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9CA8BA"/>
                </a:solidFill>
                <a:latin typeface="Calibri"/>
              </a:rPr>
              <a:t>Source: Asana MOPS-Status custom field = Blocked / Require Information/Description / Waiting for Feedback, cross-checked against task stories for the specific block reason. Priority field is null on all 4 — a standing gap, not omitted.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463739" cy="635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438339" y="0"/>
            <a:ext cx="2463739" cy="63500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876678" y="0"/>
            <a:ext cx="2463739" cy="635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017" y="0"/>
            <a:ext cx="2463739" cy="63500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753356" y="0"/>
            <a:ext cx="2463739" cy="63500"/>
          </a:xfrm>
          <a:prstGeom prst="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36576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spc="200">
                <a:solidFill>
                  <a:srgbClr val="F97316"/>
                </a:solidFill>
                <a:latin typeface="Calibri"/>
              </a:rPr>
              <a:t>LOOK AHEAD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713232"/>
            <a:ext cx="914400" cy="381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F5F5F0"/>
                </a:solidFill>
                <a:latin typeface="Calibri"/>
              </a:rPr>
              <a:t>Data Hygiene &amp; Recommendations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463040"/>
            <a:ext cx="110642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F5F5F0"/>
                </a:solidFill>
                <a:latin typeface="Calibri"/>
              </a:rPr>
              <a:t>Flagged this period:</a:t>
            </a:r>
          </a:p>
          <a:p>
            <a:pPr algn="l"/>
            <a:r>
              <a:rPr sz="1300" b="0">
                <a:solidFill>
                  <a:srgbClr val="F5F5F0"/>
                </a:solidFill>
                <a:latin typeface="Calibri"/>
              </a:rPr>
              <a:t>• 107 of 123 new campaigns (87%) show zero members 5+ business days after creation — all share CreatedDate 2026-09-10 and are entirely vccp_/demgen_ paid-media types.</a:t>
            </a:r>
          </a:p>
          <a:p>
            <a:pPr algn="l"/>
            <a:r>
              <a:rPr sz="1300" b="0">
                <a:solidFill>
                  <a:srgbClr val="F5F5F0"/>
                </a:solidFill>
                <a:latin typeface="Calibri"/>
              </a:rPr>
              <a:t>• 120 of 123 new campaign names don't follow Region_Channel_Product_Description_YYYY-Qn (advisory, per campaign-naming skill) — only 3 NA_evt_ event campaigns come close.</a:t>
            </a:r>
          </a:p>
          <a:p>
            <a:pPr algn="l"/>
            <a:r>
              <a:rPr sz="1300" b="0">
                <a:solidFill>
                  <a:srgbClr val="F5F5F0"/>
                </a:solidFill>
                <a:latin typeface="Calibri"/>
              </a:rPr>
              <a:t>• $0.000152 total attributed pipeline despite 3 won opportunities and 13 total opportunities — the AmountAllOpportunities/won-$ rollup looks unreliable, not that revenue is actually zero.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93192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3B82F6"/>
                </a:solidFill>
                <a:latin typeface="Calibri"/>
              </a:rPr>
              <a:t>Recommendations: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343400"/>
            <a:ext cx="1106424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F5F5F0"/>
                </a:solidFill>
                <a:latin typeface="Calibri"/>
              </a:rPr>
              <a:t>1. Confirm with RevOps whether vccp_/demgen_ paid-media campaign types are expected to carry CampaignMembers at all — settling this for the 107 flagged campaigns prevents a false "zero-member" alarm every week this batch runs.</a:t>
            </a:r>
          </a:p>
          <a:p>
            <a:pPr algn="l"/>
            <a:r>
              <a:rPr sz="1250" b="0">
                <a:solidFill>
                  <a:srgbClr val="F5F5F0"/>
                </a:solidFill>
                <a:latin typeface="Calibri"/>
              </a:rPr>
              <a:t>2. Fix the opportunity-amount rollup before next quarter's ROI review — unlocks real pipeline reporting for the 4 campaigns (Acquia TV manifesto Source, DAM Workshop Boston, DrupalAssociation webinar, Partner Master Class) that already show opportunity activity.</a:t>
            </a:r>
          </a:p>
          <a:p>
            <a:pPr algn="l"/>
            <a:r>
              <a:rPr sz="1250" b="0">
                <a:solidFill>
                  <a:srgbClr val="F5F5F0"/>
                </a:solidFill>
                <a:latin typeface="Calibri"/>
              </a:rPr>
              <a:t>3. Naming convention drift is advisory, not a hard fail — flagging for Jennifer's naming-enforcement track rather than remediating unilaterally.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463739" cy="635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438339" y="0"/>
            <a:ext cx="2463739" cy="63500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876678" y="0"/>
            <a:ext cx="2463739" cy="635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017" y="0"/>
            <a:ext cx="2463739" cy="63500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753356" y="0"/>
            <a:ext cx="2463739" cy="63500"/>
          </a:xfrm>
          <a:prstGeom prst="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651760"/>
            <a:ext cx="106984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800" b="1">
                <a:solidFill>
                  <a:srgbClr val="F5F5F0"/>
                </a:solidFill>
                <a:latin typeface="Calibri"/>
              </a:rPr>
              <a:t>Closing / Questions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566160"/>
            <a:ext cx="10698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14B8A6"/>
                </a:solidFill>
                <a:latin typeface="Calibri"/>
              </a:rPr>
              <a:t>Next Review: 2026-09-24  |  Lead: Aayushi Sharma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463739" cy="635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438339" y="0"/>
            <a:ext cx="2463739" cy="63500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876678" y="0"/>
            <a:ext cx="2463739" cy="635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017" y="0"/>
            <a:ext cx="2463739" cy="63500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753356" y="0"/>
            <a:ext cx="2463739" cy="63500"/>
          </a:xfrm>
          <a:prstGeom prst="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5F5F0"/>
                </a:solidFill>
                <a:latin typeface="Calibri"/>
              </a:rPr>
              <a:t>Data &amp; Image Sources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234440"/>
            <a:ext cx="11064240" cy="5303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F5F5F0"/>
                </a:solidFill>
                <a:latin typeface="Calibri"/>
              </a:rPr>
              <a:t>Connectors queried (2026-09-17, this run):</a:t>
            </a:r>
          </a:p>
          <a:p>
            <a:pPr algn="l"/>
            <a:r>
              <a:rPr sz="1150" b="0">
                <a:solidFill>
                  <a:srgbClr val="F5F5F0"/>
                </a:solidFill>
                <a:latin typeface="Calibri"/>
              </a:rPr>
              <a:t>• Asana — [MOps] Intake project (gid 1205660951274722). search_tasks for completed (retro window) and open/due (look-ahead window), top-level and sub-tasks, both completion states for email milestones, MOPS-Status filters for blocked/require-info/waiting tickets, get_task_stories for block reasons, get_task for created_at/completed_at on 7 SFDC-campaign-only builds.</a:t>
            </a:r>
          </a:p>
          <a:p>
            <a:pPr algn="l"/>
            <a:r>
              <a:rPr sz="1150" b="0">
                <a:solidFill>
                  <a:srgbClr val="F5F5F0"/>
                </a:solidFill>
                <a:latin typeface="Calibri"/>
              </a:rPr>
              <a:t>• Salesforce — soqlQuery against Campaign (WHERE CreatedDate=LAST_N_DAYS:7 OR StartDate=LAST_N_DAYS:7, 123 rows) and CampaignMember (GROUP BY CampaignId, Status). getObjectSchema('Campaign') confirmed all fields used exist as named — no substitutions needed. Query-only, no writes.</a:t>
            </a:r>
          </a:p>
          <a:p>
            <a:pPr algn="l"/>
            <a:r>
              <a:rPr sz="1150" b="0">
                <a:solidFill>
                  <a:srgbClr val="F5F5F0"/>
                </a:solidFill>
                <a:latin typeface="Calibri"/>
              </a:rPr>
              <a:t>• Jira (Atlassian MCP) — JQL project=MOPS AND updated in retro window (3 issues); direct getJiraIssue on MOPS-659156 for continuity. Connector worked on first attempt.</a:t>
            </a:r>
          </a:p>
          <a:p>
            <a:pPr algn="l"/>
            <a:r>
              <a:rPr sz="1150" b="0">
                <a:solidFill>
                  <a:srgbClr val="F5F5F0"/>
                </a:solidFill>
                <a:latin typeface="Calibri"/>
              </a:rPr>
              <a:t/>
            </a:r>
          </a:p>
          <a:p>
            <a:pPr algn="l"/>
            <a:r>
              <a:rPr sz="1150" b="0">
                <a:solidFill>
                  <a:srgbClr val="F5F5F0"/>
                </a:solidFill>
                <a:latin typeface="Calibri"/>
              </a:rPr>
              <a:t>Gaps and known issues found this run:</a:t>
            </a:r>
          </a:p>
          <a:p>
            <a:pPr algn="l"/>
            <a:r>
              <a:rPr sz="1150" b="0">
                <a:solidFill>
                  <a:srgbClr val="F5F5F0"/>
                </a:solidFill>
                <a:latin typeface="Calibri"/>
              </a:rPr>
              <a:t>• No Region or Audience custom field exists anywhere in the [MOps] Intake project — every "Not tracked" cell on slides 5/12 is a genuine field gap, not omitted data.</a:t>
            </a:r>
          </a:p>
          <a:p>
            <a:pPr algn="l"/>
            <a:r>
              <a:rPr sz="1150" b="0">
                <a:solidFill>
                  <a:srgbClr val="F5F5F0"/>
                </a:solidFill>
                <a:latin typeface="Calibri"/>
              </a:rPr>
              <a:t>• Priority custom field is null on all 4 incomplete tickets (slide 16) and across most of the open board.</a:t>
            </a:r>
          </a:p>
          <a:p>
            <a:pPr algn="l"/>
            <a:r>
              <a:rPr sz="1150" b="0">
                <a:solidFill>
                  <a:srgbClr val="F5F5F0"/>
                </a:solidFill>
                <a:latin typeface="Calibri"/>
              </a:rPr>
              <a:t>• Data-quality: 4+ tasks checked complete in Asana while MOPS-Status still reads an in-progress value; 2 tasks (Gartner IT Symposium pair) show MOPS-Status=Completed while still open with a future due date; the [Event Name]/[NAME]/[Webinar Name] template-placeholder bug is still live across 9+ tasks pulled this run.</a:t>
            </a:r>
          </a:p>
          <a:p>
            <a:pPr algn="l"/>
            <a:r>
              <a:rPr sz="1150" b="0">
                <a:solidFill>
                  <a:srgbClr val="F5F5F0"/>
                </a:solidFill>
                <a:latin typeface="Calibri"/>
              </a:rPr>
              <a:t>• AmountAllOpportunities/won-$ rollups read as unreliable (see slide 17) — consistent with the known caveat in the pipeline-influenced-email skill.</a:t>
            </a:r>
          </a:p>
          <a:p>
            <a:pPr algn="l"/>
            <a:r>
              <a:rPr sz="1150" b="0">
                <a:solidFill>
                  <a:srgbClr val="F5F5F0"/>
                </a:solidFill>
                <a:latin typeface="Calibri"/>
              </a:rPr>
              <a:t>• Google Slides upload: not attempted this run — see delivery note (8th consecutive week the inline-base64 Drive upload path can't carry a deck this size; flagged, not retried).</a:t>
            </a:r>
          </a:p>
          <a:p>
            <a:pPr algn="l"/>
            <a:r>
              <a:rPr sz="1150" b="0">
                <a:solidFill>
                  <a:srgbClr val="F5F5F0"/>
                </a:solidFill>
                <a:latin typeface="Calibri"/>
              </a:rPr>
              <a:t/>
            </a:r>
          </a:p>
          <a:p>
            <a:pPr algn="l"/>
            <a:r>
              <a:rPr sz="1150" b="0">
                <a:solidFill>
                  <a:srgbClr val="F5F5F0"/>
                </a:solidFill>
                <a:latin typeface="Calibri"/>
              </a:rPr>
              <a:t>No numbers on this deck were invented — every figure traces to one of the three queries above.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